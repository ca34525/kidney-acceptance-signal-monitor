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92e28fed1e46c8" /><Relationship Type="http://schemas.openxmlformats.org/officeDocument/2006/relationships/extended-properties" Target="/docProps/app.xml" Id="R3a909c0e391b4cce" /><Relationship Type="http://schemas.openxmlformats.org/officeDocument/2006/relationships/officeDocument" Target="/ppt/presentation.xml" Id="R70aafd0f62784508" /></Relationships>
</file>

<file path=ppt/presentation.xml><?xml version="1.0" encoding="utf-8"?>
<p:presentation xmlns:p="http://schemas.openxmlformats.org/presentationml/2006/main">
  <p:sldMasterIdLst>
    <p:sldMasterId xmlns:r="http://schemas.openxmlformats.org/officeDocument/2006/relationships" id="2147483648" r:id="R7f5a963efdf44816"/>
  </p:sldMasterIdLst>
  <p:notesMasterIdLst>
    <p:notesMasterId xmlns:r="http://schemas.openxmlformats.org/officeDocument/2006/relationships" r:id="R4235524ae3734f0c"/>
  </p:notesMasterIdLst>
  <p:sldIdLst>
    <p:sldId xmlns:r="http://schemas.openxmlformats.org/officeDocument/2006/relationships" id="256" r:id="R869c9c3542bd4a33"/>
    <p:sldId xmlns:r="http://schemas.openxmlformats.org/officeDocument/2006/relationships" id="257" r:id="R6b289994e8844d39"/>
    <p:sldId xmlns:r="http://schemas.openxmlformats.org/officeDocument/2006/relationships" id="258" r:id="R85e88d1373844340"/>
    <p:sldId xmlns:r="http://schemas.openxmlformats.org/officeDocument/2006/relationships" id="259" r:id="R2daf2c460fc54da1"/>
    <p:sldId xmlns:r="http://schemas.openxmlformats.org/officeDocument/2006/relationships" id="260" r:id="R08bb03de9aa54829"/>
    <p:sldId xmlns:r="http://schemas.openxmlformats.org/officeDocument/2006/relationships" id="261" r:id="R5d6ed5294eed4d6c"/>
    <p:sldId xmlns:r="http://schemas.openxmlformats.org/officeDocument/2006/relationships" id="262" r:id="R337e3aa1d4314ed8"/>
    <p:sldId xmlns:r="http://schemas.openxmlformats.org/officeDocument/2006/relationships" id="263" r:id="R85811b570fbe4a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8fa8ecb8644e35" /><Relationship Type="http://schemas.openxmlformats.org/officeDocument/2006/relationships/slideMaster" Target="/ppt/slideMasters/slideMaster1.xml" Id="R7f5a963efdf44816" /><Relationship Type="http://schemas.openxmlformats.org/officeDocument/2006/relationships/notesMaster" Target="/ppt/notesMasters/notesMaster1.xml" Id="R4235524ae3734f0c" /><Relationship Type="http://schemas.openxmlformats.org/officeDocument/2006/relationships/presProps" Target="/ppt/presProps.xml" Id="Rc616c71470d1479f" /><Relationship Type="http://schemas.openxmlformats.org/officeDocument/2006/relationships/tableStyles" Target="/ppt/tableStyles.xml" Id="Rfd6f7065828d4498" /><Relationship Type="http://schemas.openxmlformats.org/officeDocument/2006/relationships/slide" Target="/ppt/slides/slide1.xml" Id="R869c9c3542bd4a33" /><Relationship Type="http://schemas.openxmlformats.org/officeDocument/2006/relationships/slide" Target="/ppt/slides/slide2.xml" Id="R6b289994e8844d39" /><Relationship Type="http://schemas.openxmlformats.org/officeDocument/2006/relationships/slide" Target="/ppt/slides/slide3.xml" Id="R85e88d1373844340" /><Relationship Type="http://schemas.openxmlformats.org/officeDocument/2006/relationships/slide" Target="/ppt/slides/slide4.xml" Id="R2daf2c460fc54da1" /><Relationship Type="http://schemas.openxmlformats.org/officeDocument/2006/relationships/slide" Target="/ppt/slides/slide5.xml" Id="R08bb03de9aa54829" /><Relationship Type="http://schemas.openxmlformats.org/officeDocument/2006/relationships/slide" Target="/ppt/slides/slide6.xml" Id="R5d6ed5294eed4d6c" /><Relationship Type="http://schemas.openxmlformats.org/officeDocument/2006/relationships/slide" Target="/ppt/slides/slide7.xml" Id="R337e3aa1d4314ed8" /><Relationship Type="http://schemas.openxmlformats.org/officeDocument/2006/relationships/slide" Target="/ppt/slides/slide8.xml" Id="R85811b570fbe4a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375f6d20a24a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5bf860edae4892" /><Relationship Type="http://schemas.openxmlformats.org/officeDocument/2006/relationships/notesMaster" Target="/ppt/notesMasters/notesMaster1.xml" Id="Rf5ad2d6b1bc448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acf7699b8e4f26" /><Relationship Type="http://schemas.openxmlformats.org/officeDocument/2006/relationships/notesMaster" Target="/ppt/notesMasters/notesMaster1.xml" Id="Rb63a5a0e6ceb4c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f17d375e1548a4" /><Relationship Type="http://schemas.openxmlformats.org/officeDocument/2006/relationships/notesMaster" Target="/ppt/notesMasters/notesMaster1.xml" Id="R950ea79c6fd649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d03327fbfa48b0" /><Relationship Type="http://schemas.openxmlformats.org/officeDocument/2006/relationships/notesMaster" Target="/ppt/notesMasters/notesMaster1.xml" Id="R1870a8f4063444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8b15f6383846c1" /><Relationship Type="http://schemas.openxmlformats.org/officeDocument/2006/relationships/notesMaster" Target="/ppt/notesMasters/notesMaster1.xml" Id="R2afddb9792e646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695d662d8a45cf" /><Relationship Type="http://schemas.openxmlformats.org/officeDocument/2006/relationships/notesMaster" Target="/ppt/notesMasters/notesMaster1.xml" Id="R31db503c4a3448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55c66ccf9d4d8c" /><Relationship Type="http://schemas.openxmlformats.org/officeDocument/2006/relationships/notesMaster" Target="/ppt/notesMasters/notesMaster1.xml" Id="R96de881f97e541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dab59f09f940ff" /><Relationship Type="http://schemas.openxmlformats.org/officeDocument/2006/relationships/notesMaster" Target="/ppt/notesMasters/notesMaster1.xml" Id="R520b22e02b7947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seconds. Open with the product and the governing idea: this is a public-data quality-improvement monitor, and the project treats refusing unjustified complexity as a successful outcome.</a:t>
            </a:r>
          </a:p>
          <a:p xmlns:a="http://schemas.openxmlformats.org/drawingml/2006/main">
            <a:r>
              <a:t/>
            </a:r>
          </a:p>
          <a:p xmlns:a="http://schemas.openxmlformats.org/drawingml/2006/main">
            <a:r>
              <a:t>[Sources]</a:t>
            </a:r>
          </a:p>
          <a:p xmlns:a="http://schemas.openxmlformats.org/drawingml/2006/main">
            <a:r>
              <a:t>- D:/Projects/Kidney Acceptance Signal Monitor/README.md</a:t>
            </a:r>
          </a:p>
          <a:p xmlns:a="http://schemas.openxmlformats.org/drawingml/2006/main">
            <a:r>
              <a:t>- D:/Projects/Kidney Acceptance Signal Monitor/SPEC.md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Explain the user question: is the published signal stable, improving, or worsening, and where is the pattern visible? The app supports quality-improvement review. It does not rate centers, evaluate offers, or make clinical or regulatory claims.</a:t>
            </a:r>
          </a:p>
          <a:p xmlns:a="http://schemas.openxmlformats.org/drawingml/2006/main">
            <a:r>
              <a:t/>
            </a:r>
          </a:p>
          <a:p xmlns:a="http://schemas.openxmlformats.org/drawingml/2006/main">
            <a:r>
              <a:t>[Sources]</a:t>
            </a:r>
          </a:p>
          <a:p xmlns:a="http://schemas.openxmlformats.org/drawingml/2006/main">
            <a:r>
              <a:t>- D:/Projects/Kidney Acceptance Signal Monitor/SPEC.md</a:t>
            </a:r>
          </a:p>
          <a:p xmlns:a="http://schemas.openxmlformats.org/drawingml/2006/main">
            <a:r>
              <a:t>- https://srtr.hrsa.gov/transplant-professionals/program-specific-report/technical-methods-for-the-program-specific-reports/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Walk left to right. Acquisition is verified before use, parsing follows machine-readable field names, and hard invariants protect identity, counts, intervals, dates, and missingness. The web layer reads only the small derived bundle.</a:t>
            </a:r>
          </a:p>
          <a:p xmlns:a="http://schemas.openxmlformats.org/drawingml/2006/main">
            <a:r>
              <a:t/>
            </a:r>
          </a:p>
          <a:p xmlns:a="http://schemas.openxmlformats.org/drawingml/2006/main">
            <a:r>
              <a:t>[Sources]</a:t>
            </a:r>
          </a:p>
          <a:p xmlns:a="http://schemas.openxmlformats.org/drawingml/2006/main">
            <a:r>
              <a:t>- D:/Projects/Kidney Acceptance Signal Monitor/configs/data_sources.yaml</a:t>
            </a:r>
          </a:p>
          <a:p xmlns:a="http://schemas.openxmlformats.org/drawingml/2006/main">
            <a:r>
              <a:t>- D:/Projects/Kidney Acceptance Signal Monitor/docs/data_card.md</a:t>
            </a:r>
          </a:p>
          <a:p xmlns:a="http://schemas.openxmlformats.org/drawingml/2006/main">
            <a:r>
              <a:t>- D:/Projects/Kidney Acceptance Signal Monitor/docs/reproduction_log.md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 key validity safeguard is temporal separation. Features come from cohort t or earlier. Every target year is held together, and preprocessing is learned only from prior target years. For the frozen 2025 replay, the ridge fit uses outcomes through 2023; 2024 is reserved for the already frozen band calibration.</a:t>
            </a:r>
          </a:p>
          <a:p xmlns:a="http://schemas.openxmlformats.org/drawingml/2006/main">
            <a:r>
              <a:t/>
            </a:r>
          </a:p>
          <a:p xmlns:a="http://schemas.openxmlformats.org/drawingml/2006/main">
            <a:r>
              <a:t>[Sources]</a:t>
            </a:r>
          </a:p>
          <a:p xmlns:a="http://schemas.openxmlformats.org/drawingml/2006/main">
            <a:r>
              <a:t>- D:/Projects/Kidney Acceptance Signal Monitor/SPEC.md</a:t>
            </a:r>
          </a:p>
          <a:p xmlns:a="http://schemas.openxmlformats.org/drawingml/2006/main">
            <a:r>
              <a:t>- D:/Projects/Kidney Acceptance Signal Monitor/docs/model_card.md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Demonstrate the core product: choose one program, read its nine-year overall path and published uncertainty, then inspect donor-stratum context. Emphasize that color is not the only cue, missing values stay missing, and there is no national ranking surface.</a:t>
            </a:r>
          </a:p>
          <a:p xmlns:a="http://schemas.openxmlformats.org/drawingml/2006/main">
            <a:r>
              <a:t/>
            </a:r>
          </a:p>
          <a:p xmlns:a="http://schemas.openxmlformats.org/drawingml/2006/main">
            <a:r>
              <a:t>[Sources]</a:t>
            </a:r>
          </a:p>
          <a:p xmlns:a="http://schemas.openxmlformats.org/drawingml/2006/main">
            <a:r>
              <a:t>- D:/Projects/Kidney Acceptance Signal Monitor/README.md</a:t>
            </a:r>
          </a:p>
          <a:p xmlns:a="http://schemas.openxmlformats.org/drawingml/2006/main">
            <a:r>
              <a:t>- D:/Projects/Kidney Acceptance Signal Monitor/docs/demo/program-monitor.png</a:t>
            </a:r>
          </a:p>
          <a:p xmlns:a="http://schemas.openxmlformats.org/drawingml/2006/main">
            <a:r>
              <a:t>- D:/Projects/Kidney Acceptance Signal Monitor/SPEC.md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This is the central result. Ridge improved MAE by 10.13%, and the paired program bootstrap favored it. But promotion required every frozen criterion. Ridge's absolute mean signed log error was 0.01145 versus 0.00885 for persistence, so the relative-bias criterion failed. The product therefore retains persistence. This replay is descriptive and retrospective, not independent or prospective validation.</a:t>
            </a:r>
          </a:p>
          <a:p xmlns:a="http://schemas.openxmlformats.org/drawingml/2006/main">
            <a:r>
              <a:t/>
            </a:r>
          </a:p>
          <a:p xmlns:a="http://schemas.openxmlformats.org/drawingml/2006/main">
            <a:r>
              <a:t>[Sources]</a:t>
            </a:r>
          </a:p>
          <a:p xmlns:a="http://schemas.openxmlformats.org/drawingml/2006/main">
            <a:r>
              <a:t>- D:/Projects/Kidney Acceptance Signal Monitor/docs/model_card.md</a:t>
            </a:r>
          </a:p>
          <a:p xmlns:a="http://schemas.openxmlformats.org/drawingml/2006/main">
            <a:r>
              <a:t>- D:/Projects/Kidney Acceptance Signal Monitor/artifacts/release/modeling/frozen-replay/7b25737b054973386379088ccf27b66bfc9d5fd325dc4969d8449c80867f1ff1_5b30cd508a10e9cc24a6097f0eea868447c168b2744b50977aa56db43a6b86e5/replay_metrics.json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 view layer does not reinterpret the model decision. It reads explicit forecast eligibility and the frozen selected model. The user sees persistence, the 2026 target cohort, and the July 7, 2026 prediction origin—when 51.5% of the target year had elapsed. That is why the product says delayed-report nowcast, not a clean 12-month-ahead forecast.</a:t>
            </a:r>
          </a:p>
          <a:p xmlns:a="http://schemas.openxmlformats.org/drawingml/2006/main">
            <a:r>
              <a:t/>
            </a:r>
          </a:p>
          <a:p xmlns:a="http://schemas.openxmlformats.org/drawingml/2006/main">
            <a:r>
              <a:t>[Sources]</a:t>
            </a:r>
          </a:p>
          <a:p xmlns:a="http://schemas.openxmlformats.org/drawingml/2006/main">
            <a:r>
              <a:t>- D:/Projects/Kidney Acceptance Signal Monitor/README.md</a:t>
            </a:r>
          </a:p>
          <a:p xmlns:a="http://schemas.openxmlformats.org/drawingml/2006/main">
            <a:r>
              <a:t>- D:/Projects/Kidney Acceptance Signal Monitor/docs/demo/persistence-projection.png</a:t>
            </a:r>
          </a:p>
          <a:p xmlns:a="http://schemas.openxmlformats.org/drawingml/2006/main">
            <a:r>
              <a:t>- D:/Projects/Kidney Acceptance Signal Monitor/docs/model_card.md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Close on the integrated story: scientific validity, reproducible engineering, and product judgment. The frozen result is useful precisely because the project does not overclaim it. If asked what comes next, answer: evaluate the fixed procedure prospectively when the calendar-year 2026 PSR outcome is later published.</a:t>
            </a:r>
          </a:p>
          <a:p xmlns:a="http://schemas.openxmlformats.org/drawingml/2006/main">
            <a:r>
              <a:t/>
            </a:r>
          </a:p>
          <a:p xmlns:a="http://schemas.openxmlformats.org/drawingml/2006/main">
            <a:r>
              <a:t>[Sources]</a:t>
            </a:r>
          </a:p>
          <a:p xmlns:a="http://schemas.openxmlformats.org/drawingml/2006/main">
            <a:r>
              <a:t>- D:/Projects/Kidney Acceptance Signal Monitor/docs/model_card.md</a:t>
            </a:r>
          </a:p>
          <a:p xmlns:a="http://schemas.openxmlformats.org/drawingml/2006/main">
            <a:r>
              <a:t>- D:/Projects/Kidney Acceptance Signal Monitor/docs/reproduction_log.md</a:t>
            </a:r>
          </a:p>
          <a:p xmlns:a="http://schemas.openxmlformats.org/drawingml/2006/main">
            <a:r>
              <a:t>- D:/Projects/Kidney Acceptance Signal Monitor/SPEC.md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b39b4f9aca44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0141340284907" /><Relationship Type="http://schemas.openxmlformats.org/officeDocument/2006/relationships/slideLayout" Target="/ppt/slideLayouts/slideLayout1.xml" Id="R38a644c3d81449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a644c3d81449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6cc431fd754708" /><Relationship Type="http://schemas.openxmlformats.org/officeDocument/2006/relationships/image" Target="/ppt/media/image.jpeg" Id="Rdf98a63821f24582" /><Relationship Type="http://schemas.openxmlformats.org/officeDocument/2006/relationships/notesSlide" Target="/ppt/notesSlides/notesSlide1.xml" Id="R5dc517bdbdb84b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692e8002884ebe" /><Relationship Type="http://schemas.openxmlformats.org/officeDocument/2006/relationships/notesSlide" Target="/ppt/notesSlides/notesSlide2.xml" Id="Ra47cc7769fd848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169267a0404848" /><Relationship Type="http://schemas.openxmlformats.org/officeDocument/2006/relationships/notesSlide" Target="/ppt/notesSlides/notesSlide3.xml" Id="R29729e3bce0844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fe0b1563404238" /><Relationship Type="http://schemas.openxmlformats.org/officeDocument/2006/relationships/notesSlide" Target="/ppt/notesSlides/notesSlide4.xml" Id="Rcefcdddaa79e42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5699fd787a4797" /><Relationship Type="http://schemas.openxmlformats.org/officeDocument/2006/relationships/image" Target="/ppt/media/image.png" Id="R722cd67d08f34e1f" /><Relationship Type="http://schemas.openxmlformats.org/officeDocument/2006/relationships/notesSlide" Target="/ppt/notesSlides/notesSlide5.xml" Id="R8efe08524e5143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c805db423e4ae5" /><Relationship Type="http://schemas.openxmlformats.org/officeDocument/2006/relationships/notesSlide" Target="/ppt/notesSlides/notesSlide6.xml" Id="Rea69c7d18e1743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1a5a8d839441df" /><Relationship Type="http://schemas.openxmlformats.org/officeDocument/2006/relationships/image" Target="/ppt/media/image2.png" Id="R5c0c877e434b42a6" /><Relationship Type="http://schemas.openxmlformats.org/officeDocument/2006/relationships/notesSlide" Target="/ppt/notesSlides/notesSlide7.xml" Id="Rf8d5833956d740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8dbd7042534e11" /><Relationship Type="http://schemas.openxmlformats.org/officeDocument/2006/relationships/notesSlide" Target="/ppt/notesSlides/notesSlide8.xml" Id="Raafa2bdc0d9842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eyebrow">
            <a:extLst xmlns:a="http://schemas.openxmlformats.org/drawingml/2006/main">
              <a:ext uri="{FF2B5EF4-FFF2-40B4-BE49-F238E27FC236}">
                <a16:creationId xmlns:a16="http://schemas.microsoft.com/office/drawing/2014/main" id="{708276E1-7A03-498E-8680-21C59916A6D8}"/>
              </a:ext>
            </a:extLst>
          </p:cNvPr>
          <p:cNvSpPr>
            <a:spLocks xmlns:a="http://schemas.openxmlformats.org/drawingml/2006/main" noGrp="1"/>
          </p:cNvSpPr>
          <p:nvPr/>
        </p:nvSpPr>
        <p:spPr>
          <a:xfrm xmlns:a="http://schemas.openxmlformats.org/drawingml/2006/main">
            <a:off x="609600" y="5143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PUBLIC-DATA PORTFOLIO CASE STUDY</a:t>
            </a:r>
          </a:p>
        </p:txBody>
      </p:sp>
      <p:sp>
        <p:nvSpPr>
          <p:cNvPr id="2" name="cover-title">
            <a:extLst xmlns:a="http://schemas.openxmlformats.org/drawingml/2006/main">
              <a:ext uri="{FF2B5EF4-FFF2-40B4-BE49-F238E27FC236}">
                <a16:creationId xmlns:a16="http://schemas.microsoft.com/office/drawing/2014/main" id="{89BD455A-86E5-4CC9-848E-2282432D3C91}"/>
              </a:ext>
            </a:extLst>
          </p:cNvPr>
          <p:cNvSpPr>
            <a:spLocks xmlns:a="http://schemas.openxmlformats.org/drawingml/2006/main" noGrp="1"/>
          </p:cNvSpPr>
          <p:nvPr/>
        </p:nvSpPr>
        <p:spPr>
          <a:xfrm xmlns:a="http://schemas.openxmlformats.org/drawingml/2006/main">
            <a:off x="609600" y="1104900"/>
            <a:ext cx="5334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111827"/>
                </a:solidFill>
                <a:latin typeface="Arial"/>
                <a:ea typeface="Arial"/>
                <a:cs typeface="Arial"/>
              </a:defRPr>
            </a:pPr>
            <a:r>
              <a:rPr sz="4650" b="1">
                <a:solidFill>
                  <a:srgbClr val="111827"/>
                </a:solidFill>
                <a:latin typeface="Arial"/>
                <a:ea typeface="Arial"/>
                <a:cs typeface="Arial"/>
              </a:rPr>
              <a:t>Kidney Acceptance</a:t>
            </a:r>
          </a:p>
          <a:p xmlns:a="http://schemas.openxmlformats.org/drawingml/2006/main">
            <a:pPr algn="l">
              <a:defRPr sz="4650" b="1">
                <a:solidFill>
                  <a:srgbClr val="111827"/>
                </a:solidFill>
                <a:latin typeface="Arial"/>
                <a:ea typeface="Arial"/>
                <a:cs typeface="Arial"/>
              </a:defRPr>
            </a:pPr>
            <a:r>
              <a:rPr sz="4650" b="1">
                <a:solidFill>
                  <a:srgbClr val="111827"/>
                </a:solidFill>
                <a:latin typeface="Arial"/>
                <a:ea typeface="Arial"/>
                <a:cs typeface="Arial"/>
              </a:rPr>
              <a:t>Signal Monitor</a:t>
            </a:r>
          </a:p>
        </p:txBody>
      </p:sp>
      <p:sp>
        <p:nvSpPr>
          <p:cNvPr id="3" name="cover-subtitle">
            <a:extLst xmlns:a="http://schemas.openxmlformats.org/drawingml/2006/main">
              <a:ext uri="{FF2B5EF4-FFF2-40B4-BE49-F238E27FC236}">
                <a16:creationId xmlns:a16="http://schemas.microsoft.com/office/drawing/2014/main" id="{A09093DF-AFB1-481C-B3AF-15E4A7AA5D12}"/>
              </a:ext>
            </a:extLst>
          </p:cNvPr>
          <p:cNvSpPr>
            <a:spLocks xmlns:a="http://schemas.openxmlformats.org/drawingml/2006/main" noGrp="1"/>
          </p:cNvSpPr>
          <p:nvPr/>
        </p:nvSpPr>
        <p:spPr>
          <a:xfrm xmlns:a="http://schemas.openxmlformats.org/drawingml/2006/main">
            <a:off x="609600" y="3162300"/>
            <a:ext cx="504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1827"/>
                </a:solidFill>
                <a:latin typeface="Arial"/>
                <a:ea typeface="Arial"/>
                <a:cs typeface="Arial"/>
              </a:defRPr>
            </a:pPr>
            <a:r>
              <a:rPr sz="2025" b="0">
                <a:solidFill>
                  <a:srgbClr val="111827"/>
                </a:solidFill>
                <a:latin typeface="Arial"/>
                <a:ea typeface="Arial"/>
                <a:cs typeface="Arial"/>
              </a:rPr>
              <a:t>A screening signal that favors evidence over complexity</a:t>
            </a:r>
          </a:p>
        </p:txBody>
      </p:sp>
      <p:cxnSp>
        <p:nvCxnSpPr>
          <p:cNvPr id="13" name="cover-accent-rule"/>
          <p:cNvCxnSpPr/>
          <p:nvPr/>
        </p:nvCxnSpPr>
        <p:spPr>
          <a:xfrm xmlns:a="http://schemas.openxmlformats.org/drawingml/2006/main">
            <a:off x="609600" y="4324350"/>
            <a:ext cx="1428750" cy="0"/>
          </a:xfrm>
          <a:prstGeom xmlns:a="http://schemas.openxmlformats.org/drawingml/2006/main" prst="straightConnector1">
            <a:avLst/>
          </a:prstGeom>
          <a:ln xmlns:a="http://schemas.openxmlformats.org/drawingml/2006/main" w="47625">
            <a:solidFill>
              <a:srgbClr val="3D8DFF"/>
            </a:solidFill>
            <a:prstDash val="solid"/>
          </a:ln>
        </p:spPr>
      </p:cxnSp>
      <p:sp>
        <p:nvSpPr>
          <p:cNvPr id="5" name="cover-detail">
            <a:extLst xmlns:a="http://schemas.openxmlformats.org/drawingml/2006/main">
              <a:ext uri="{FF2B5EF4-FFF2-40B4-BE49-F238E27FC236}">
                <a16:creationId xmlns:a16="http://schemas.microsoft.com/office/drawing/2014/main" id="{E6EF4D88-665E-4AEA-A894-6E0F95DDE76B}"/>
              </a:ext>
            </a:extLst>
          </p:cNvPr>
          <p:cNvSpPr>
            <a:spLocks xmlns:a="http://schemas.openxmlformats.org/drawingml/2006/main" noGrp="1"/>
          </p:cNvSpPr>
          <p:nvPr/>
        </p:nvSpPr>
        <p:spPr>
          <a:xfrm xmlns:a="http://schemas.openxmlformats.org/drawingml/2006/main">
            <a:off x="609600" y="4610100"/>
            <a:ext cx="5143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Nine annual SRTR cohorts  •  leakage-safe evaluation  •  offline delivery</a:t>
            </a:r>
          </a:p>
        </p:txBody>
      </p:sp>
      <p:sp>
        <p:nvSpPr>
          <p:cNvPr id="6" name="cover-image-backing">
            <a:extLst xmlns:a="http://schemas.openxmlformats.org/drawingml/2006/main">
              <a:ext uri="{FF2B5EF4-FFF2-40B4-BE49-F238E27FC236}">
                <a16:creationId xmlns:a16="http://schemas.microsoft.com/office/drawing/2014/main" id="{4D57ACC5-1C6A-44F7-9655-F8AF6ECED8DD}"/>
              </a:ext>
            </a:extLst>
          </p:cNvPr>
          <p:cNvSpPr>
            <a:spLocks xmlns:a="http://schemas.openxmlformats.org/drawingml/2006/main" noGrp="1"/>
          </p:cNvSpPr>
          <p:nvPr/>
        </p:nvSpPr>
        <p:spPr>
          <a:xfrm xmlns:a="http://schemas.openxmlformats.org/drawingml/2006/main">
            <a:off x="6457950" y="419100"/>
            <a:ext cx="5124450" cy="56769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f98a63821f24582"/>
          <a:stretch xmlns:a="http://schemas.openxmlformats.org/drawingml/2006/main"/>
        </p:blipFill>
        <p:spPr>
          <a:xfrm xmlns:a="http://schemas.openxmlformats.org/drawingml/2006/main">
            <a:off x="6885183" y="647700"/>
            <a:ext cx="4269984" cy="5219700"/>
          </a:xfrm>
          <a:prstGeom xmlns:a="http://schemas.openxmlformats.org/drawingml/2006/main" prst="rect">
            <a:avLst/>
          </a:prstGeom>
        </p:spPr>
      </p:pic>
      <p:sp>
        <p:nvSpPr>
          <p:cNvPr id="8" name="cover-boundary">
            <a:extLst xmlns:a="http://schemas.openxmlformats.org/drawingml/2006/main">
              <a:ext uri="{FF2B5EF4-FFF2-40B4-BE49-F238E27FC236}">
                <a16:creationId xmlns:a16="http://schemas.microsoft.com/office/drawing/2014/main" id="{7C3A81EC-2C22-4AEC-B06D-D1CC7C59E74A}"/>
              </a:ext>
            </a:extLst>
          </p:cNvPr>
          <p:cNvSpPr>
            <a:spLocks xmlns:a="http://schemas.openxmlformats.org/drawingml/2006/main" noGrp="1"/>
          </p:cNvSpPr>
          <p:nvPr/>
        </p:nvSpPr>
        <p:spPr>
          <a:xfrm xmlns:a="http://schemas.openxmlformats.org/drawingml/2006/main">
            <a:off x="609600" y="59245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9A6700"/>
                </a:solidFill>
                <a:latin typeface="Arial"/>
                <a:ea typeface="Arial"/>
                <a:cs typeface="Arial"/>
              </a:defRPr>
            </a:pPr>
            <a:r>
              <a:rPr sz="1050" b="0">
                <a:solidFill>
                  <a:srgbClr val="9A6700"/>
                </a:solidFill>
                <a:latin typeface="Arial"/>
                <a:ea typeface="Arial"/>
                <a:cs typeface="Arial"/>
              </a:rPr>
              <a:t>Public aggregate prototype — not clinical or regulatory decision support</a:t>
            </a:r>
          </a:p>
        </p:txBody>
      </p:sp>
      <p:sp>
        <p:nvSpPr>
          <p:cNvPr id="9" name="cover-number">
            <a:extLst xmlns:a="http://schemas.openxmlformats.org/drawingml/2006/main">
              <a:ext uri="{FF2B5EF4-FFF2-40B4-BE49-F238E27FC236}">
                <a16:creationId xmlns:a16="http://schemas.microsoft.com/office/drawing/2014/main" id="{A1BCC6C1-17A9-4BDD-9869-AA3E958636A1}"/>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01</a:t>
            </a:r>
          </a:p>
        </p:txBody>
      </p:sp>
    </p:spTree>
    <p:extLst>
      <p:ext uri="{BB962C8B-B14F-4D97-AF65-F5344CB8AC3E}">
        <p14:creationId xmlns:p14="http://schemas.microsoft.com/office/powerpoint/2010/main" val="3717736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2">
            <a:extLst xmlns:a="http://schemas.openxmlformats.org/drawingml/2006/main">
              <a:ext uri="{FF2B5EF4-FFF2-40B4-BE49-F238E27FC236}">
                <a16:creationId xmlns:a16="http://schemas.microsoft.com/office/drawing/2014/main" id="{6C15BFD0-67C6-4206-B2AE-1272B1AC7567}"/>
              </a:ext>
            </a:extLst>
          </p:cNvPr>
          <p:cNvSpPr>
            <a:spLocks xmlns:a="http://schemas.openxmlformats.org/drawingml/2006/main" noGrp="1"/>
          </p:cNvSpPr>
          <p:nvPr/>
        </p:nvSpPr>
        <p:spPr>
          <a:xfrm xmlns:a="http://schemas.openxmlformats.org/drawingml/2006/main">
            <a:off x="609600" y="3048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67085"/>
                </a:solidFill>
                <a:latin typeface="Arial"/>
                <a:ea typeface="Arial"/>
                <a:cs typeface="Arial"/>
              </a:defRPr>
            </a:pPr>
            <a:r>
              <a:rPr sz="975" b="1">
                <a:solidFill>
                  <a:srgbClr val="667085"/>
                </a:solidFill>
                <a:latin typeface="Arial"/>
                <a:ea typeface="Arial"/>
                <a:cs typeface="Arial"/>
              </a:rPr>
              <a:t>KIDNEY ACCEPTANCE SIGNAL MONITOR</a:t>
            </a:r>
          </a:p>
        </p:txBody>
      </p:sp>
      <p:sp>
        <p:nvSpPr>
          <p:cNvPr id="2" name="title-2">
            <a:extLst xmlns:a="http://schemas.openxmlformats.org/drawingml/2006/main">
              <a:ext uri="{FF2B5EF4-FFF2-40B4-BE49-F238E27FC236}">
                <a16:creationId xmlns:a16="http://schemas.microsoft.com/office/drawing/2014/main" id="{4F785860-2E11-46B5-B9AF-A9963DEAEDF0}"/>
              </a:ext>
            </a:extLst>
          </p:cNvPr>
          <p:cNvSpPr>
            <a:spLocks xmlns:a="http://schemas.openxmlformats.org/drawingml/2006/main" noGrp="1"/>
          </p:cNvSpPr>
          <p:nvPr/>
        </p:nvSpPr>
        <p:spPr>
          <a:xfrm xmlns:a="http://schemas.openxmlformats.org/drawingml/2006/main">
            <a:off x="609600" y="64770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A program needs context—not a scorecard</a:t>
            </a:r>
          </a:p>
        </p:txBody>
      </p:sp>
      <p:sp>
        <p:nvSpPr>
          <p:cNvPr id="3" name="benchmark-field">
            <a:extLst xmlns:a="http://schemas.openxmlformats.org/drawingml/2006/main">
              <a:ext uri="{FF2B5EF4-FFF2-40B4-BE49-F238E27FC236}">
                <a16:creationId xmlns:a16="http://schemas.microsoft.com/office/drawing/2014/main" id="{47CF0235-BA93-4D19-AF16-B1494F3C49CB}"/>
              </a:ext>
            </a:extLst>
          </p:cNvPr>
          <p:cNvSpPr>
            <a:spLocks xmlns:a="http://schemas.openxmlformats.org/drawingml/2006/main" noGrp="1"/>
          </p:cNvSpPr>
          <p:nvPr/>
        </p:nvSpPr>
        <p:spPr>
          <a:xfrm xmlns:a="http://schemas.openxmlformats.org/drawingml/2006/main">
            <a:off x="609600" y="1619250"/>
            <a:ext cx="4152900" cy="394335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4" name="benchmark-label">
            <a:extLst xmlns:a="http://schemas.openxmlformats.org/drawingml/2006/main">
              <a:ext uri="{FF2B5EF4-FFF2-40B4-BE49-F238E27FC236}">
                <a16:creationId xmlns:a16="http://schemas.microsoft.com/office/drawing/2014/main" id="{1A29111D-FF1D-44EC-83C7-71C279388CE2}"/>
              </a:ext>
            </a:extLst>
          </p:cNvPr>
          <p:cNvSpPr>
            <a:spLocks xmlns:a="http://schemas.openxmlformats.org/drawingml/2006/main" noGrp="1"/>
          </p:cNvSpPr>
          <p:nvPr/>
        </p:nvSpPr>
        <p:spPr>
          <a:xfrm xmlns:a="http://schemas.openxmlformats.org/drawingml/2006/main">
            <a:off x="895350" y="19526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085"/>
                </a:solidFill>
                <a:latin typeface="Arial"/>
                <a:ea typeface="Arial"/>
                <a:cs typeface="Arial"/>
              </a:defRPr>
            </a:pPr>
            <a:r>
              <a:rPr sz="1050" b="1">
                <a:solidFill>
                  <a:srgbClr val="667085"/>
                </a:solidFill>
                <a:latin typeface="Arial"/>
                <a:ea typeface="Arial"/>
                <a:cs typeface="Arial"/>
              </a:rPr>
              <a:t>PUBLISHED OFFER-ACCEPTANCE RATIO</a:t>
            </a:r>
          </a:p>
        </p:txBody>
      </p:sp>
      <p:sp>
        <p:nvSpPr>
          <p:cNvPr id="5" name="benchmark-value">
            <a:extLst xmlns:a="http://schemas.openxmlformats.org/drawingml/2006/main">
              <a:ext uri="{FF2B5EF4-FFF2-40B4-BE49-F238E27FC236}">
                <a16:creationId xmlns:a16="http://schemas.microsoft.com/office/drawing/2014/main" id="{FDB794FA-D294-4E02-A916-68F973FA6813}"/>
              </a:ext>
            </a:extLst>
          </p:cNvPr>
          <p:cNvSpPr>
            <a:spLocks xmlns:a="http://schemas.openxmlformats.org/drawingml/2006/main" noGrp="1"/>
          </p:cNvSpPr>
          <p:nvPr/>
        </p:nvSpPr>
        <p:spPr>
          <a:xfrm xmlns:a="http://schemas.openxmlformats.org/drawingml/2006/main">
            <a:off x="876300" y="2400300"/>
            <a:ext cx="2476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150" b="1">
                <a:solidFill>
                  <a:srgbClr val="111827"/>
                </a:solidFill>
                <a:latin typeface="Arial"/>
                <a:ea typeface="Arial"/>
                <a:cs typeface="Arial"/>
              </a:defRPr>
            </a:pPr>
            <a:r>
              <a:rPr sz="6150" b="1">
                <a:solidFill>
                  <a:srgbClr val="111827"/>
                </a:solidFill>
                <a:latin typeface="Arial"/>
                <a:ea typeface="Arial"/>
                <a:cs typeface="Arial"/>
              </a:rPr>
              <a:t>1.0</a:t>
            </a:r>
          </a:p>
        </p:txBody>
      </p:sp>
      <p:sp>
        <p:nvSpPr>
          <p:cNvPr id="6" name="benchmark-copy">
            <a:extLst xmlns:a="http://schemas.openxmlformats.org/drawingml/2006/main">
              <a:ext uri="{FF2B5EF4-FFF2-40B4-BE49-F238E27FC236}">
                <a16:creationId xmlns:a16="http://schemas.microsoft.com/office/drawing/2014/main" id="{F5BD6720-6F7B-4754-9BA5-056A8C9CD192}"/>
              </a:ext>
            </a:extLst>
          </p:cNvPr>
          <p:cNvSpPr>
            <a:spLocks xmlns:a="http://schemas.openxmlformats.org/drawingml/2006/main" noGrp="1"/>
          </p:cNvSpPr>
          <p:nvPr/>
        </p:nvSpPr>
        <p:spPr>
          <a:xfrm xmlns:a="http://schemas.openxmlformats.org/drawingml/2006/main">
            <a:off x="895350" y="3638550"/>
            <a:ext cx="333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Observed acceptances are in line with national expectation for similar offers.</a:t>
            </a:r>
          </a:p>
        </p:txBody>
      </p:sp>
      <p:sp>
        <p:nvSpPr>
          <p:cNvPr id="7" name="benchmark-caveat">
            <a:extLst xmlns:a="http://schemas.openxmlformats.org/drawingml/2006/main">
              <a:ext uri="{FF2B5EF4-FFF2-40B4-BE49-F238E27FC236}">
                <a16:creationId xmlns:a16="http://schemas.microsoft.com/office/drawing/2014/main" id="{6F8E3186-9578-4824-BDB9-5AB997F6E7B9}"/>
              </a:ext>
            </a:extLst>
          </p:cNvPr>
          <p:cNvSpPr>
            <a:spLocks xmlns:a="http://schemas.openxmlformats.org/drawingml/2006/main" noGrp="1"/>
          </p:cNvSpPr>
          <p:nvPr/>
        </p:nvSpPr>
        <p:spPr>
          <a:xfrm xmlns:a="http://schemas.openxmlformats.org/drawingml/2006/main">
            <a:off x="895350" y="4819650"/>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A ratio is a screening signal—not a judgment about an individual offer or program quality.</a:t>
            </a:r>
          </a:p>
        </p:txBody>
      </p:sp>
      <p:sp>
        <p:nvSpPr>
          <p:cNvPr id="8" name="problem-heading-0">
            <a:extLst xmlns:a="http://schemas.openxmlformats.org/drawingml/2006/main">
              <a:ext uri="{FF2B5EF4-FFF2-40B4-BE49-F238E27FC236}">
                <a16:creationId xmlns:a16="http://schemas.microsoft.com/office/drawing/2014/main" id="{DB6249C2-50FC-4C04-9A38-61EC4A0553E7}"/>
              </a:ext>
            </a:extLst>
          </p:cNvPr>
          <p:cNvSpPr>
            <a:spLocks xmlns:a="http://schemas.openxmlformats.org/drawingml/2006/main" noGrp="1"/>
          </p:cNvSpPr>
          <p:nvPr/>
        </p:nvSpPr>
        <p:spPr>
          <a:xfrm xmlns:a="http://schemas.openxmlformats.org/drawingml/2006/main">
            <a:off x="5314950" y="16573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See the trajectory</a:t>
            </a:r>
          </a:p>
        </p:txBody>
      </p:sp>
      <p:sp>
        <p:nvSpPr>
          <p:cNvPr id="9" name="problem-body-0">
            <a:extLst xmlns:a="http://schemas.openxmlformats.org/drawingml/2006/main">
              <a:ext uri="{FF2B5EF4-FFF2-40B4-BE49-F238E27FC236}">
                <a16:creationId xmlns:a16="http://schemas.microsoft.com/office/drawing/2014/main" id="{F2DE5F9E-9C07-4B35-BB36-FFFCCDB77155}"/>
              </a:ext>
            </a:extLst>
          </p:cNvPr>
          <p:cNvSpPr>
            <a:spLocks xmlns:a="http://schemas.openxmlformats.org/drawingml/2006/main" noGrp="1"/>
          </p:cNvSpPr>
          <p:nvPr/>
        </p:nvSpPr>
        <p:spPr>
          <a:xfrm xmlns:a="http://schemas.openxmlformats.org/drawingml/2006/main">
            <a:off x="5314950" y="2095500"/>
            <a:ext cx="571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Follow published annual OARs with their SRTR 95% credible intervals.</a:t>
            </a:r>
          </a:p>
        </p:txBody>
      </p:sp>
      <p:cxnSp>
        <p:nvCxnSpPr>
          <p:cNvPr id="28" name="problem-rule-0"/>
          <p:cNvCxnSpPr/>
          <p:nvPr/>
        </p:nvCxnSpPr>
        <p:spPr>
          <a:xfrm xmlns:a="http://schemas.openxmlformats.org/drawingml/2006/main">
            <a:off x="5314950" y="2809875"/>
            <a:ext cx="569595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problem-heading-1">
            <a:extLst xmlns:a="http://schemas.openxmlformats.org/drawingml/2006/main">
              <a:ext uri="{FF2B5EF4-FFF2-40B4-BE49-F238E27FC236}">
                <a16:creationId xmlns:a16="http://schemas.microsoft.com/office/drawing/2014/main" id="{A40BF9D8-0A2E-406C-BE39-AE6E54B385B1}"/>
              </a:ext>
            </a:extLst>
          </p:cNvPr>
          <p:cNvSpPr>
            <a:spLocks xmlns:a="http://schemas.openxmlformats.org/drawingml/2006/main" noGrp="1"/>
          </p:cNvSpPr>
          <p:nvPr/>
        </p:nvSpPr>
        <p:spPr>
          <a:xfrm xmlns:a="http://schemas.openxmlformats.org/drawingml/2006/main">
            <a:off x="5314950" y="294322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Locate context</a:t>
            </a:r>
          </a:p>
        </p:txBody>
      </p:sp>
      <p:sp>
        <p:nvSpPr>
          <p:cNvPr id="12" name="problem-body-1">
            <a:extLst xmlns:a="http://schemas.openxmlformats.org/drawingml/2006/main">
              <a:ext uri="{FF2B5EF4-FFF2-40B4-BE49-F238E27FC236}">
                <a16:creationId xmlns:a16="http://schemas.microsoft.com/office/drawing/2014/main" id="{97C32750-CC4F-450C-A664-1D5E8FF6F342}"/>
              </a:ext>
            </a:extLst>
          </p:cNvPr>
          <p:cNvSpPr>
            <a:spLocks xmlns:a="http://schemas.openxmlformats.org/drawingml/2006/main" noGrp="1"/>
          </p:cNvSpPr>
          <p:nvPr/>
        </p:nvSpPr>
        <p:spPr>
          <a:xfrm xmlns:a="http://schemas.openxmlformats.org/drawingml/2006/main">
            <a:off x="5314950" y="3381375"/>
            <a:ext cx="571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Compare low-, medium-, high-KDRI and hard-to-place published strata without treating them as causal drivers.</a:t>
            </a:r>
          </a:p>
        </p:txBody>
      </p:sp>
      <p:cxnSp>
        <p:nvCxnSpPr>
          <p:cNvPr id="31" name="problem-rule-1"/>
          <p:cNvCxnSpPr/>
          <p:nvPr/>
        </p:nvCxnSpPr>
        <p:spPr>
          <a:xfrm xmlns:a="http://schemas.openxmlformats.org/drawingml/2006/main">
            <a:off x="5314950" y="4095750"/>
            <a:ext cx="569595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problem-heading-2">
            <a:extLst xmlns:a="http://schemas.openxmlformats.org/drawingml/2006/main">
              <a:ext uri="{FF2B5EF4-FFF2-40B4-BE49-F238E27FC236}">
                <a16:creationId xmlns:a16="http://schemas.microsoft.com/office/drawing/2014/main" id="{E197B2E1-CD9B-455C-84A0-FC4970FAA4DC}"/>
              </a:ext>
            </a:extLst>
          </p:cNvPr>
          <p:cNvSpPr>
            <a:spLocks xmlns:a="http://schemas.openxmlformats.org/drawingml/2006/main" noGrp="1"/>
          </p:cNvSpPr>
          <p:nvPr/>
        </p:nvSpPr>
        <p:spPr>
          <a:xfrm xmlns:a="http://schemas.openxmlformats.org/drawingml/2006/main">
            <a:off x="5314950" y="42291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Choose a review</a:t>
            </a:r>
          </a:p>
        </p:txBody>
      </p:sp>
      <p:sp>
        <p:nvSpPr>
          <p:cNvPr id="15" name="problem-body-2">
            <a:extLst xmlns:a="http://schemas.openxmlformats.org/drawingml/2006/main">
              <a:ext uri="{FF2B5EF4-FFF2-40B4-BE49-F238E27FC236}">
                <a16:creationId xmlns:a16="http://schemas.microsoft.com/office/drawing/2014/main" id="{A0D0658B-5CD6-4A97-AB1D-7312F677C0D2}"/>
              </a:ext>
            </a:extLst>
          </p:cNvPr>
          <p:cNvSpPr>
            <a:spLocks xmlns:a="http://schemas.openxmlformats.org/drawingml/2006/main" noGrp="1"/>
          </p:cNvSpPr>
          <p:nvPr/>
        </p:nvSpPr>
        <p:spPr>
          <a:xfrm xmlns:a="http://schemas.openxmlformats.org/drawingml/2006/main">
            <a:off x="5314950" y="4667250"/>
            <a:ext cx="571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Use the signal to decide where internal offer-level review may be worthwhile—never to prescribe acceptance.</a:t>
            </a:r>
          </a:p>
        </p:txBody>
      </p:sp>
      <p:cxnSp>
        <p:nvCxnSpPr>
          <p:cNvPr id="34" name="footer-rule-2"/>
          <p:cNvCxnSpPr/>
          <p:nvPr/>
        </p:nvCxnSpPr>
        <p:spPr>
          <a:xfrm xmlns:a="http://schemas.openxmlformats.org/drawingml/2006/main">
            <a:off x="609600" y="6305550"/>
            <a:ext cx="109728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footer-source-2">
            <a:extLst xmlns:a="http://schemas.openxmlformats.org/drawingml/2006/main">
              <a:ext uri="{FF2B5EF4-FFF2-40B4-BE49-F238E27FC236}">
                <a16:creationId xmlns:a16="http://schemas.microsoft.com/office/drawing/2014/main" id="{F827DA48-4C13-4164-A216-52E61524B062}"/>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Definition and intended use: SPEC.md • SRTR published OAR</a:t>
            </a:r>
          </a:p>
        </p:txBody>
      </p:sp>
      <p:sp>
        <p:nvSpPr>
          <p:cNvPr id="18" name="footer-number-2">
            <a:extLst xmlns:a="http://schemas.openxmlformats.org/drawingml/2006/main">
              <a:ext uri="{FF2B5EF4-FFF2-40B4-BE49-F238E27FC236}">
                <a16:creationId xmlns:a16="http://schemas.microsoft.com/office/drawing/2014/main" id="{6452911B-05E0-48D9-AFF5-1EF420534169}"/>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2</a:t>
            </a:r>
          </a:p>
        </p:txBody>
      </p:sp>
    </p:spTree>
    <p:extLst>
      <p:ext uri="{BB962C8B-B14F-4D97-AF65-F5344CB8AC3E}">
        <p14:creationId xmlns:p14="http://schemas.microsoft.com/office/powerpoint/2010/main" val="1733509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3">
            <a:extLst xmlns:a="http://schemas.openxmlformats.org/drawingml/2006/main">
              <a:ext uri="{FF2B5EF4-FFF2-40B4-BE49-F238E27FC236}">
                <a16:creationId xmlns:a16="http://schemas.microsoft.com/office/drawing/2014/main" id="{7D029F64-89DB-4032-9DDF-F95F5A034ECB}"/>
              </a:ext>
            </a:extLst>
          </p:cNvPr>
          <p:cNvSpPr>
            <a:spLocks xmlns:a="http://schemas.openxmlformats.org/drawingml/2006/main" noGrp="1"/>
          </p:cNvSpPr>
          <p:nvPr/>
        </p:nvSpPr>
        <p:spPr>
          <a:xfrm xmlns:a="http://schemas.openxmlformats.org/drawingml/2006/main">
            <a:off x="609600" y="3048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67085"/>
                </a:solidFill>
                <a:latin typeface="Arial"/>
                <a:ea typeface="Arial"/>
                <a:cs typeface="Arial"/>
              </a:defRPr>
            </a:pPr>
            <a:r>
              <a:rPr sz="975" b="1">
                <a:solidFill>
                  <a:srgbClr val="667085"/>
                </a:solidFill>
                <a:latin typeface="Arial"/>
                <a:ea typeface="Arial"/>
                <a:cs typeface="Arial"/>
              </a:rPr>
              <a:t>KIDNEY ACCEPTANCE SIGNAL MONITOR</a:t>
            </a:r>
          </a:p>
        </p:txBody>
      </p:sp>
      <p:sp>
        <p:nvSpPr>
          <p:cNvPr id="2" name="title-3">
            <a:extLst xmlns:a="http://schemas.openxmlformats.org/drawingml/2006/main">
              <a:ext uri="{FF2B5EF4-FFF2-40B4-BE49-F238E27FC236}">
                <a16:creationId xmlns:a16="http://schemas.microsoft.com/office/drawing/2014/main" id="{63270FB5-BD76-43BF-9B07-108474B70581}"/>
              </a:ext>
            </a:extLst>
          </p:cNvPr>
          <p:cNvSpPr>
            <a:spLocks xmlns:a="http://schemas.openxmlformats.org/drawingml/2006/main" noGrp="1"/>
          </p:cNvSpPr>
          <p:nvPr/>
        </p:nvSpPr>
        <p:spPr>
          <a:xfrm xmlns:a="http://schemas.openxmlformats.org/drawingml/2006/main">
            <a:off x="609600" y="64770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Nine pinned releases become one defensible annual panel</a:t>
            </a:r>
          </a:p>
        </p:txBody>
      </p:sp>
      <p:cxnSp>
        <p:nvCxnSpPr>
          <p:cNvPr id="22" name="pipeline-line"/>
          <p:cNvCxnSpPr/>
          <p:nvPr/>
        </p:nvCxnSpPr>
        <p:spPr>
          <a:xfrm xmlns:a="http://schemas.openxmlformats.org/drawingml/2006/main">
            <a:off x="876300" y="3162300"/>
            <a:ext cx="9620250" cy="0"/>
          </a:xfrm>
          <a:prstGeom xmlns:a="http://schemas.openxmlformats.org/drawingml/2006/main" prst="straightConnector1">
            <a:avLst/>
          </a:prstGeom>
          <a:ln xmlns:a="http://schemas.openxmlformats.org/drawingml/2006/main" w="19050">
            <a:solidFill>
              <a:srgbClr val="111827"/>
            </a:solidFill>
            <a:prstDash val="solid"/>
          </a:ln>
        </p:spPr>
      </p:cxnSp>
      <p:sp>
        <p:nvSpPr>
          <p:cNvPr id="4" name="pipeline-node-0">
            <a:extLst xmlns:a="http://schemas.openxmlformats.org/drawingml/2006/main">
              <a:ext uri="{FF2B5EF4-FFF2-40B4-BE49-F238E27FC236}">
                <a16:creationId xmlns:a16="http://schemas.microsoft.com/office/drawing/2014/main" id="{A8B110D2-484E-48C4-8C59-7B076BC3C6E4}"/>
              </a:ext>
            </a:extLst>
          </p:cNvPr>
          <p:cNvSpPr>
            <a:spLocks xmlns:a="http://schemas.openxmlformats.org/drawingml/2006/main" noGrp="1"/>
          </p:cNvSpPr>
          <p:nvPr/>
        </p:nvSpPr>
        <p:spPr>
          <a:xfrm xmlns:a="http://schemas.openxmlformats.org/drawingml/2006/main">
            <a:off x="876300" y="3086100"/>
            <a:ext cx="171450" cy="171450"/>
          </a:xfrm>
          <a:prstGeom xmlns:a="http://schemas.openxmlformats.org/drawingml/2006/main" prst="ellipse">
            <a:avLst/>
          </a:prstGeom>
          <a:solidFill xmlns:a="http://schemas.openxmlformats.org/drawingml/2006/main">
            <a:srgbClr val="111827"/>
          </a:solidFill>
          <a:ln xmlns:a="http://schemas.openxmlformats.org/drawingml/2006/main" w="0">
            <a:solidFill>
              <a:srgbClr val="111827"/>
            </a:solidFill>
            <a:prstDash val="solid"/>
          </a:ln>
        </p:spPr>
      </p:sp>
      <p:sp>
        <p:nvSpPr>
          <p:cNvPr id="5" name="pipeline-label-0">
            <a:extLst xmlns:a="http://schemas.openxmlformats.org/drawingml/2006/main">
              <a:ext uri="{FF2B5EF4-FFF2-40B4-BE49-F238E27FC236}">
                <a16:creationId xmlns:a16="http://schemas.microsoft.com/office/drawing/2014/main" id="{417DEC75-0A98-426C-8C3B-612F107EF738}"/>
              </a:ext>
            </a:extLst>
          </p:cNvPr>
          <p:cNvSpPr>
            <a:spLocks xmlns:a="http://schemas.openxmlformats.org/drawingml/2006/main" noGrp="1"/>
          </p:cNvSpPr>
          <p:nvPr/>
        </p:nvSpPr>
        <p:spPr>
          <a:xfrm xmlns:a="http://schemas.openxmlformats.org/drawingml/2006/main">
            <a:off x="876300" y="2495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085"/>
                </a:solidFill>
                <a:latin typeface="Arial"/>
                <a:ea typeface="Arial"/>
                <a:cs typeface="Arial"/>
              </a:defRPr>
            </a:pPr>
            <a:r>
              <a:rPr sz="1050" b="1">
                <a:solidFill>
                  <a:srgbClr val="667085"/>
                </a:solidFill>
                <a:latin typeface="Arial"/>
                <a:ea typeface="Arial"/>
                <a:cs typeface="Arial"/>
              </a:rPr>
              <a:t>INGEST</a:t>
            </a:r>
          </a:p>
        </p:txBody>
      </p:sp>
      <p:sp>
        <p:nvSpPr>
          <p:cNvPr id="6" name="pipeline-title-0">
            <a:extLst xmlns:a="http://schemas.openxmlformats.org/drawingml/2006/main">
              <a:ext uri="{FF2B5EF4-FFF2-40B4-BE49-F238E27FC236}">
                <a16:creationId xmlns:a16="http://schemas.microsoft.com/office/drawing/2014/main" id="{B4EF9D56-9916-43A7-9925-8549BE42274A}"/>
              </a:ext>
            </a:extLst>
          </p:cNvPr>
          <p:cNvSpPr>
            <a:spLocks xmlns:a="http://schemas.openxmlformats.org/drawingml/2006/main" noGrp="1"/>
          </p:cNvSpPr>
          <p:nvPr/>
        </p:nvSpPr>
        <p:spPr>
          <a:xfrm xmlns:a="http://schemas.openxmlformats.org/drawingml/2006/main">
            <a:off x="876300" y="3638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Immutable public inputs</a:t>
            </a:r>
          </a:p>
        </p:txBody>
      </p:sp>
      <p:sp>
        <p:nvSpPr>
          <p:cNvPr id="7" name="pipeline-body-0">
            <a:extLst xmlns:a="http://schemas.openxmlformats.org/drawingml/2006/main">
              <a:ext uri="{FF2B5EF4-FFF2-40B4-BE49-F238E27FC236}">
                <a16:creationId xmlns:a16="http://schemas.microsoft.com/office/drawing/2014/main" id="{929CFDC7-F092-428B-83C7-9DA33F41997D}"/>
              </a:ext>
            </a:extLst>
          </p:cNvPr>
          <p:cNvSpPr>
            <a:spLocks xmlns:a="http://schemas.openxmlformats.org/drawingml/2006/main" noGrp="1"/>
          </p:cNvSpPr>
          <p:nvPr/>
        </p:nvSpPr>
        <p:spPr>
          <a:xfrm xmlns:a="http://schemas.openxmlformats.org/drawingml/2006/main">
            <a:off x="876300" y="41338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Nine annual kidney PSR workbooks</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2017–2025 calendar-year cohorts</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URL, size, type, and SHA-256 pinned</a:t>
            </a:r>
          </a:p>
        </p:txBody>
      </p:sp>
      <p:sp>
        <p:nvSpPr>
          <p:cNvPr id="8" name="pipeline-node-1">
            <a:extLst xmlns:a="http://schemas.openxmlformats.org/drawingml/2006/main">
              <a:ext uri="{FF2B5EF4-FFF2-40B4-BE49-F238E27FC236}">
                <a16:creationId xmlns:a16="http://schemas.microsoft.com/office/drawing/2014/main" id="{2417CBA7-1D3A-45C4-BAC2-95F6DA4A8B76}"/>
              </a:ext>
            </a:extLst>
          </p:cNvPr>
          <p:cNvSpPr>
            <a:spLocks xmlns:a="http://schemas.openxmlformats.org/drawingml/2006/main" noGrp="1"/>
          </p:cNvSpPr>
          <p:nvPr/>
        </p:nvSpPr>
        <p:spPr>
          <a:xfrm xmlns:a="http://schemas.openxmlformats.org/drawingml/2006/main">
            <a:off x="4476750" y="3086100"/>
            <a:ext cx="171450" cy="171450"/>
          </a:xfrm>
          <a:prstGeom xmlns:a="http://schemas.openxmlformats.org/drawingml/2006/main" prst="ellipse">
            <a:avLst/>
          </a:prstGeom>
          <a:solidFill xmlns:a="http://schemas.openxmlformats.org/drawingml/2006/main">
            <a:srgbClr val="111827"/>
          </a:solidFill>
          <a:ln xmlns:a="http://schemas.openxmlformats.org/drawingml/2006/main" w="0">
            <a:solidFill>
              <a:srgbClr val="111827"/>
            </a:solidFill>
            <a:prstDash val="solid"/>
          </a:ln>
        </p:spPr>
      </p:sp>
      <p:sp>
        <p:nvSpPr>
          <p:cNvPr id="9" name="pipeline-label-1">
            <a:extLst xmlns:a="http://schemas.openxmlformats.org/drawingml/2006/main">
              <a:ext uri="{FF2B5EF4-FFF2-40B4-BE49-F238E27FC236}">
                <a16:creationId xmlns:a16="http://schemas.microsoft.com/office/drawing/2014/main" id="{A16BC7B2-9C7C-434F-A7B1-1E1EE954548B}"/>
              </a:ext>
            </a:extLst>
          </p:cNvPr>
          <p:cNvSpPr>
            <a:spLocks xmlns:a="http://schemas.openxmlformats.org/drawingml/2006/main" noGrp="1"/>
          </p:cNvSpPr>
          <p:nvPr/>
        </p:nvSpPr>
        <p:spPr>
          <a:xfrm xmlns:a="http://schemas.openxmlformats.org/drawingml/2006/main">
            <a:off x="4476750" y="2495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085"/>
                </a:solidFill>
                <a:latin typeface="Arial"/>
                <a:ea typeface="Arial"/>
                <a:cs typeface="Arial"/>
              </a:defRPr>
            </a:pPr>
            <a:r>
              <a:rPr sz="1050" b="1">
                <a:solidFill>
                  <a:srgbClr val="667085"/>
                </a:solidFill>
                <a:latin typeface="Arial"/>
                <a:ea typeface="Arial"/>
                <a:cs typeface="Arial"/>
              </a:rPr>
              <a:t>VALIDATE</a:t>
            </a:r>
          </a:p>
        </p:txBody>
      </p:sp>
      <p:sp>
        <p:nvSpPr>
          <p:cNvPr id="10" name="pipeline-title-1">
            <a:extLst xmlns:a="http://schemas.openxmlformats.org/drawingml/2006/main">
              <a:ext uri="{FF2B5EF4-FFF2-40B4-BE49-F238E27FC236}">
                <a16:creationId xmlns:a16="http://schemas.microsoft.com/office/drawing/2014/main" id="{30C3D170-873C-484F-823A-EE5AFFB6AFA5}"/>
              </a:ext>
            </a:extLst>
          </p:cNvPr>
          <p:cNvSpPr>
            <a:spLocks xmlns:a="http://schemas.openxmlformats.org/drawingml/2006/main" noGrp="1"/>
          </p:cNvSpPr>
          <p:nvPr/>
        </p:nvSpPr>
        <p:spPr>
          <a:xfrm xmlns:a="http://schemas.openxmlformats.org/drawingml/2006/main">
            <a:off x="4476750" y="3638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Schema-aware parsing</a:t>
            </a:r>
          </a:p>
        </p:txBody>
      </p:sp>
      <p:sp>
        <p:nvSpPr>
          <p:cNvPr id="11" name="pipeline-body-1">
            <a:extLst xmlns:a="http://schemas.openxmlformats.org/drawingml/2006/main">
              <a:ext uri="{FF2B5EF4-FFF2-40B4-BE49-F238E27FC236}">
                <a16:creationId xmlns:a16="http://schemas.microsoft.com/office/drawing/2014/main" id="{37FAF177-A540-4FF7-BD34-76DAAA2A58ED}"/>
              </a:ext>
            </a:extLst>
          </p:cNvPr>
          <p:cNvSpPr>
            <a:spLocks xmlns:a="http://schemas.openxmlformats.org/drawingml/2006/main" noGrp="1"/>
          </p:cNvSpPr>
          <p:nvPr/>
        </p:nvSpPr>
        <p:spPr>
          <a:xfrm xmlns:a="http://schemas.openxmlformats.org/drawingml/2006/main">
            <a:off x="4476750" y="41338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Machine fields—not column positions</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Composite program identity</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Hard errors for broken invariants</a:t>
            </a:r>
          </a:p>
        </p:txBody>
      </p:sp>
      <p:sp>
        <p:nvSpPr>
          <p:cNvPr id="12" name="pipeline-node-2">
            <a:extLst xmlns:a="http://schemas.openxmlformats.org/drawingml/2006/main">
              <a:ext uri="{FF2B5EF4-FFF2-40B4-BE49-F238E27FC236}">
                <a16:creationId xmlns:a16="http://schemas.microsoft.com/office/drawing/2014/main" id="{AAE7C69B-C95D-4754-BD6E-43E54C27EC40}"/>
              </a:ext>
            </a:extLst>
          </p:cNvPr>
          <p:cNvSpPr>
            <a:spLocks xmlns:a="http://schemas.openxmlformats.org/drawingml/2006/main" noGrp="1"/>
          </p:cNvSpPr>
          <p:nvPr/>
        </p:nvSpPr>
        <p:spPr>
          <a:xfrm xmlns:a="http://schemas.openxmlformats.org/drawingml/2006/main">
            <a:off x="8077200" y="3086100"/>
            <a:ext cx="171450" cy="1714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3" name="pipeline-label-2">
            <a:extLst xmlns:a="http://schemas.openxmlformats.org/drawingml/2006/main">
              <a:ext uri="{FF2B5EF4-FFF2-40B4-BE49-F238E27FC236}">
                <a16:creationId xmlns:a16="http://schemas.microsoft.com/office/drawing/2014/main" id="{AEBBC222-DADB-4647-8FC5-9703D641A03F}"/>
              </a:ext>
            </a:extLst>
          </p:cNvPr>
          <p:cNvSpPr>
            <a:spLocks xmlns:a="http://schemas.openxmlformats.org/drawingml/2006/main" noGrp="1"/>
          </p:cNvSpPr>
          <p:nvPr/>
        </p:nvSpPr>
        <p:spPr>
          <a:xfrm xmlns:a="http://schemas.openxmlformats.org/drawingml/2006/main">
            <a:off x="8077200" y="2495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SERVE</a:t>
            </a:r>
          </a:p>
        </p:txBody>
      </p:sp>
      <p:sp>
        <p:nvSpPr>
          <p:cNvPr id="14" name="pipeline-title-2">
            <a:extLst xmlns:a="http://schemas.openxmlformats.org/drawingml/2006/main">
              <a:ext uri="{FF2B5EF4-FFF2-40B4-BE49-F238E27FC236}">
                <a16:creationId xmlns:a16="http://schemas.microsoft.com/office/drawing/2014/main" id="{A35B8F02-71EE-4B2E-A036-DBF3E8263EF4}"/>
              </a:ext>
            </a:extLst>
          </p:cNvPr>
          <p:cNvSpPr>
            <a:spLocks xmlns:a="http://schemas.openxmlformats.org/drawingml/2006/main" noGrp="1"/>
          </p:cNvSpPr>
          <p:nvPr/>
        </p:nvSpPr>
        <p:spPr>
          <a:xfrm xmlns:a="http://schemas.openxmlformats.org/drawingml/2006/main">
            <a:off x="8077200" y="3638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Trusted derived artifacts</a:t>
            </a:r>
          </a:p>
        </p:txBody>
      </p:sp>
      <p:sp>
        <p:nvSpPr>
          <p:cNvPr id="15" name="pipeline-body-2">
            <a:extLst xmlns:a="http://schemas.openxmlformats.org/drawingml/2006/main">
              <a:ext uri="{FF2B5EF4-FFF2-40B4-BE49-F238E27FC236}">
                <a16:creationId xmlns:a16="http://schemas.microsoft.com/office/drawing/2014/main" id="{D4B350D9-A2F7-4DF2-968A-A37D3C226EBB}"/>
              </a:ext>
            </a:extLst>
          </p:cNvPr>
          <p:cNvSpPr>
            <a:spLocks xmlns:a="http://schemas.openxmlformats.org/drawingml/2006/main" noGrp="1"/>
          </p:cNvSpPr>
          <p:nvPr/>
        </p:nvSpPr>
        <p:spPr>
          <a:xfrm xmlns:a="http://schemas.openxmlformats.org/drawingml/2006/main">
            <a:off x="8077200" y="41338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10,515 program-signal rows</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2,103 program-years</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1.23 MB offline release bundle</a:t>
            </a:r>
          </a:p>
        </p:txBody>
      </p:sp>
      <p:sp>
        <p:nvSpPr>
          <p:cNvPr id="16" name="pipeline-takeaway">
            <a:extLst xmlns:a="http://schemas.openxmlformats.org/drawingml/2006/main">
              <a:ext uri="{FF2B5EF4-FFF2-40B4-BE49-F238E27FC236}">
                <a16:creationId xmlns:a16="http://schemas.microsoft.com/office/drawing/2014/main" id="{79F09F32-6BA2-4907-8649-F8FA9D4A87E7}"/>
              </a:ext>
            </a:extLst>
          </p:cNvPr>
          <p:cNvSpPr>
            <a:spLocks xmlns:a="http://schemas.openxmlformats.org/drawingml/2006/main" noGrp="1"/>
          </p:cNvSpPr>
          <p:nvPr/>
        </p:nvSpPr>
        <p:spPr>
          <a:xfrm xmlns:a="http://schemas.openxmlformats.org/drawingml/2006/main">
            <a:off x="609600" y="556260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11827"/>
                </a:solidFill>
                <a:latin typeface="Arial"/>
                <a:ea typeface="Arial"/>
                <a:cs typeface="Arial"/>
              </a:defRPr>
            </a:pPr>
            <a:r>
              <a:rPr sz="1500" b="1">
                <a:solidFill>
                  <a:srgbClr val="111827"/>
                </a:solidFill>
                <a:latin typeface="Arial"/>
                <a:ea typeface="Arial"/>
                <a:cs typeface="Arial"/>
              </a:rPr>
              <a:t>Published ratios remain authoritative; formula recreation is QA only.</a:t>
            </a:r>
          </a:p>
        </p:txBody>
      </p:sp>
      <p:cxnSp>
        <p:nvCxnSpPr>
          <p:cNvPr id="36" name="footer-rule-3"/>
          <p:cNvCxnSpPr/>
          <p:nvPr/>
        </p:nvCxnSpPr>
        <p:spPr>
          <a:xfrm xmlns:a="http://schemas.openxmlformats.org/drawingml/2006/main">
            <a:off x="609600" y="6305550"/>
            <a:ext cx="1097280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footer-source-3">
            <a:extLst xmlns:a="http://schemas.openxmlformats.org/drawingml/2006/main">
              <a:ext uri="{FF2B5EF4-FFF2-40B4-BE49-F238E27FC236}">
                <a16:creationId xmlns:a16="http://schemas.microsoft.com/office/drawing/2014/main" id="{F0628B94-D590-4828-A5D8-C305E0756A82}"/>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Tracked release bundle • deterministic Parquet and JSON • no raw workbooks in Git</a:t>
            </a:r>
          </a:p>
        </p:txBody>
      </p:sp>
      <p:sp>
        <p:nvSpPr>
          <p:cNvPr id="19" name="footer-number-3">
            <a:extLst xmlns:a="http://schemas.openxmlformats.org/drawingml/2006/main">
              <a:ext uri="{FF2B5EF4-FFF2-40B4-BE49-F238E27FC236}">
                <a16:creationId xmlns:a16="http://schemas.microsoft.com/office/drawing/2014/main" id="{B13125C8-550C-420C-8CE9-BFC71264770D}"/>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3</a:t>
            </a:r>
          </a:p>
        </p:txBody>
      </p:sp>
    </p:spTree>
    <p:extLst>
      <p:ext uri="{BB962C8B-B14F-4D97-AF65-F5344CB8AC3E}">
        <p14:creationId xmlns:p14="http://schemas.microsoft.com/office/powerpoint/2010/main" val="4676438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ection-4">
            <a:extLst xmlns:a="http://schemas.openxmlformats.org/drawingml/2006/main">
              <a:ext uri="{FF2B5EF4-FFF2-40B4-BE49-F238E27FC236}">
                <a16:creationId xmlns:a16="http://schemas.microsoft.com/office/drawing/2014/main" id="{23767158-C18B-4FF6-B895-C2B2CCC1CCEE}"/>
              </a:ext>
            </a:extLst>
          </p:cNvPr>
          <p:cNvSpPr>
            <a:spLocks xmlns:a="http://schemas.openxmlformats.org/drawingml/2006/main" noGrp="1"/>
          </p:cNvSpPr>
          <p:nvPr/>
        </p:nvSpPr>
        <p:spPr>
          <a:xfrm xmlns:a="http://schemas.openxmlformats.org/drawingml/2006/main">
            <a:off x="609600" y="3048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67085"/>
                </a:solidFill>
                <a:latin typeface="Arial"/>
                <a:ea typeface="Arial"/>
                <a:cs typeface="Arial"/>
              </a:defRPr>
            </a:pPr>
            <a:r>
              <a:rPr sz="975" b="1">
                <a:solidFill>
                  <a:srgbClr val="667085"/>
                </a:solidFill>
                <a:latin typeface="Arial"/>
                <a:ea typeface="Arial"/>
                <a:cs typeface="Arial"/>
              </a:rPr>
              <a:t>KIDNEY ACCEPTANCE SIGNAL MONITOR</a:t>
            </a:r>
          </a:p>
        </p:txBody>
      </p:sp>
      <p:sp>
        <p:nvSpPr>
          <p:cNvPr id="2" name="title-4">
            <a:extLst xmlns:a="http://schemas.openxmlformats.org/drawingml/2006/main">
              <a:ext uri="{FF2B5EF4-FFF2-40B4-BE49-F238E27FC236}">
                <a16:creationId xmlns:a16="http://schemas.microsoft.com/office/drawing/2014/main" id="{541392A2-36AE-47AA-9013-948D403C9FD3}"/>
              </a:ext>
            </a:extLst>
          </p:cNvPr>
          <p:cNvSpPr>
            <a:spLocks xmlns:a="http://schemas.openxmlformats.org/drawingml/2006/main" noGrp="1"/>
          </p:cNvSpPr>
          <p:nvPr/>
        </p:nvSpPr>
        <p:spPr>
          <a:xfrm xmlns:a="http://schemas.openxmlformats.org/drawingml/2006/main">
            <a:off x="609600" y="64770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Time stays in order from features to truth</a:t>
            </a:r>
          </a:p>
        </p:txBody>
      </p:sp>
      <p:cxnSp>
        <p:nvCxnSpPr>
          <p:cNvPr id="28" name="temporal-arrow-1"/>
          <p:cNvCxnSpPr/>
          <p:nvPr/>
        </p:nvCxnSpPr>
        <p:spPr>
          <a:xfrm xmlns:a="http://schemas.openxmlformats.org/drawingml/2006/main">
            <a:off x="3124200" y="2419350"/>
            <a:ext cx="781050" cy="0"/>
          </a:xfrm>
          <a:prstGeom xmlns:a="http://schemas.openxmlformats.org/drawingml/2006/main" prst="straightConnector1">
            <a:avLst/>
          </a:prstGeom>
          <a:ln xmlns:a="http://schemas.openxmlformats.org/drawingml/2006/main" w="38100">
            <a:solidFill>
              <a:srgbClr val="3D8DFF"/>
            </a:solidFill>
            <a:prstDash val="solid"/>
          </a:ln>
        </p:spPr>
      </p:cxnSp>
      <p:cxnSp>
        <p:nvCxnSpPr>
          <p:cNvPr id="29" name="temporal-arrow-2"/>
          <p:cNvCxnSpPr/>
          <p:nvPr/>
        </p:nvCxnSpPr>
        <p:spPr>
          <a:xfrm xmlns:a="http://schemas.openxmlformats.org/drawingml/2006/main">
            <a:off x="6610350" y="2419350"/>
            <a:ext cx="781050" cy="0"/>
          </a:xfrm>
          <a:prstGeom xmlns:a="http://schemas.openxmlformats.org/drawingml/2006/main" prst="straightConnector1">
            <a:avLst/>
          </a:prstGeom>
          <a:ln xmlns:a="http://schemas.openxmlformats.org/drawingml/2006/main" w="38100">
            <a:solidFill>
              <a:srgbClr val="3D8DFF"/>
            </a:solidFill>
            <a:prstDash val="solid"/>
          </a:ln>
        </p:spPr>
      </p:cxnSp>
      <p:sp>
        <p:nvSpPr>
          <p:cNvPr id="5" name="time-box-0">
            <a:extLst xmlns:a="http://schemas.openxmlformats.org/drawingml/2006/main">
              <a:ext uri="{FF2B5EF4-FFF2-40B4-BE49-F238E27FC236}">
                <a16:creationId xmlns:a16="http://schemas.microsoft.com/office/drawing/2014/main" id="{40D19A15-DB9B-4C5B-9612-57E5E32386FB}"/>
              </a:ext>
            </a:extLst>
          </p:cNvPr>
          <p:cNvSpPr>
            <a:spLocks xmlns:a="http://schemas.openxmlformats.org/drawingml/2006/main" noGrp="1"/>
          </p:cNvSpPr>
          <p:nvPr/>
        </p:nvSpPr>
        <p:spPr>
          <a:xfrm xmlns:a="http://schemas.openxmlformats.org/drawingml/2006/main">
            <a:off x="609600" y="1676400"/>
            <a:ext cx="2895600" cy="16002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time-heading-0">
            <a:extLst xmlns:a="http://schemas.openxmlformats.org/drawingml/2006/main">
              <a:ext uri="{FF2B5EF4-FFF2-40B4-BE49-F238E27FC236}">
                <a16:creationId xmlns:a16="http://schemas.microsoft.com/office/drawing/2014/main" id="{818E6B36-3EE0-4829-BA10-5C3C3EF3C6C0}"/>
              </a:ext>
            </a:extLst>
          </p:cNvPr>
          <p:cNvSpPr>
            <a:spLocks xmlns:a="http://schemas.openxmlformats.org/drawingml/2006/main" noGrp="1"/>
          </p:cNvSpPr>
          <p:nvPr/>
        </p:nvSpPr>
        <p:spPr>
          <a:xfrm xmlns:a="http://schemas.openxmlformats.org/drawingml/2006/main">
            <a:off x="838200" y="196215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Feature cohort t</a:t>
            </a:r>
          </a:p>
        </p:txBody>
      </p:sp>
      <p:sp>
        <p:nvSpPr>
          <p:cNvPr id="7" name="time-body-0">
            <a:extLst xmlns:a="http://schemas.openxmlformats.org/drawingml/2006/main">
              <a:ext uri="{FF2B5EF4-FFF2-40B4-BE49-F238E27FC236}">
                <a16:creationId xmlns:a16="http://schemas.microsoft.com/office/drawing/2014/main" id="{5ECFF4CC-71C8-4658-923E-2D15F53FC153}"/>
              </a:ext>
            </a:extLst>
          </p:cNvPr>
          <p:cNvSpPr>
            <a:spLocks xmlns:a="http://schemas.openxmlformats.org/drawingml/2006/main" noGrp="1"/>
          </p:cNvSpPr>
          <p:nvPr/>
        </p:nvSpPr>
        <p:spPr>
          <a:xfrm xmlns:a="http://schemas.openxmlformats.org/drawingml/2006/main">
            <a:off x="838200" y="2457450"/>
            <a:ext cx="243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Public annual aggregates</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available by the cutoff</a:t>
            </a:r>
          </a:p>
        </p:txBody>
      </p:sp>
      <p:sp>
        <p:nvSpPr>
          <p:cNvPr id="8" name="time-box-1">
            <a:extLst xmlns:a="http://schemas.openxmlformats.org/drawingml/2006/main">
              <a:ext uri="{FF2B5EF4-FFF2-40B4-BE49-F238E27FC236}">
                <a16:creationId xmlns:a16="http://schemas.microsoft.com/office/drawing/2014/main" id="{71B5E503-98C3-4FCC-B432-4C1C4ED72C86}"/>
              </a:ext>
            </a:extLst>
          </p:cNvPr>
          <p:cNvSpPr>
            <a:spLocks xmlns:a="http://schemas.openxmlformats.org/drawingml/2006/main" noGrp="1"/>
          </p:cNvSpPr>
          <p:nvPr/>
        </p:nvSpPr>
        <p:spPr>
          <a:xfrm xmlns:a="http://schemas.openxmlformats.org/drawingml/2006/main">
            <a:off x="4095750" y="1676400"/>
            <a:ext cx="2895600" cy="1600200"/>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9" name="time-heading-1">
            <a:extLst xmlns:a="http://schemas.openxmlformats.org/drawingml/2006/main">
              <a:ext uri="{FF2B5EF4-FFF2-40B4-BE49-F238E27FC236}">
                <a16:creationId xmlns:a16="http://schemas.microsoft.com/office/drawing/2014/main" id="{F1B5EC91-5562-44E5-A694-A02A1D033F1A}"/>
              </a:ext>
            </a:extLst>
          </p:cNvPr>
          <p:cNvSpPr>
            <a:spLocks xmlns:a="http://schemas.openxmlformats.org/drawingml/2006/main" noGrp="1"/>
          </p:cNvSpPr>
          <p:nvPr/>
        </p:nvSpPr>
        <p:spPr>
          <a:xfrm xmlns:a="http://schemas.openxmlformats.org/drawingml/2006/main">
            <a:off x="4324350" y="196215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Prediction origin</a:t>
            </a:r>
          </a:p>
        </p:txBody>
      </p:sp>
      <p:sp>
        <p:nvSpPr>
          <p:cNvPr id="10" name="time-body-1">
            <a:extLst xmlns:a="http://schemas.openxmlformats.org/drawingml/2006/main">
              <a:ext uri="{FF2B5EF4-FFF2-40B4-BE49-F238E27FC236}">
                <a16:creationId xmlns:a16="http://schemas.microsoft.com/office/drawing/2014/main" id="{2503044E-DF47-4F69-832F-FA3441DCB7C3}"/>
              </a:ext>
            </a:extLst>
          </p:cNvPr>
          <p:cNvSpPr>
            <a:spLocks xmlns:a="http://schemas.openxmlformats.org/drawingml/2006/main" noGrp="1"/>
          </p:cNvSpPr>
          <p:nvPr/>
        </p:nvSpPr>
        <p:spPr>
          <a:xfrm xmlns:a="http://schemas.openxmlformats.org/drawingml/2006/main">
            <a:off x="4324350" y="2457450"/>
            <a:ext cx="243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About 6–10 months</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into target year t+1</a:t>
            </a:r>
          </a:p>
        </p:txBody>
      </p:sp>
      <p:sp>
        <p:nvSpPr>
          <p:cNvPr id="11" name="time-box-2">
            <a:extLst xmlns:a="http://schemas.openxmlformats.org/drawingml/2006/main">
              <a:ext uri="{FF2B5EF4-FFF2-40B4-BE49-F238E27FC236}">
                <a16:creationId xmlns:a16="http://schemas.microsoft.com/office/drawing/2014/main" id="{BC2DBB73-D843-4F2D-BC15-67A8D57CBCED}"/>
              </a:ext>
            </a:extLst>
          </p:cNvPr>
          <p:cNvSpPr>
            <a:spLocks xmlns:a="http://schemas.openxmlformats.org/drawingml/2006/main" noGrp="1"/>
          </p:cNvSpPr>
          <p:nvPr/>
        </p:nvSpPr>
        <p:spPr>
          <a:xfrm xmlns:a="http://schemas.openxmlformats.org/drawingml/2006/main">
            <a:off x="7581900" y="1676400"/>
            <a:ext cx="2895600" cy="16002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12" name="time-heading-2">
            <a:extLst xmlns:a="http://schemas.openxmlformats.org/drawingml/2006/main">
              <a:ext uri="{FF2B5EF4-FFF2-40B4-BE49-F238E27FC236}">
                <a16:creationId xmlns:a16="http://schemas.microsoft.com/office/drawing/2014/main" id="{093C4FEE-0DCD-48C3-B724-ABD850B9BC48}"/>
              </a:ext>
            </a:extLst>
          </p:cNvPr>
          <p:cNvSpPr>
            <a:spLocks xmlns:a="http://schemas.openxmlformats.org/drawingml/2006/main" noGrp="1"/>
          </p:cNvSpPr>
          <p:nvPr/>
        </p:nvSpPr>
        <p:spPr>
          <a:xfrm xmlns:a="http://schemas.openxmlformats.org/drawingml/2006/main">
            <a:off x="7810500" y="196215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Target cohort t+1</a:t>
            </a:r>
          </a:p>
        </p:txBody>
      </p:sp>
      <p:sp>
        <p:nvSpPr>
          <p:cNvPr id="13" name="time-body-2">
            <a:extLst xmlns:a="http://schemas.openxmlformats.org/drawingml/2006/main">
              <a:ext uri="{FF2B5EF4-FFF2-40B4-BE49-F238E27FC236}">
                <a16:creationId xmlns:a16="http://schemas.microsoft.com/office/drawing/2014/main" id="{FB4E6A56-1B14-4415-A6B5-0F901B827D6B}"/>
              </a:ext>
            </a:extLst>
          </p:cNvPr>
          <p:cNvSpPr>
            <a:spLocks xmlns:a="http://schemas.openxmlformats.org/drawingml/2006/main" noGrp="1"/>
          </p:cNvSpPr>
          <p:nvPr/>
        </p:nvSpPr>
        <p:spPr>
          <a:xfrm xmlns:a="http://schemas.openxmlformats.org/drawingml/2006/main">
            <a:off x="7810500" y="2457450"/>
            <a:ext cx="243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One complete, non-overlapping</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calendar-year outcome</a:t>
            </a:r>
          </a:p>
        </p:txBody>
      </p:sp>
      <p:sp>
        <p:nvSpPr>
          <p:cNvPr id="14" name="arrowhead-1">
            <a:extLst xmlns:a="http://schemas.openxmlformats.org/drawingml/2006/main">
              <a:ext uri="{FF2B5EF4-FFF2-40B4-BE49-F238E27FC236}">
                <a16:creationId xmlns:a16="http://schemas.microsoft.com/office/drawing/2014/main" id="{E3343BA7-DDFC-4E1B-876C-AA77496106BF}"/>
              </a:ext>
            </a:extLst>
          </p:cNvPr>
          <p:cNvSpPr>
            <a:spLocks xmlns:a="http://schemas.openxmlformats.org/drawingml/2006/main" noGrp="1"/>
          </p:cNvSpPr>
          <p:nvPr/>
        </p:nvSpPr>
        <p:spPr>
          <a:xfrm xmlns:a="http://schemas.openxmlformats.org/drawingml/2006/main">
            <a:off x="3619500" y="2133600"/>
            <a:ext cx="361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D8DFF"/>
                </a:solidFill>
                <a:latin typeface="Arial"/>
                <a:ea typeface="Arial"/>
                <a:cs typeface="Arial"/>
              </a:defRPr>
            </a:pPr>
            <a:r>
              <a:rPr sz="3450" b="1">
                <a:solidFill>
                  <a:srgbClr val="3D8DFF"/>
                </a:solidFill>
                <a:latin typeface="Arial"/>
                <a:ea typeface="Arial"/>
                <a:cs typeface="Arial"/>
              </a:rPr>
              <a:t>›</a:t>
            </a:r>
          </a:p>
        </p:txBody>
      </p:sp>
      <p:sp>
        <p:nvSpPr>
          <p:cNvPr id="15" name="arrowhead-2">
            <a:extLst xmlns:a="http://schemas.openxmlformats.org/drawingml/2006/main">
              <a:ext uri="{FF2B5EF4-FFF2-40B4-BE49-F238E27FC236}">
                <a16:creationId xmlns:a16="http://schemas.microsoft.com/office/drawing/2014/main" id="{ECEA6902-1932-484E-A039-99F4A3A77C71}"/>
              </a:ext>
            </a:extLst>
          </p:cNvPr>
          <p:cNvSpPr>
            <a:spLocks xmlns:a="http://schemas.openxmlformats.org/drawingml/2006/main" noGrp="1"/>
          </p:cNvSpPr>
          <p:nvPr/>
        </p:nvSpPr>
        <p:spPr>
          <a:xfrm xmlns:a="http://schemas.openxmlformats.org/drawingml/2006/main">
            <a:off x="7105650" y="2133600"/>
            <a:ext cx="361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3D8DFF"/>
                </a:solidFill>
                <a:latin typeface="Arial"/>
                <a:ea typeface="Arial"/>
                <a:cs typeface="Arial"/>
              </a:defRPr>
            </a:pPr>
            <a:r>
              <a:rPr sz="3450" b="1">
                <a:solidFill>
                  <a:srgbClr val="3D8DFF"/>
                </a:solidFill>
                <a:latin typeface="Arial"/>
                <a:ea typeface="Arial"/>
                <a:cs typeface="Arial"/>
              </a:rPr>
              <a:t>›</a:t>
            </a:r>
          </a:p>
        </p:txBody>
      </p:sp>
      <p:sp>
        <p:nvSpPr>
          <p:cNvPr id="16" name="safeguard-heading-0">
            <a:extLst xmlns:a="http://schemas.openxmlformats.org/drawingml/2006/main">
              <a:ext uri="{FF2B5EF4-FFF2-40B4-BE49-F238E27FC236}">
                <a16:creationId xmlns:a16="http://schemas.microsoft.com/office/drawing/2014/main" id="{2233FFAF-6265-4A44-A976-0653A65C5024}"/>
              </a:ext>
            </a:extLst>
          </p:cNvPr>
          <p:cNvSpPr>
            <a:spLocks xmlns:a="http://schemas.openxmlformats.org/drawingml/2006/main" noGrp="1"/>
          </p:cNvSpPr>
          <p:nvPr/>
        </p:nvSpPr>
        <p:spPr>
          <a:xfrm xmlns:a="http://schemas.openxmlformats.org/drawingml/2006/main">
            <a:off x="609600" y="390525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11827"/>
                </a:solidFill>
                <a:latin typeface="Arial"/>
                <a:ea typeface="Arial"/>
                <a:cs typeface="Arial"/>
              </a:defRPr>
            </a:pPr>
            <a:r>
              <a:rPr sz="1650" b="1">
                <a:solidFill>
                  <a:srgbClr val="111827"/>
                </a:solidFill>
                <a:latin typeface="Arial"/>
                <a:ea typeface="Arial"/>
                <a:cs typeface="Arial"/>
              </a:rPr>
              <a:t>Whole-year folds</a:t>
            </a:r>
          </a:p>
        </p:txBody>
      </p:sp>
      <p:sp>
        <p:nvSpPr>
          <p:cNvPr id="17" name="safeguard-body-0">
            <a:extLst xmlns:a="http://schemas.openxmlformats.org/drawingml/2006/main">
              <a:ext uri="{FF2B5EF4-FFF2-40B4-BE49-F238E27FC236}">
                <a16:creationId xmlns:a16="http://schemas.microsoft.com/office/drawing/2014/main" id="{B2195423-1D6B-49DC-9083-B44920AE6224}"/>
              </a:ext>
            </a:extLst>
          </p:cNvPr>
          <p:cNvSpPr>
            <a:spLocks xmlns:a="http://schemas.openxmlformats.org/drawingml/2006/main" noGrp="1"/>
          </p:cNvSpPr>
          <p:nvPr/>
        </p:nvSpPr>
        <p:spPr>
          <a:xfrm xmlns:a="http://schemas.openxmlformats.org/drawingml/2006/main">
            <a:off x="609600" y="4343400"/>
            <a:ext cx="321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Every row for one target year stays together; no random row split exists.</a:t>
            </a:r>
          </a:p>
        </p:txBody>
      </p:sp>
      <p:sp>
        <p:nvSpPr>
          <p:cNvPr id="18" name="safeguard-heading-1">
            <a:extLst xmlns:a="http://schemas.openxmlformats.org/drawingml/2006/main">
              <a:ext uri="{FF2B5EF4-FFF2-40B4-BE49-F238E27FC236}">
                <a16:creationId xmlns:a16="http://schemas.microsoft.com/office/drawing/2014/main" id="{F329BDAF-E535-4960-8C41-63B13A965942}"/>
              </a:ext>
            </a:extLst>
          </p:cNvPr>
          <p:cNvSpPr>
            <a:spLocks xmlns:a="http://schemas.openxmlformats.org/drawingml/2006/main" noGrp="1"/>
          </p:cNvSpPr>
          <p:nvPr/>
        </p:nvSpPr>
        <p:spPr>
          <a:xfrm xmlns:a="http://schemas.openxmlformats.org/drawingml/2006/main">
            <a:off x="4267200" y="390525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11827"/>
                </a:solidFill>
                <a:latin typeface="Arial"/>
                <a:ea typeface="Arial"/>
                <a:cs typeface="Arial"/>
              </a:defRPr>
            </a:pPr>
            <a:r>
              <a:rPr sz="1650" b="1">
                <a:solidFill>
                  <a:srgbClr val="111827"/>
                </a:solidFill>
                <a:latin typeface="Arial"/>
                <a:ea typeface="Arial"/>
                <a:cs typeface="Arial"/>
              </a:rPr>
              <a:t>Train-only preprocessing</a:t>
            </a:r>
          </a:p>
        </p:txBody>
      </p:sp>
      <p:sp>
        <p:nvSpPr>
          <p:cNvPr id="19" name="safeguard-body-1">
            <a:extLst xmlns:a="http://schemas.openxmlformats.org/drawingml/2006/main">
              <a:ext uri="{FF2B5EF4-FFF2-40B4-BE49-F238E27FC236}">
                <a16:creationId xmlns:a16="http://schemas.microsoft.com/office/drawing/2014/main" id="{E8E7404C-C1F9-48B9-BB10-8310EAA63DDF}"/>
              </a:ext>
            </a:extLst>
          </p:cNvPr>
          <p:cNvSpPr>
            <a:spLocks xmlns:a="http://schemas.openxmlformats.org/drawingml/2006/main" noGrp="1"/>
          </p:cNvSpPr>
          <p:nvPr/>
        </p:nvSpPr>
        <p:spPr>
          <a:xfrm xmlns:a="http://schemas.openxmlformats.org/drawingml/2006/main">
            <a:off x="4267200" y="4343400"/>
            <a:ext cx="321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Median imputation, scaling, and fitting happen inside each training fold.</a:t>
            </a:r>
          </a:p>
        </p:txBody>
      </p:sp>
      <p:sp>
        <p:nvSpPr>
          <p:cNvPr id="20" name="safeguard-heading-2">
            <a:extLst xmlns:a="http://schemas.openxmlformats.org/drawingml/2006/main">
              <a:ext uri="{FF2B5EF4-FFF2-40B4-BE49-F238E27FC236}">
                <a16:creationId xmlns:a16="http://schemas.microsoft.com/office/drawing/2014/main" id="{DD12833C-CB7C-470E-AF3A-64E52DEC3EE0}"/>
              </a:ext>
            </a:extLst>
          </p:cNvPr>
          <p:cNvSpPr>
            <a:spLocks xmlns:a="http://schemas.openxmlformats.org/drawingml/2006/main" noGrp="1"/>
          </p:cNvSpPr>
          <p:nvPr/>
        </p:nvSpPr>
        <p:spPr>
          <a:xfrm xmlns:a="http://schemas.openxmlformats.org/drawingml/2006/main">
            <a:off x="7924800" y="390525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11827"/>
                </a:solidFill>
                <a:latin typeface="Arial"/>
                <a:ea typeface="Arial"/>
                <a:cs typeface="Arial"/>
              </a:defRPr>
            </a:pPr>
            <a:r>
              <a:rPr sz="1650" b="1">
                <a:solidFill>
                  <a:srgbClr val="111827"/>
                </a:solidFill>
                <a:latin typeface="Arial"/>
                <a:ea typeface="Arial"/>
                <a:cs typeface="Arial"/>
              </a:rPr>
              <a:t>Leakage is a hard error</a:t>
            </a:r>
          </a:p>
        </p:txBody>
      </p:sp>
      <p:sp>
        <p:nvSpPr>
          <p:cNvPr id="21" name="safeguard-body-2">
            <a:extLst xmlns:a="http://schemas.openxmlformats.org/drawingml/2006/main">
              <a:ext uri="{FF2B5EF4-FFF2-40B4-BE49-F238E27FC236}">
                <a16:creationId xmlns:a16="http://schemas.microsoft.com/office/drawing/2014/main" id="{4B46932A-8E2E-4018-915D-21CC90ADD900}"/>
              </a:ext>
            </a:extLst>
          </p:cNvPr>
          <p:cNvSpPr>
            <a:spLocks xmlns:a="http://schemas.openxmlformats.org/drawingml/2006/main" noGrp="1"/>
          </p:cNvSpPr>
          <p:nvPr/>
        </p:nvSpPr>
        <p:spPr>
          <a:xfrm xmlns:a="http://schemas.openxmlformats.org/drawingml/2006/main">
            <a:off x="7924800" y="4343400"/>
            <a:ext cx="321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Identity, location, future availability, and target-period fields are rejected.</a:t>
            </a:r>
          </a:p>
        </p:txBody>
      </p:sp>
      <p:sp>
        <p:nvSpPr>
          <p:cNvPr id="22" name="validity-claim">
            <a:extLst xmlns:a="http://schemas.openxmlformats.org/drawingml/2006/main">
              <a:ext uri="{FF2B5EF4-FFF2-40B4-BE49-F238E27FC236}">
                <a16:creationId xmlns:a16="http://schemas.microsoft.com/office/drawing/2014/main" id="{872C1C5E-F374-4A12-99D2-00E52D2865C0}"/>
              </a:ext>
            </a:extLst>
          </p:cNvPr>
          <p:cNvSpPr>
            <a:spLocks xmlns:a="http://schemas.openxmlformats.org/drawingml/2006/main" noGrp="1"/>
          </p:cNvSpPr>
          <p:nvPr/>
        </p:nvSpPr>
        <p:spPr>
          <a:xfrm xmlns:a="http://schemas.openxmlformats.org/drawingml/2006/main">
            <a:off x="609600" y="55626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11827"/>
                </a:solidFill>
                <a:latin typeface="Arial"/>
                <a:ea typeface="Arial"/>
                <a:cs typeface="Arial"/>
              </a:defRPr>
            </a:pPr>
            <a:r>
              <a:rPr sz="1500" b="1">
                <a:solidFill>
                  <a:srgbClr val="111827"/>
                </a:solidFill>
                <a:latin typeface="Arial"/>
                <a:ea typeface="Arial"/>
                <a:cs typeface="Arial"/>
              </a:rPr>
              <a:t>The target is next-calendar-year published log(OAR)—not a binary interval flag.</a:t>
            </a:r>
          </a:p>
        </p:txBody>
      </p:sp>
      <p:cxnSp>
        <p:nvCxnSpPr>
          <p:cNvPr id="48" name="footer-rule-4"/>
          <p:cNvCxnSpPr/>
          <p:nvPr/>
        </p:nvCxnSpPr>
        <p:spPr>
          <a:xfrm xmlns:a="http://schemas.openxmlformats.org/drawingml/2006/main">
            <a:off x="609600" y="6305550"/>
            <a:ext cx="1097280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footer-source-4">
            <a:extLst xmlns:a="http://schemas.openxmlformats.org/drawingml/2006/main">
              <a:ext uri="{FF2B5EF4-FFF2-40B4-BE49-F238E27FC236}">
                <a16:creationId xmlns:a16="http://schemas.microsoft.com/office/drawing/2014/main" id="{42410107-E461-496A-957C-F96EF03C6998}"/>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Rolling origin • target years intact • replay fit stops at target year 2023</a:t>
            </a:r>
          </a:p>
        </p:txBody>
      </p:sp>
      <p:sp>
        <p:nvSpPr>
          <p:cNvPr id="25" name="footer-number-4">
            <a:extLst xmlns:a="http://schemas.openxmlformats.org/drawingml/2006/main">
              <a:ext uri="{FF2B5EF4-FFF2-40B4-BE49-F238E27FC236}">
                <a16:creationId xmlns:a16="http://schemas.microsoft.com/office/drawing/2014/main" id="{360C6F4F-8E33-418E-A9CE-1084268692EE}"/>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4</a:t>
            </a:r>
          </a:p>
        </p:txBody>
      </p:sp>
    </p:spTree>
    <p:extLst>
      <p:ext uri="{BB962C8B-B14F-4D97-AF65-F5344CB8AC3E}">
        <p14:creationId xmlns:p14="http://schemas.microsoft.com/office/powerpoint/2010/main" val="3033804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5">
            <a:extLst xmlns:a="http://schemas.openxmlformats.org/drawingml/2006/main">
              <a:ext uri="{FF2B5EF4-FFF2-40B4-BE49-F238E27FC236}">
                <a16:creationId xmlns:a16="http://schemas.microsoft.com/office/drawing/2014/main" id="{8747AA62-3A49-4EE2-AB21-5C0DD7A1581D}"/>
              </a:ext>
            </a:extLst>
          </p:cNvPr>
          <p:cNvSpPr>
            <a:spLocks xmlns:a="http://schemas.openxmlformats.org/drawingml/2006/main" noGrp="1"/>
          </p:cNvSpPr>
          <p:nvPr/>
        </p:nvSpPr>
        <p:spPr>
          <a:xfrm xmlns:a="http://schemas.openxmlformats.org/drawingml/2006/main">
            <a:off x="609600" y="3048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67085"/>
                </a:solidFill>
                <a:latin typeface="Arial"/>
                <a:ea typeface="Arial"/>
                <a:cs typeface="Arial"/>
              </a:defRPr>
            </a:pPr>
            <a:r>
              <a:rPr sz="975" b="1">
                <a:solidFill>
                  <a:srgbClr val="667085"/>
                </a:solidFill>
                <a:latin typeface="Arial"/>
                <a:ea typeface="Arial"/>
                <a:cs typeface="Arial"/>
              </a:rPr>
              <a:t>KIDNEY ACCEPTANCE SIGNAL MONITOR</a:t>
            </a:r>
          </a:p>
        </p:txBody>
      </p:sp>
      <p:sp>
        <p:nvSpPr>
          <p:cNvPr id="2" name="title-5">
            <a:extLst xmlns:a="http://schemas.openxmlformats.org/drawingml/2006/main">
              <a:ext uri="{FF2B5EF4-FFF2-40B4-BE49-F238E27FC236}">
                <a16:creationId xmlns:a16="http://schemas.microsoft.com/office/drawing/2014/main" id="{4DE04B62-B0B9-4BCA-991B-045C6C0E5F23}"/>
              </a:ext>
            </a:extLst>
          </p:cNvPr>
          <p:cNvSpPr>
            <a:spLocks xmlns:a="http://schemas.openxmlformats.org/drawingml/2006/main" noGrp="1"/>
          </p:cNvSpPr>
          <p:nvPr/>
        </p:nvSpPr>
        <p:spPr>
          <a:xfrm xmlns:a="http://schemas.openxmlformats.org/drawingml/2006/main">
            <a:off x="609600" y="64770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The product is longitudinal context—not a leaderboard</a:t>
            </a:r>
          </a:p>
        </p:txBody>
      </p:sp>
      <p:sp>
        <p:nvSpPr>
          <p:cNvPr id="3" name="monitor-frame">
            <a:extLst xmlns:a="http://schemas.openxmlformats.org/drawingml/2006/main">
              <a:ext uri="{FF2B5EF4-FFF2-40B4-BE49-F238E27FC236}">
                <a16:creationId xmlns:a16="http://schemas.microsoft.com/office/drawing/2014/main" id="{46700F44-95EC-4536-B3DD-42C61BA445CC}"/>
              </a:ext>
            </a:extLst>
          </p:cNvPr>
          <p:cNvSpPr>
            <a:spLocks xmlns:a="http://schemas.openxmlformats.org/drawingml/2006/main" noGrp="1"/>
          </p:cNvSpPr>
          <p:nvPr/>
        </p:nvSpPr>
        <p:spPr>
          <a:xfrm xmlns:a="http://schemas.openxmlformats.org/drawingml/2006/main">
            <a:off x="609600" y="1352550"/>
            <a:ext cx="10972800" cy="432435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22cd67d08f34e1f"/>
          <a:srcRect xmlns:a="http://schemas.openxmlformats.org/drawingml/2006/main" l="0" t="19504" r="0" b="19504"/>
          <a:stretch xmlns:a="http://schemas.openxmlformats.org/drawingml/2006/main">
            <a:fillRect l="0" t="0" r="0" b="0"/>
          </a:stretch>
        </p:blipFill>
        <p:spPr>
          <a:xfrm xmlns:a="http://schemas.openxmlformats.org/drawingml/2006/main">
            <a:off x="723900" y="1466850"/>
            <a:ext cx="10744200" cy="4095750"/>
          </a:xfrm>
          <a:prstGeom xmlns:a="http://schemas.openxmlformats.org/drawingml/2006/main" prst="rect">
            <a:avLst/>
          </a:prstGeom>
        </p:spPr>
      </p:pic>
      <p:sp>
        <p:nvSpPr>
          <p:cNvPr id="5" name="monitor-caption">
            <a:extLst xmlns:a="http://schemas.openxmlformats.org/drawingml/2006/main">
              <a:ext uri="{FF2B5EF4-FFF2-40B4-BE49-F238E27FC236}">
                <a16:creationId xmlns:a16="http://schemas.microsoft.com/office/drawing/2014/main" id="{8B8D46BF-34A6-48B1-B39C-8CE23477157E}"/>
              </a:ext>
            </a:extLst>
          </p:cNvPr>
          <p:cNvSpPr>
            <a:spLocks xmlns:a="http://schemas.openxmlformats.org/drawingml/2006/main" noGrp="1"/>
          </p:cNvSpPr>
          <p:nvPr/>
        </p:nvSpPr>
        <p:spPr>
          <a:xfrm xmlns:a="http://schemas.openxmlformats.org/drawingml/2006/main">
            <a:off x="609600" y="58483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Published points and SRTR 95% credible intervals stay distinct; gaps remain “Not reported,” never zero.</a:t>
            </a:r>
          </a:p>
        </p:txBody>
      </p:sp>
      <p:cxnSp>
        <p:nvCxnSpPr>
          <p:cNvPr id="14" name="footer-rule-5"/>
          <p:cNvCxnSpPr/>
          <p:nvPr/>
        </p:nvCxnSpPr>
        <p:spPr>
          <a:xfrm xmlns:a="http://schemas.openxmlformats.org/drawingml/2006/main">
            <a:off x="609600" y="6305550"/>
            <a:ext cx="10972800" cy="0"/>
          </a:xfrm>
          <a:prstGeom xmlns:a="http://schemas.openxmlformats.org/drawingml/2006/main" prst="straightConnector1">
            <a:avLst/>
          </a:prstGeom>
          <a:ln xmlns:a="http://schemas.openxmlformats.org/drawingml/2006/main" w="9525">
            <a:solidFill>
              <a:srgbClr val="B8BCC4"/>
            </a:solidFill>
            <a:prstDash val="solid"/>
          </a:ln>
        </p:spPr>
      </p:cxnSp>
      <p:sp>
        <p:nvSpPr>
          <p:cNvPr id="7" name="footer-source-5">
            <a:extLst xmlns:a="http://schemas.openxmlformats.org/drawingml/2006/main">
              <a:ext uri="{FF2B5EF4-FFF2-40B4-BE49-F238E27FC236}">
                <a16:creationId xmlns:a16="http://schemas.microsoft.com/office/drawing/2014/main" id="{6BC299B5-E951-4707-970E-3AF58DD9E08C}"/>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Example program view from the tracked offline release bundle</a:t>
            </a:r>
          </a:p>
        </p:txBody>
      </p:sp>
      <p:sp>
        <p:nvSpPr>
          <p:cNvPr id="8" name="footer-number-5">
            <a:extLst xmlns:a="http://schemas.openxmlformats.org/drawingml/2006/main">
              <a:ext uri="{FF2B5EF4-FFF2-40B4-BE49-F238E27FC236}">
                <a16:creationId xmlns:a16="http://schemas.microsoft.com/office/drawing/2014/main" id="{18E7DD3C-B786-48DA-8468-9D1100C3F62D}"/>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5</a:t>
            </a:r>
          </a:p>
        </p:txBody>
      </p:sp>
    </p:spTree>
    <p:extLst>
      <p:ext uri="{BB962C8B-B14F-4D97-AF65-F5344CB8AC3E}">
        <p14:creationId xmlns:p14="http://schemas.microsoft.com/office/powerpoint/2010/main" val="11687781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6">
            <a:extLst xmlns:a="http://schemas.openxmlformats.org/drawingml/2006/main">
              <a:ext uri="{FF2B5EF4-FFF2-40B4-BE49-F238E27FC236}">
                <a16:creationId xmlns:a16="http://schemas.microsoft.com/office/drawing/2014/main" id="{688D66D3-9DFF-4462-B1A2-8F800E25835C}"/>
              </a:ext>
            </a:extLst>
          </p:cNvPr>
          <p:cNvSpPr>
            <a:spLocks xmlns:a="http://schemas.openxmlformats.org/drawingml/2006/main" noGrp="1"/>
          </p:cNvSpPr>
          <p:nvPr/>
        </p:nvSpPr>
        <p:spPr>
          <a:xfrm xmlns:a="http://schemas.openxmlformats.org/drawingml/2006/main">
            <a:off x="609600" y="3048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67085"/>
                </a:solidFill>
                <a:latin typeface="Arial"/>
                <a:ea typeface="Arial"/>
                <a:cs typeface="Arial"/>
              </a:defRPr>
            </a:pPr>
            <a:r>
              <a:rPr sz="975" b="1">
                <a:solidFill>
                  <a:srgbClr val="667085"/>
                </a:solidFill>
                <a:latin typeface="Arial"/>
                <a:ea typeface="Arial"/>
                <a:cs typeface="Arial"/>
              </a:rPr>
              <a:t>KIDNEY ACCEPTANCE SIGNAL MONITOR</a:t>
            </a:r>
          </a:p>
        </p:txBody>
      </p:sp>
      <p:sp>
        <p:nvSpPr>
          <p:cNvPr id="2" name="title-6">
            <a:extLst xmlns:a="http://schemas.openxmlformats.org/drawingml/2006/main">
              <a:ext uri="{FF2B5EF4-FFF2-40B4-BE49-F238E27FC236}">
                <a16:creationId xmlns:a16="http://schemas.microsoft.com/office/drawing/2014/main" id="{E57A618A-452C-47AC-99C6-7D77B060CB3D}"/>
              </a:ext>
            </a:extLst>
          </p:cNvPr>
          <p:cNvSpPr>
            <a:spLocks xmlns:a="http://schemas.openxmlformats.org/drawingml/2006/main" noGrp="1"/>
          </p:cNvSpPr>
          <p:nvPr/>
        </p:nvSpPr>
        <p:spPr>
          <a:xfrm xmlns:a="http://schemas.openxmlformats.org/drawingml/2006/main">
            <a:off x="609600" y="64770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Ridge lowered error—but still missed the gate</a:t>
            </a:r>
          </a:p>
        </p:txBody>
      </p:sp>
      <p:sp>
        <p:nvSpPr>
          <p:cNvPr id="3" name="persistence-label">
            <a:extLst xmlns:a="http://schemas.openxmlformats.org/drawingml/2006/main">
              <a:ext uri="{FF2B5EF4-FFF2-40B4-BE49-F238E27FC236}">
                <a16:creationId xmlns:a16="http://schemas.microsoft.com/office/drawing/2014/main" id="{C8298042-7C57-42C2-82B5-BC6E7BA8317F}"/>
              </a:ext>
            </a:extLst>
          </p:cNvPr>
          <p:cNvSpPr>
            <a:spLocks xmlns:a="http://schemas.openxmlformats.org/drawingml/2006/main" noGrp="1"/>
          </p:cNvSpPr>
          <p:nvPr/>
        </p:nvSpPr>
        <p:spPr>
          <a:xfrm xmlns:a="http://schemas.openxmlformats.org/drawingml/2006/main">
            <a:off x="609600" y="1714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085"/>
                </a:solidFill>
                <a:latin typeface="Arial"/>
                <a:ea typeface="Arial"/>
                <a:cs typeface="Arial"/>
              </a:defRPr>
            </a:pPr>
            <a:r>
              <a:rPr sz="1050" b="1">
                <a:solidFill>
                  <a:srgbClr val="667085"/>
                </a:solidFill>
                <a:latin typeface="Arial"/>
                <a:ea typeface="Arial"/>
                <a:cs typeface="Arial"/>
              </a:rPr>
              <a:t>PERSISTENCE</a:t>
            </a:r>
          </a:p>
        </p:txBody>
      </p:sp>
      <p:sp>
        <p:nvSpPr>
          <p:cNvPr id="4" name="persistence-mae">
            <a:extLst xmlns:a="http://schemas.openxmlformats.org/drawingml/2006/main">
              <a:ext uri="{FF2B5EF4-FFF2-40B4-BE49-F238E27FC236}">
                <a16:creationId xmlns:a16="http://schemas.microsoft.com/office/drawing/2014/main" id="{25EACF42-1ABE-43F8-93BB-3148C9935C71}"/>
              </a:ext>
            </a:extLst>
          </p:cNvPr>
          <p:cNvSpPr>
            <a:spLocks xmlns:a="http://schemas.openxmlformats.org/drawingml/2006/main" noGrp="1"/>
          </p:cNvSpPr>
          <p:nvPr/>
        </p:nvSpPr>
        <p:spPr>
          <a:xfrm xmlns:a="http://schemas.openxmlformats.org/drawingml/2006/main">
            <a:off x="609600" y="211455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11827"/>
                </a:solidFill>
                <a:latin typeface="Arial"/>
                <a:ea typeface="Arial"/>
                <a:cs typeface="Arial"/>
              </a:defRPr>
            </a:pPr>
            <a:r>
              <a:rPr sz="4350" b="1">
                <a:solidFill>
                  <a:srgbClr val="111827"/>
                </a:solidFill>
                <a:latin typeface="Arial"/>
                <a:ea typeface="Arial"/>
                <a:cs typeface="Arial"/>
              </a:rPr>
              <a:t>0.267</a:t>
            </a:r>
          </a:p>
        </p:txBody>
      </p:sp>
      <p:sp>
        <p:nvSpPr>
          <p:cNvPr id="5" name="persistence-mae-unit">
            <a:extLst xmlns:a="http://schemas.openxmlformats.org/drawingml/2006/main">
              <a:ext uri="{FF2B5EF4-FFF2-40B4-BE49-F238E27FC236}">
                <a16:creationId xmlns:a16="http://schemas.microsoft.com/office/drawing/2014/main" id="{98BF5036-BF83-4D52-AD20-2E8B88AD478C}"/>
              </a:ext>
            </a:extLst>
          </p:cNvPr>
          <p:cNvSpPr>
            <a:spLocks xmlns:a="http://schemas.openxmlformats.org/drawingml/2006/main" noGrp="1"/>
          </p:cNvSpPr>
          <p:nvPr/>
        </p:nvSpPr>
        <p:spPr>
          <a:xfrm xmlns:a="http://schemas.openxmlformats.org/drawingml/2006/main">
            <a:off x="647700" y="2952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2025 log-OAR MAE</a:t>
            </a:r>
          </a:p>
        </p:txBody>
      </p:sp>
      <p:sp>
        <p:nvSpPr>
          <p:cNvPr id="6" name="ridge-label">
            <a:extLst xmlns:a="http://schemas.openxmlformats.org/drawingml/2006/main">
              <a:ext uri="{FF2B5EF4-FFF2-40B4-BE49-F238E27FC236}">
                <a16:creationId xmlns:a16="http://schemas.microsoft.com/office/drawing/2014/main" id="{48A9DBA4-EDB1-4BAC-8F52-EE6877EFD0B4}"/>
              </a:ext>
            </a:extLst>
          </p:cNvPr>
          <p:cNvSpPr>
            <a:spLocks xmlns:a="http://schemas.openxmlformats.org/drawingml/2006/main" noGrp="1"/>
          </p:cNvSpPr>
          <p:nvPr/>
        </p:nvSpPr>
        <p:spPr>
          <a:xfrm xmlns:a="http://schemas.openxmlformats.org/drawingml/2006/main">
            <a:off x="4248150" y="1714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RIDGE</a:t>
            </a:r>
          </a:p>
        </p:txBody>
      </p:sp>
      <p:sp>
        <p:nvSpPr>
          <p:cNvPr id="7" name="ridge-mae">
            <a:extLst xmlns:a="http://schemas.openxmlformats.org/drawingml/2006/main">
              <a:ext uri="{FF2B5EF4-FFF2-40B4-BE49-F238E27FC236}">
                <a16:creationId xmlns:a16="http://schemas.microsoft.com/office/drawing/2014/main" id="{7D2475F0-17E3-4B2F-AF0A-5882235534F6}"/>
              </a:ext>
            </a:extLst>
          </p:cNvPr>
          <p:cNvSpPr>
            <a:spLocks xmlns:a="http://schemas.openxmlformats.org/drawingml/2006/main" noGrp="1"/>
          </p:cNvSpPr>
          <p:nvPr/>
        </p:nvSpPr>
        <p:spPr>
          <a:xfrm xmlns:a="http://schemas.openxmlformats.org/drawingml/2006/main">
            <a:off x="4248150" y="211455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3D8DFF"/>
                </a:solidFill>
                <a:latin typeface="Arial"/>
                <a:ea typeface="Arial"/>
                <a:cs typeface="Arial"/>
              </a:defRPr>
            </a:pPr>
            <a:r>
              <a:rPr sz="4350" b="1">
                <a:solidFill>
                  <a:srgbClr val="3D8DFF"/>
                </a:solidFill>
                <a:latin typeface="Arial"/>
                <a:ea typeface="Arial"/>
                <a:cs typeface="Arial"/>
              </a:rPr>
              <a:t>0.240</a:t>
            </a:r>
          </a:p>
        </p:txBody>
      </p:sp>
      <p:sp>
        <p:nvSpPr>
          <p:cNvPr id="8" name="ridge-mae-unit">
            <a:extLst xmlns:a="http://schemas.openxmlformats.org/drawingml/2006/main">
              <a:ext uri="{FF2B5EF4-FFF2-40B4-BE49-F238E27FC236}">
                <a16:creationId xmlns:a16="http://schemas.microsoft.com/office/drawing/2014/main" id="{EB294370-9CE4-477E-A554-F44627E0D3A5}"/>
              </a:ext>
            </a:extLst>
          </p:cNvPr>
          <p:cNvSpPr>
            <a:spLocks xmlns:a="http://schemas.openxmlformats.org/drawingml/2006/main" noGrp="1"/>
          </p:cNvSpPr>
          <p:nvPr/>
        </p:nvSpPr>
        <p:spPr>
          <a:xfrm xmlns:a="http://schemas.openxmlformats.org/drawingml/2006/main">
            <a:off x="4286250" y="2952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2025 log-OAR MAE</a:t>
            </a:r>
          </a:p>
        </p:txBody>
      </p:sp>
      <p:sp>
        <p:nvSpPr>
          <p:cNvPr id="9" name="skill-stat">
            <a:extLst xmlns:a="http://schemas.openxmlformats.org/drawingml/2006/main">
              <a:ext uri="{FF2B5EF4-FFF2-40B4-BE49-F238E27FC236}">
                <a16:creationId xmlns:a16="http://schemas.microsoft.com/office/drawing/2014/main" id="{F637D018-D535-48F0-A240-0BC7F598E210}"/>
              </a:ext>
            </a:extLst>
          </p:cNvPr>
          <p:cNvSpPr>
            <a:spLocks xmlns:a="http://schemas.openxmlformats.org/drawingml/2006/main" noGrp="1"/>
          </p:cNvSpPr>
          <p:nvPr/>
        </p:nvSpPr>
        <p:spPr>
          <a:xfrm xmlns:a="http://schemas.openxmlformats.org/drawingml/2006/main">
            <a:off x="4248150" y="34099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827"/>
                </a:solidFill>
                <a:latin typeface="Arial"/>
                <a:ea typeface="Arial"/>
                <a:cs typeface="Arial"/>
              </a:defRPr>
            </a:pPr>
            <a:r>
              <a:rPr sz="1950" b="1">
                <a:solidFill>
                  <a:srgbClr val="111827"/>
                </a:solidFill>
                <a:latin typeface="Arial"/>
                <a:ea typeface="Arial"/>
                <a:cs typeface="Arial"/>
              </a:rPr>
              <a:t>10.1% lower error</a:t>
            </a:r>
          </a:p>
        </p:txBody>
      </p:sp>
      <p:cxnSp>
        <p:nvCxnSpPr>
          <p:cNvPr id="32" name="metric-divider-1"/>
          <p:cNvCxnSpPr/>
          <p:nvPr/>
        </p:nvCxnSpPr>
        <p:spPr>
          <a:xfrm xmlns:a="http://schemas.openxmlformats.org/drawingml/2006/main">
            <a:off x="3790950" y="1676400"/>
            <a:ext cx="0" cy="2343150"/>
          </a:xfrm>
          <a:prstGeom xmlns:a="http://schemas.openxmlformats.org/drawingml/2006/main" prst="straightConnector1">
            <a:avLst/>
          </a:prstGeom>
          <a:ln xmlns:a="http://schemas.openxmlformats.org/drawingml/2006/main" w="9525">
            <a:solidFill>
              <a:srgbClr val="B8BCC4"/>
            </a:solidFill>
            <a:prstDash val="solid"/>
          </a:ln>
        </p:spPr>
      </p:cxnSp>
      <p:cxnSp>
        <p:nvCxnSpPr>
          <p:cNvPr id="33" name="metric-divider-2"/>
          <p:cNvCxnSpPr/>
          <p:nvPr/>
        </p:nvCxnSpPr>
        <p:spPr>
          <a:xfrm xmlns:a="http://schemas.openxmlformats.org/drawingml/2006/main">
            <a:off x="7429500" y="1676400"/>
            <a:ext cx="0" cy="2343150"/>
          </a:xfrm>
          <a:prstGeom xmlns:a="http://schemas.openxmlformats.org/drawingml/2006/main" prst="straightConnector1">
            <a:avLst/>
          </a:prstGeom>
          <a:ln xmlns:a="http://schemas.openxmlformats.org/drawingml/2006/main" w="9525">
            <a:solidFill>
              <a:srgbClr val="B8BCC4"/>
            </a:solidFill>
            <a:prstDash val="solid"/>
          </a:ln>
        </p:spPr>
      </p:cxnSp>
      <p:sp>
        <p:nvSpPr>
          <p:cNvPr id="12" name="failed-gate">
            <a:extLst xmlns:a="http://schemas.openxmlformats.org/drawingml/2006/main">
              <a:ext uri="{FF2B5EF4-FFF2-40B4-BE49-F238E27FC236}">
                <a16:creationId xmlns:a16="http://schemas.microsoft.com/office/drawing/2014/main" id="{2B0DD048-F6A3-450A-8982-0945BAEE2A0F}"/>
              </a:ext>
            </a:extLst>
          </p:cNvPr>
          <p:cNvSpPr>
            <a:spLocks xmlns:a="http://schemas.openxmlformats.org/drawingml/2006/main" noGrp="1"/>
          </p:cNvSpPr>
          <p:nvPr/>
        </p:nvSpPr>
        <p:spPr>
          <a:xfrm xmlns:a="http://schemas.openxmlformats.org/drawingml/2006/main">
            <a:off x="7886700" y="1714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9A6700"/>
                </a:solidFill>
                <a:latin typeface="Arial"/>
                <a:ea typeface="Arial"/>
                <a:cs typeface="Arial"/>
              </a:defRPr>
            </a:pPr>
            <a:r>
              <a:rPr sz="1050" b="1">
                <a:solidFill>
                  <a:srgbClr val="9A6700"/>
                </a:solidFill>
                <a:latin typeface="Arial"/>
                <a:ea typeface="Arial"/>
                <a:cs typeface="Arial"/>
              </a:rPr>
              <a:t>FAILED REQUIRED GATE</a:t>
            </a:r>
          </a:p>
        </p:txBody>
      </p:sp>
      <p:sp>
        <p:nvSpPr>
          <p:cNvPr id="13" name="bias-comparison">
            <a:extLst xmlns:a="http://schemas.openxmlformats.org/drawingml/2006/main">
              <a:ext uri="{FF2B5EF4-FFF2-40B4-BE49-F238E27FC236}">
                <a16:creationId xmlns:a16="http://schemas.microsoft.com/office/drawing/2014/main" id="{629B8EEE-94A7-4312-84A8-915AD561D79D}"/>
              </a:ext>
            </a:extLst>
          </p:cNvPr>
          <p:cNvSpPr>
            <a:spLocks xmlns:a="http://schemas.openxmlformats.org/drawingml/2006/main" noGrp="1"/>
          </p:cNvSpPr>
          <p:nvPr/>
        </p:nvSpPr>
        <p:spPr>
          <a:xfrm xmlns:a="http://schemas.openxmlformats.org/drawingml/2006/main">
            <a:off x="7886700" y="211455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11827"/>
                </a:solidFill>
                <a:latin typeface="Arial"/>
                <a:ea typeface="Arial"/>
                <a:cs typeface="Arial"/>
              </a:defRPr>
            </a:pPr>
            <a:r>
              <a:rPr sz="2925" b="1">
                <a:solidFill>
                  <a:srgbClr val="111827"/>
                </a:solidFill>
                <a:latin typeface="Arial"/>
                <a:ea typeface="Arial"/>
                <a:cs typeface="Arial"/>
              </a:rPr>
              <a:t>0.011 vs 0.009</a:t>
            </a:r>
          </a:p>
        </p:txBody>
      </p:sp>
      <p:sp>
        <p:nvSpPr>
          <p:cNvPr id="14" name="bias-label">
            <a:extLst xmlns:a="http://schemas.openxmlformats.org/drawingml/2006/main">
              <a:ext uri="{FF2B5EF4-FFF2-40B4-BE49-F238E27FC236}">
                <a16:creationId xmlns:a16="http://schemas.microsoft.com/office/drawing/2014/main" id="{30DDEC76-BF72-4A68-9B7F-9B2BA92D694E}"/>
              </a:ext>
            </a:extLst>
          </p:cNvPr>
          <p:cNvSpPr>
            <a:spLocks xmlns:a="http://schemas.openxmlformats.org/drawingml/2006/main" noGrp="1"/>
          </p:cNvSpPr>
          <p:nvPr/>
        </p:nvSpPr>
        <p:spPr>
          <a:xfrm xmlns:a="http://schemas.openxmlformats.org/drawingml/2006/main">
            <a:off x="7905750" y="281940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absolute mean signed log error</a:t>
            </a:r>
          </a:p>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ridge vs persistence</a:t>
            </a:r>
          </a:p>
        </p:txBody>
      </p:sp>
      <p:sp>
        <p:nvSpPr>
          <p:cNvPr id="15" name="bootstrap-strip">
            <a:extLst xmlns:a="http://schemas.openxmlformats.org/drawingml/2006/main">
              <a:ext uri="{FF2B5EF4-FFF2-40B4-BE49-F238E27FC236}">
                <a16:creationId xmlns:a16="http://schemas.microsoft.com/office/drawing/2014/main" id="{0CEE4DB3-5C3E-4B22-9D74-6A8D8603F22B}"/>
              </a:ext>
            </a:extLst>
          </p:cNvPr>
          <p:cNvSpPr>
            <a:spLocks xmlns:a="http://schemas.openxmlformats.org/drawingml/2006/main" noGrp="1"/>
          </p:cNvSpPr>
          <p:nvPr/>
        </p:nvSpPr>
        <p:spPr>
          <a:xfrm xmlns:a="http://schemas.openxmlformats.org/drawingml/2006/main">
            <a:off x="609600" y="4381500"/>
            <a:ext cx="10972800" cy="11049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16" name="bootstrap">
            <a:extLst xmlns:a="http://schemas.openxmlformats.org/drawingml/2006/main">
              <a:ext uri="{FF2B5EF4-FFF2-40B4-BE49-F238E27FC236}">
                <a16:creationId xmlns:a16="http://schemas.microsoft.com/office/drawing/2014/main" id="{F25D3598-8E67-4D26-BBBB-66249344FD27}"/>
              </a:ext>
            </a:extLst>
          </p:cNvPr>
          <p:cNvSpPr>
            <a:spLocks xmlns:a="http://schemas.openxmlformats.org/drawingml/2006/main" noGrp="1"/>
          </p:cNvSpPr>
          <p:nvPr/>
        </p:nvSpPr>
        <p:spPr>
          <a:xfrm xmlns:a="http://schemas.openxmlformats.org/drawingml/2006/main">
            <a:off x="85725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11827"/>
                </a:solidFill>
                <a:latin typeface="Arial"/>
                <a:ea typeface="Arial"/>
                <a:cs typeface="Arial"/>
              </a:defRPr>
            </a:pPr>
            <a:r>
              <a:rPr sz="1650" b="1">
                <a:solidFill>
                  <a:srgbClr val="111827"/>
                </a:solidFill>
                <a:latin typeface="Arial"/>
                <a:ea typeface="Arial"/>
                <a:cs typeface="Arial"/>
              </a:rPr>
              <a:t>Paired bootstrap</a:t>
            </a:r>
          </a:p>
        </p:txBody>
      </p:sp>
      <p:sp>
        <p:nvSpPr>
          <p:cNvPr id="17" name="bootstrap-value">
            <a:extLst xmlns:a="http://schemas.openxmlformats.org/drawingml/2006/main">
              <a:ext uri="{FF2B5EF4-FFF2-40B4-BE49-F238E27FC236}">
                <a16:creationId xmlns:a16="http://schemas.microsoft.com/office/drawing/2014/main" id="{DF162E89-DCD4-4033-8FD3-CD6F862034C9}"/>
              </a:ext>
            </a:extLst>
          </p:cNvPr>
          <p:cNvSpPr>
            <a:spLocks xmlns:a="http://schemas.openxmlformats.org/drawingml/2006/main" noGrp="1"/>
          </p:cNvSpPr>
          <p:nvPr/>
        </p:nvSpPr>
        <p:spPr>
          <a:xfrm xmlns:a="http://schemas.openxmlformats.org/drawingml/2006/main">
            <a:off x="3562350" y="4591050"/>
            <a:ext cx="3524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1827"/>
                </a:solidFill>
                <a:latin typeface="Arial"/>
                <a:ea typeface="Arial"/>
                <a:cs typeface="Arial"/>
              </a:defRPr>
            </a:pPr>
            <a:r>
              <a:rPr sz="2175" b="1">
                <a:solidFill>
                  <a:srgbClr val="111827"/>
                </a:solidFill>
                <a:latin typeface="Arial"/>
                <a:ea typeface="Arial"/>
                <a:cs typeface="Arial"/>
              </a:rPr>
              <a:t>−0.041 to −0.013</a:t>
            </a:r>
          </a:p>
        </p:txBody>
      </p:sp>
      <p:sp>
        <p:nvSpPr>
          <p:cNvPr id="18" name="bootstrap-label">
            <a:extLst xmlns:a="http://schemas.openxmlformats.org/drawingml/2006/main">
              <a:ext uri="{FF2B5EF4-FFF2-40B4-BE49-F238E27FC236}">
                <a16:creationId xmlns:a16="http://schemas.microsoft.com/office/drawing/2014/main" id="{C9D2B9E5-7436-4C9C-8D3F-5AFE64A232A4}"/>
              </a:ext>
            </a:extLst>
          </p:cNvPr>
          <p:cNvSpPr>
            <a:spLocks xmlns:a="http://schemas.openxmlformats.org/drawingml/2006/main" noGrp="1"/>
          </p:cNvSpPr>
          <p:nvPr/>
        </p:nvSpPr>
        <p:spPr>
          <a:xfrm xmlns:a="http://schemas.openxmlformats.org/drawingml/2006/main">
            <a:off x="7219950" y="4572000"/>
            <a:ext cx="3905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Ridge minus persistence absolute error;</a:t>
            </a:r>
          </a:p>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10,000 resamples by program key</a:t>
            </a:r>
          </a:p>
        </p:txBody>
      </p:sp>
      <p:sp>
        <p:nvSpPr>
          <p:cNvPr id="19" name="decision">
            <a:extLst xmlns:a="http://schemas.openxmlformats.org/drawingml/2006/main">
              <a:ext uri="{FF2B5EF4-FFF2-40B4-BE49-F238E27FC236}">
                <a16:creationId xmlns:a16="http://schemas.microsoft.com/office/drawing/2014/main" id="{06E44B9A-5646-41C2-B6DB-AF58221A9A61}"/>
              </a:ext>
            </a:extLst>
          </p:cNvPr>
          <p:cNvSpPr>
            <a:spLocks xmlns:a="http://schemas.openxmlformats.org/drawingml/2006/main" noGrp="1"/>
          </p:cNvSpPr>
          <p:nvPr/>
        </p:nvSpPr>
        <p:spPr>
          <a:xfrm xmlns:a="http://schemas.openxmlformats.org/drawingml/2006/main">
            <a:off x="609600" y="582930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Decision: retain persistence and suppress the ridge band.</a:t>
            </a:r>
          </a:p>
        </p:txBody>
      </p:sp>
      <p:cxnSp>
        <p:nvCxnSpPr>
          <p:cNvPr id="42" name="footer-rule-6"/>
          <p:cNvCxnSpPr/>
          <p:nvPr/>
        </p:nvCxnSpPr>
        <p:spPr>
          <a:xfrm xmlns:a="http://schemas.openxmlformats.org/drawingml/2006/main">
            <a:off x="609600" y="6305550"/>
            <a:ext cx="1097280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footer-source-6">
            <a:extLst xmlns:a="http://schemas.openxmlformats.org/drawingml/2006/main">
              <a:ext uri="{FF2B5EF4-FFF2-40B4-BE49-F238E27FC236}">
                <a16:creationId xmlns:a16="http://schemas.microsoft.com/office/drawing/2014/main" id="{8A721476-966C-4632-BAC1-5C55D6EB6DC1}"/>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Frozen 2025 replay • n=229 • descriptive product-selection evidence</a:t>
            </a:r>
          </a:p>
        </p:txBody>
      </p:sp>
      <p:sp>
        <p:nvSpPr>
          <p:cNvPr id="22" name="footer-number-6">
            <a:extLst xmlns:a="http://schemas.openxmlformats.org/drawingml/2006/main">
              <a:ext uri="{FF2B5EF4-FFF2-40B4-BE49-F238E27FC236}">
                <a16:creationId xmlns:a16="http://schemas.microsoft.com/office/drawing/2014/main" id="{57E9D307-97BE-41E1-B58A-3F450112A532}"/>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6</a:t>
            </a:r>
          </a:p>
        </p:txBody>
      </p:sp>
    </p:spTree>
    <p:extLst>
      <p:ext uri="{BB962C8B-B14F-4D97-AF65-F5344CB8AC3E}">
        <p14:creationId xmlns:p14="http://schemas.microsoft.com/office/powerpoint/2010/main" val="74717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7">
            <a:extLst xmlns:a="http://schemas.openxmlformats.org/drawingml/2006/main">
              <a:ext uri="{FF2B5EF4-FFF2-40B4-BE49-F238E27FC236}">
                <a16:creationId xmlns:a16="http://schemas.microsoft.com/office/drawing/2014/main" id="{1B198A5B-2B9E-4BFC-8729-B4C15CA26A39}"/>
              </a:ext>
            </a:extLst>
          </p:cNvPr>
          <p:cNvSpPr>
            <a:spLocks xmlns:a="http://schemas.openxmlformats.org/drawingml/2006/main" noGrp="1"/>
          </p:cNvSpPr>
          <p:nvPr/>
        </p:nvSpPr>
        <p:spPr>
          <a:xfrm xmlns:a="http://schemas.openxmlformats.org/drawingml/2006/main">
            <a:off x="609600" y="30480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67085"/>
                </a:solidFill>
                <a:latin typeface="Arial"/>
                <a:ea typeface="Arial"/>
                <a:cs typeface="Arial"/>
              </a:defRPr>
            </a:pPr>
            <a:r>
              <a:rPr sz="975" b="1">
                <a:solidFill>
                  <a:srgbClr val="667085"/>
                </a:solidFill>
                <a:latin typeface="Arial"/>
                <a:ea typeface="Arial"/>
                <a:cs typeface="Arial"/>
              </a:rPr>
              <a:t>KIDNEY ACCEPTANCE SIGNAL MONITOR</a:t>
            </a:r>
          </a:p>
        </p:txBody>
      </p:sp>
      <p:sp>
        <p:nvSpPr>
          <p:cNvPr id="2" name="title-7">
            <a:extLst xmlns:a="http://schemas.openxmlformats.org/drawingml/2006/main">
              <a:ext uri="{FF2B5EF4-FFF2-40B4-BE49-F238E27FC236}">
                <a16:creationId xmlns:a16="http://schemas.microsoft.com/office/drawing/2014/main" id="{DEE6C5AC-FD34-4BEB-AAF9-3B2E60C80F80}"/>
              </a:ext>
            </a:extLst>
          </p:cNvPr>
          <p:cNvSpPr>
            <a:spLocks xmlns:a="http://schemas.openxmlformats.org/drawingml/2006/main" noGrp="1"/>
          </p:cNvSpPr>
          <p:nvPr/>
        </p:nvSpPr>
        <p:spPr>
          <a:xfrm xmlns:a="http://schemas.openxmlformats.org/drawingml/2006/main">
            <a:off x="609600" y="64770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The app makes the conservative decision visible</a:t>
            </a:r>
          </a:p>
        </p:txBody>
      </p:sp>
      <p:sp>
        <p:nvSpPr>
          <p:cNvPr id="3" name="projection-frame">
            <a:extLst xmlns:a="http://schemas.openxmlformats.org/drawingml/2006/main">
              <a:ext uri="{FF2B5EF4-FFF2-40B4-BE49-F238E27FC236}">
                <a16:creationId xmlns:a16="http://schemas.microsoft.com/office/drawing/2014/main" id="{1D4D2F93-D168-4795-B3EF-014BFE7ADB27}"/>
              </a:ext>
            </a:extLst>
          </p:cNvPr>
          <p:cNvSpPr>
            <a:spLocks xmlns:a="http://schemas.openxmlformats.org/drawingml/2006/main" noGrp="1"/>
          </p:cNvSpPr>
          <p:nvPr/>
        </p:nvSpPr>
        <p:spPr>
          <a:xfrm xmlns:a="http://schemas.openxmlformats.org/drawingml/2006/main">
            <a:off x="609600" y="1409700"/>
            <a:ext cx="6762750" cy="440055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c0c877e434b42a6"/>
          <a:srcRect xmlns:a="http://schemas.openxmlformats.org/drawingml/2006/main" l="1056" t="0" r="1056" b="0"/>
          <a:stretch xmlns:a="http://schemas.openxmlformats.org/drawingml/2006/main">
            <a:fillRect l="0" t="0" r="0" b="0"/>
          </a:stretch>
        </p:blipFill>
        <p:spPr>
          <a:xfrm xmlns:a="http://schemas.openxmlformats.org/drawingml/2006/main">
            <a:off x="723900" y="1524000"/>
            <a:ext cx="6534150" cy="4171950"/>
          </a:xfrm>
          <a:prstGeom xmlns:a="http://schemas.openxmlformats.org/drawingml/2006/main" prst="rect">
            <a:avLst/>
          </a:prstGeom>
        </p:spPr>
      </p:pic>
      <p:sp>
        <p:nvSpPr>
          <p:cNvPr id="5" name="app-stat-0">
            <a:extLst xmlns:a="http://schemas.openxmlformats.org/drawingml/2006/main">
              <a:ext uri="{FF2B5EF4-FFF2-40B4-BE49-F238E27FC236}">
                <a16:creationId xmlns:a16="http://schemas.microsoft.com/office/drawing/2014/main" id="{3F2BCD0C-96EF-41D6-A709-7F8C4CFA38D7}"/>
              </a:ext>
            </a:extLst>
          </p:cNvPr>
          <p:cNvSpPr>
            <a:spLocks xmlns:a="http://schemas.openxmlformats.org/drawingml/2006/main" noGrp="1"/>
          </p:cNvSpPr>
          <p:nvPr/>
        </p:nvSpPr>
        <p:spPr>
          <a:xfrm xmlns:a="http://schemas.openxmlformats.org/drawingml/2006/main">
            <a:off x="7867650" y="15811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3D8DFF"/>
                </a:solidFill>
                <a:latin typeface="Arial"/>
                <a:ea typeface="Arial"/>
                <a:cs typeface="Arial"/>
              </a:defRPr>
            </a:pPr>
            <a:r>
              <a:rPr sz="2925" b="1">
                <a:solidFill>
                  <a:srgbClr val="3D8DFF"/>
                </a:solidFill>
                <a:latin typeface="Arial"/>
                <a:ea typeface="Arial"/>
                <a:cs typeface="Arial"/>
              </a:rPr>
              <a:t>0.56</a:t>
            </a:r>
          </a:p>
        </p:txBody>
      </p:sp>
      <p:sp>
        <p:nvSpPr>
          <p:cNvPr id="6" name="app-label-0">
            <a:extLst xmlns:a="http://schemas.openxmlformats.org/drawingml/2006/main">
              <a:ext uri="{FF2B5EF4-FFF2-40B4-BE49-F238E27FC236}">
                <a16:creationId xmlns:a16="http://schemas.microsoft.com/office/drawing/2014/main" id="{4F2B1F27-1077-4D7D-94FF-8C3493C112C0}"/>
              </a:ext>
            </a:extLst>
          </p:cNvPr>
          <p:cNvSpPr>
            <a:spLocks xmlns:a="http://schemas.openxmlformats.org/drawingml/2006/main" noGrp="1"/>
          </p:cNvSpPr>
          <p:nvPr/>
        </p:nvSpPr>
        <p:spPr>
          <a:xfrm xmlns:a="http://schemas.openxmlformats.org/drawingml/2006/main">
            <a:off x="7867650" y="21526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Persistence projection</a:t>
            </a:r>
          </a:p>
        </p:txBody>
      </p:sp>
      <p:cxnSp>
        <p:nvCxnSpPr>
          <p:cNvPr id="23" name="app-rule-0"/>
          <p:cNvCxnSpPr/>
          <p:nvPr/>
        </p:nvCxnSpPr>
        <p:spPr>
          <a:xfrm xmlns:a="http://schemas.openxmlformats.org/drawingml/2006/main">
            <a:off x="7867650" y="2571750"/>
            <a:ext cx="321945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app-stat-1">
            <a:extLst xmlns:a="http://schemas.openxmlformats.org/drawingml/2006/main">
              <a:ext uri="{FF2B5EF4-FFF2-40B4-BE49-F238E27FC236}">
                <a16:creationId xmlns:a16="http://schemas.microsoft.com/office/drawing/2014/main" id="{9EAAE08C-DC7C-4455-AA11-257B5DFAA5B2}"/>
              </a:ext>
            </a:extLst>
          </p:cNvPr>
          <p:cNvSpPr>
            <a:spLocks xmlns:a="http://schemas.openxmlformats.org/drawingml/2006/main" noGrp="1"/>
          </p:cNvSpPr>
          <p:nvPr/>
        </p:nvSpPr>
        <p:spPr>
          <a:xfrm xmlns:a="http://schemas.openxmlformats.org/drawingml/2006/main">
            <a:off x="7867650" y="278130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11827"/>
                </a:solidFill>
                <a:latin typeface="Arial"/>
                <a:ea typeface="Arial"/>
                <a:cs typeface="Arial"/>
              </a:defRPr>
            </a:pPr>
            <a:r>
              <a:rPr sz="2925" b="1">
                <a:solidFill>
                  <a:srgbClr val="111827"/>
                </a:solidFill>
                <a:latin typeface="Arial"/>
                <a:ea typeface="Arial"/>
                <a:cs typeface="Arial"/>
              </a:rPr>
              <a:t>2026</a:t>
            </a:r>
          </a:p>
        </p:txBody>
      </p:sp>
      <p:sp>
        <p:nvSpPr>
          <p:cNvPr id="9" name="app-label-1">
            <a:extLst xmlns:a="http://schemas.openxmlformats.org/drawingml/2006/main">
              <a:ext uri="{FF2B5EF4-FFF2-40B4-BE49-F238E27FC236}">
                <a16:creationId xmlns:a16="http://schemas.microsoft.com/office/drawing/2014/main" id="{F2C1A0C7-300E-4FAB-BF61-F5CD3C8E0CB2}"/>
              </a:ext>
            </a:extLst>
          </p:cNvPr>
          <p:cNvSpPr>
            <a:spLocks xmlns:a="http://schemas.openxmlformats.org/drawingml/2006/main" noGrp="1"/>
          </p:cNvSpPr>
          <p:nvPr/>
        </p:nvSpPr>
        <p:spPr>
          <a:xfrm xmlns:a="http://schemas.openxmlformats.org/drawingml/2006/main">
            <a:off x="7867650" y="33528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Target calendar-year cohort</a:t>
            </a:r>
          </a:p>
        </p:txBody>
      </p:sp>
      <p:cxnSp>
        <p:nvCxnSpPr>
          <p:cNvPr id="26" name="app-rule-1"/>
          <p:cNvCxnSpPr/>
          <p:nvPr/>
        </p:nvCxnSpPr>
        <p:spPr>
          <a:xfrm xmlns:a="http://schemas.openxmlformats.org/drawingml/2006/main">
            <a:off x="7867650" y="3771900"/>
            <a:ext cx="321945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app-stat-2">
            <a:extLst xmlns:a="http://schemas.openxmlformats.org/drawingml/2006/main">
              <a:ext uri="{FF2B5EF4-FFF2-40B4-BE49-F238E27FC236}">
                <a16:creationId xmlns:a16="http://schemas.microsoft.com/office/drawing/2014/main" id="{A8631690-BF45-40E1-8666-25922C72850E}"/>
              </a:ext>
            </a:extLst>
          </p:cNvPr>
          <p:cNvSpPr>
            <a:spLocks xmlns:a="http://schemas.openxmlformats.org/drawingml/2006/main" noGrp="1"/>
          </p:cNvSpPr>
          <p:nvPr/>
        </p:nvSpPr>
        <p:spPr>
          <a:xfrm xmlns:a="http://schemas.openxmlformats.org/drawingml/2006/main">
            <a:off x="7867650" y="39814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11827"/>
                </a:solidFill>
                <a:latin typeface="Arial"/>
                <a:ea typeface="Arial"/>
                <a:cs typeface="Arial"/>
              </a:defRPr>
            </a:pPr>
            <a:r>
              <a:rPr sz="2925" b="1">
                <a:solidFill>
                  <a:srgbClr val="111827"/>
                </a:solidFill>
                <a:latin typeface="Arial"/>
                <a:ea typeface="Arial"/>
                <a:cs typeface="Arial"/>
              </a:rPr>
              <a:t>51.5%</a:t>
            </a:r>
          </a:p>
        </p:txBody>
      </p:sp>
      <p:sp>
        <p:nvSpPr>
          <p:cNvPr id="12" name="app-label-2">
            <a:extLst xmlns:a="http://schemas.openxmlformats.org/drawingml/2006/main">
              <a:ext uri="{FF2B5EF4-FFF2-40B4-BE49-F238E27FC236}">
                <a16:creationId xmlns:a16="http://schemas.microsoft.com/office/drawing/2014/main" id="{2E4A3862-2805-4624-B4F5-2CA74726224F}"/>
              </a:ext>
            </a:extLst>
          </p:cNvPr>
          <p:cNvSpPr>
            <a:spLocks xmlns:a="http://schemas.openxmlformats.org/drawingml/2006/main" noGrp="1"/>
          </p:cNvSpPr>
          <p:nvPr/>
        </p:nvSpPr>
        <p:spPr>
          <a:xfrm xmlns:a="http://schemas.openxmlformats.org/drawingml/2006/main">
            <a:off x="7867650" y="45529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Target cohort elapsed at origin</a:t>
            </a:r>
          </a:p>
        </p:txBody>
      </p:sp>
      <p:sp>
        <p:nvSpPr>
          <p:cNvPr id="13" name="app-band-note">
            <a:extLst xmlns:a="http://schemas.openxmlformats.org/drawingml/2006/main">
              <a:ext uri="{FF2B5EF4-FFF2-40B4-BE49-F238E27FC236}">
                <a16:creationId xmlns:a16="http://schemas.microsoft.com/office/drawing/2014/main" id="{25E51204-FE61-4CAA-98B4-04CE88BB3CE3}"/>
              </a:ext>
            </a:extLst>
          </p:cNvPr>
          <p:cNvSpPr>
            <a:spLocks xmlns:a="http://schemas.openxmlformats.org/drawingml/2006/main" noGrp="1"/>
          </p:cNvSpPr>
          <p:nvPr/>
        </p:nvSpPr>
        <p:spPr>
          <a:xfrm xmlns:a="http://schemas.openxmlformats.org/drawingml/2006/main">
            <a:off x="7867650" y="52006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11827"/>
                </a:solidFill>
                <a:latin typeface="Arial"/>
                <a:ea typeface="Arial"/>
                <a:cs typeface="Arial"/>
              </a:defRPr>
            </a:pPr>
            <a:r>
              <a:rPr sz="1275" b="1">
                <a:solidFill>
                  <a:srgbClr val="111827"/>
                </a:solidFill>
                <a:latin typeface="Arial"/>
                <a:ea typeface="Arial"/>
                <a:cs typeface="Arial"/>
              </a:rPr>
              <a:t>No nominal 80% ridge band is shown: the point model was not promoted, even though the separate band gate passed.</a:t>
            </a:r>
          </a:p>
        </p:txBody>
      </p:sp>
      <p:cxnSp>
        <p:nvCxnSpPr>
          <p:cNvPr id="30" name="footer-rule-7"/>
          <p:cNvCxnSpPr/>
          <p:nvPr/>
        </p:nvCxnSpPr>
        <p:spPr>
          <a:xfrm xmlns:a="http://schemas.openxmlformats.org/drawingml/2006/main">
            <a:off x="609600" y="6305550"/>
            <a:ext cx="1097280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footer-source-7">
            <a:extLst xmlns:a="http://schemas.openxmlformats.org/drawingml/2006/main">
              <a:ext uri="{FF2B5EF4-FFF2-40B4-BE49-F238E27FC236}">
                <a16:creationId xmlns:a16="http://schemas.microsoft.com/office/drawing/2014/main" id="{94F35D76-A41A-42D9-85A0-759E79851FE1}"/>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Delayed-report nowcast • publication and cohort timing shown in-product</a:t>
            </a:r>
          </a:p>
        </p:txBody>
      </p:sp>
      <p:sp>
        <p:nvSpPr>
          <p:cNvPr id="16" name="footer-number-7">
            <a:extLst xmlns:a="http://schemas.openxmlformats.org/drawingml/2006/main">
              <a:ext uri="{FF2B5EF4-FFF2-40B4-BE49-F238E27FC236}">
                <a16:creationId xmlns:a16="http://schemas.microsoft.com/office/drawing/2014/main" id="{C7ABEB73-213A-4BF9-BB70-992A5381039D}"/>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7</a:t>
            </a:r>
          </a:p>
        </p:txBody>
      </p:sp>
    </p:spTree>
    <p:extLst>
      <p:ext uri="{BB962C8B-B14F-4D97-AF65-F5344CB8AC3E}">
        <p14:creationId xmlns:p14="http://schemas.microsoft.com/office/powerpoint/2010/main" val="10859123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lose-eyebrow">
            <a:extLst xmlns:a="http://schemas.openxmlformats.org/drawingml/2006/main">
              <a:ext uri="{FF2B5EF4-FFF2-40B4-BE49-F238E27FC236}">
                <a16:creationId xmlns:a16="http://schemas.microsoft.com/office/drawing/2014/main" id="{D55E7082-96F1-466D-BEF3-672A11300D25}"/>
              </a:ext>
            </a:extLst>
          </p:cNvPr>
          <p:cNvSpPr>
            <a:spLocks xmlns:a="http://schemas.openxmlformats.org/drawingml/2006/main" noGrp="1"/>
          </p:cNvSpPr>
          <p:nvPr/>
        </p:nvSpPr>
        <p:spPr>
          <a:xfrm xmlns:a="http://schemas.openxmlformats.org/drawingml/2006/main">
            <a:off x="609600" y="4381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WHAT THIS PROJECT DEMONSTRATES</a:t>
            </a:r>
          </a:p>
        </p:txBody>
      </p:sp>
      <p:sp>
        <p:nvSpPr>
          <p:cNvPr id="2" name="close-title">
            <a:extLst xmlns:a="http://schemas.openxmlformats.org/drawingml/2006/main">
              <a:ext uri="{FF2B5EF4-FFF2-40B4-BE49-F238E27FC236}">
                <a16:creationId xmlns:a16="http://schemas.microsoft.com/office/drawing/2014/main" id="{653012DD-3866-44F2-A0B2-2C31D5B0A9C8}"/>
              </a:ext>
            </a:extLst>
          </p:cNvPr>
          <p:cNvSpPr>
            <a:spLocks xmlns:a="http://schemas.openxmlformats.org/drawingml/2006/main" noGrp="1"/>
          </p:cNvSpPr>
          <p:nvPr/>
        </p:nvSpPr>
        <p:spPr>
          <a:xfrm xmlns:a="http://schemas.openxmlformats.org/drawingml/2006/main">
            <a:off x="609600" y="857250"/>
            <a:ext cx="10572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827"/>
                </a:solidFill>
                <a:latin typeface="Arial"/>
                <a:ea typeface="Arial"/>
                <a:cs typeface="Arial"/>
              </a:defRPr>
            </a:pPr>
            <a:r>
              <a:rPr sz="3600" b="1">
                <a:solidFill>
                  <a:srgbClr val="111827"/>
                </a:solidFill>
                <a:latin typeface="Arial"/>
                <a:ea typeface="Arial"/>
                <a:cs typeface="Arial"/>
              </a:rPr>
              <a:t>The strongest product decision was refusing complexity that missed its gate</a:t>
            </a:r>
          </a:p>
        </p:txBody>
      </p:sp>
      <p:sp>
        <p:nvSpPr>
          <p:cNvPr id="3" name="close-heading-0">
            <a:extLst xmlns:a="http://schemas.openxmlformats.org/drawingml/2006/main">
              <a:ext uri="{FF2B5EF4-FFF2-40B4-BE49-F238E27FC236}">
                <a16:creationId xmlns:a16="http://schemas.microsoft.com/office/drawing/2014/main" id="{83625B71-1932-4B5E-9B20-339C3C4E1811}"/>
              </a:ext>
            </a:extLst>
          </p:cNvPr>
          <p:cNvSpPr>
            <a:spLocks xmlns:a="http://schemas.openxmlformats.org/drawingml/2006/main" noGrp="1"/>
          </p:cNvSpPr>
          <p:nvPr/>
        </p:nvSpPr>
        <p:spPr>
          <a:xfrm xmlns:a="http://schemas.openxmlformats.org/drawingml/2006/main">
            <a:off x="609600" y="23431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Science</a:t>
            </a:r>
          </a:p>
        </p:txBody>
      </p:sp>
      <p:sp>
        <p:nvSpPr>
          <p:cNvPr id="4" name="close-body-0">
            <a:extLst xmlns:a="http://schemas.openxmlformats.org/drawingml/2006/main">
              <a:ext uri="{FF2B5EF4-FFF2-40B4-BE49-F238E27FC236}">
                <a16:creationId xmlns:a16="http://schemas.microsoft.com/office/drawing/2014/main" id="{1E574485-1476-4417-88DE-0DD22BADE3F1}"/>
              </a:ext>
            </a:extLst>
          </p:cNvPr>
          <p:cNvSpPr>
            <a:spLocks xmlns:a="http://schemas.openxmlformats.org/drawingml/2006/main" noGrp="1"/>
          </p:cNvSpPr>
          <p:nvPr/>
        </p:nvSpPr>
        <p:spPr>
          <a:xfrm xmlns:a="http://schemas.openxmlformats.org/drawingml/2006/main">
            <a:off x="609600" y="2895600"/>
            <a:ext cx="3048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Annual non-overlap</a:t>
            </a:r>
          </a:p>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Leakage hard failures</a:t>
            </a:r>
          </a:p>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Program-level resampling</a:t>
            </a:r>
          </a:p>
        </p:txBody>
      </p:sp>
      <p:cxnSp>
        <p:nvCxnSpPr>
          <p:cNvPr id="21" name="close-vertical-1"/>
          <p:cNvCxnSpPr/>
          <p:nvPr/>
        </p:nvCxnSpPr>
        <p:spPr>
          <a:xfrm xmlns:a="http://schemas.openxmlformats.org/drawingml/2006/main">
            <a:off x="3981450" y="2400300"/>
            <a:ext cx="0" cy="2038350"/>
          </a:xfrm>
          <a:prstGeom xmlns:a="http://schemas.openxmlformats.org/drawingml/2006/main" prst="straightConnector1">
            <a:avLst/>
          </a:prstGeom>
          <a:ln xmlns:a="http://schemas.openxmlformats.org/drawingml/2006/main" w="9525">
            <a:solidFill>
              <a:srgbClr val="B8BCC4"/>
            </a:solidFill>
            <a:prstDash val="solid"/>
          </a:ln>
        </p:spPr>
      </p:cxnSp>
      <p:sp>
        <p:nvSpPr>
          <p:cNvPr id="6" name="close-heading-1">
            <a:extLst xmlns:a="http://schemas.openxmlformats.org/drawingml/2006/main">
              <a:ext uri="{FF2B5EF4-FFF2-40B4-BE49-F238E27FC236}">
                <a16:creationId xmlns:a16="http://schemas.microsoft.com/office/drawing/2014/main" id="{8D19FCAE-FAA0-4ABD-81C6-DF543137BD09}"/>
              </a:ext>
            </a:extLst>
          </p:cNvPr>
          <p:cNvSpPr>
            <a:spLocks xmlns:a="http://schemas.openxmlformats.org/drawingml/2006/main" noGrp="1"/>
          </p:cNvSpPr>
          <p:nvPr/>
        </p:nvSpPr>
        <p:spPr>
          <a:xfrm xmlns:a="http://schemas.openxmlformats.org/drawingml/2006/main">
            <a:off x="4267200" y="23431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Engineering</a:t>
            </a:r>
          </a:p>
        </p:txBody>
      </p:sp>
      <p:sp>
        <p:nvSpPr>
          <p:cNvPr id="7" name="close-body-1">
            <a:extLst xmlns:a="http://schemas.openxmlformats.org/drawingml/2006/main">
              <a:ext uri="{FF2B5EF4-FFF2-40B4-BE49-F238E27FC236}">
                <a16:creationId xmlns:a16="http://schemas.microsoft.com/office/drawing/2014/main" id="{3206882A-E035-49C6-9C69-9D0E200B50A9}"/>
              </a:ext>
            </a:extLst>
          </p:cNvPr>
          <p:cNvSpPr>
            <a:spLocks xmlns:a="http://schemas.openxmlformats.org/drawingml/2006/main" noGrp="1"/>
          </p:cNvSpPr>
          <p:nvPr/>
        </p:nvSpPr>
        <p:spPr>
          <a:xfrm xmlns:a="http://schemas.openxmlformats.org/drawingml/2006/main">
            <a:off x="4267200" y="2895600"/>
            <a:ext cx="3048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Immutable verified inputs</a:t>
            </a:r>
          </a:p>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Write-once replay</a:t>
            </a:r>
          </a:p>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Offline, non-root delivery</a:t>
            </a:r>
          </a:p>
        </p:txBody>
      </p:sp>
      <p:cxnSp>
        <p:nvCxnSpPr>
          <p:cNvPr id="24" name="close-vertical-2"/>
          <p:cNvCxnSpPr/>
          <p:nvPr/>
        </p:nvCxnSpPr>
        <p:spPr>
          <a:xfrm xmlns:a="http://schemas.openxmlformats.org/drawingml/2006/main">
            <a:off x="7639050" y="2400300"/>
            <a:ext cx="0" cy="2038350"/>
          </a:xfrm>
          <a:prstGeom xmlns:a="http://schemas.openxmlformats.org/drawingml/2006/main" prst="straightConnector1">
            <a:avLst/>
          </a:prstGeom>
          <a:ln xmlns:a="http://schemas.openxmlformats.org/drawingml/2006/main" w="9525">
            <a:solidFill>
              <a:srgbClr val="B8BCC4"/>
            </a:solidFill>
            <a:prstDash val="solid"/>
          </a:ln>
        </p:spPr>
      </p:cxnSp>
      <p:sp>
        <p:nvSpPr>
          <p:cNvPr id="9" name="close-heading-2">
            <a:extLst xmlns:a="http://schemas.openxmlformats.org/drawingml/2006/main">
              <a:ext uri="{FF2B5EF4-FFF2-40B4-BE49-F238E27FC236}">
                <a16:creationId xmlns:a16="http://schemas.microsoft.com/office/drawing/2014/main" id="{DF75031F-1E6F-4CBE-AF38-8A0C537AE54B}"/>
              </a:ext>
            </a:extLst>
          </p:cNvPr>
          <p:cNvSpPr>
            <a:spLocks xmlns:a="http://schemas.openxmlformats.org/drawingml/2006/main" noGrp="1"/>
          </p:cNvSpPr>
          <p:nvPr/>
        </p:nvSpPr>
        <p:spPr>
          <a:xfrm xmlns:a="http://schemas.openxmlformats.org/drawingml/2006/main">
            <a:off x="7924800" y="23431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Judgment</a:t>
            </a:r>
          </a:p>
        </p:txBody>
      </p:sp>
      <p:sp>
        <p:nvSpPr>
          <p:cNvPr id="10" name="close-body-2">
            <a:extLst xmlns:a="http://schemas.openxmlformats.org/drawingml/2006/main">
              <a:ext uri="{FF2B5EF4-FFF2-40B4-BE49-F238E27FC236}">
                <a16:creationId xmlns:a16="http://schemas.microsoft.com/office/drawing/2014/main" id="{7B7E5351-E6FE-432A-BA81-CA18121AF59B}"/>
              </a:ext>
            </a:extLst>
          </p:cNvPr>
          <p:cNvSpPr>
            <a:spLocks xmlns:a="http://schemas.openxmlformats.org/drawingml/2006/main" noGrp="1"/>
          </p:cNvSpPr>
          <p:nvPr/>
        </p:nvSpPr>
        <p:spPr>
          <a:xfrm xmlns:a="http://schemas.openxmlformats.org/drawingml/2006/main">
            <a:off x="7924800" y="2895600"/>
            <a:ext cx="3048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Baselines before challenger</a:t>
            </a:r>
          </a:p>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Point and band gates separated</a:t>
            </a:r>
          </a:p>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Negative result shipped plainly</a:t>
            </a:r>
          </a:p>
        </p:txBody>
      </p:sp>
      <p:sp>
        <p:nvSpPr>
          <p:cNvPr id="11" name="limitations-strip">
            <a:extLst xmlns:a="http://schemas.openxmlformats.org/drawingml/2006/main">
              <a:ext uri="{FF2B5EF4-FFF2-40B4-BE49-F238E27FC236}">
                <a16:creationId xmlns:a16="http://schemas.microsoft.com/office/drawing/2014/main" id="{C1F887D5-91DD-4AA4-A883-45D3D502D08E}"/>
              </a:ext>
            </a:extLst>
          </p:cNvPr>
          <p:cNvSpPr>
            <a:spLocks xmlns:a="http://schemas.openxmlformats.org/drawingml/2006/main" noGrp="1"/>
          </p:cNvSpPr>
          <p:nvPr/>
        </p:nvSpPr>
        <p:spPr>
          <a:xfrm xmlns:a="http://schemas.openxmlformats.org/drawingml/2006/main">
            <a:off x="609600" y="4762500"/>
            <a:ext cx="10972800" cy="11049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12" name="limitations-title">
            <a:extLst xmlns:a="http://schemas.openxmlformats.org/drawingml/2006/main">
              <a:ext uri="{FF2B5EF4-FFF2-40B4-BE49-F238E27FC236}">
                <a16:creationId xmlns:a16="http://schemas.microsoft.com/office/drawing/2014/main" id="{76123580-89D2-4B41-BDDE-66413EFF0CAC}"/>
              </a:ext>
            </a:extLst>
          </p:cNvPr>
          <p:cNvSpPr>
            <a:spLocks xmlns:a="http://schemas.openxmlformats.org/drawingml/2006/main" noGrp="1"/>
          </p:cNvSpPr>
          <p:nvPr/>
        </p:nvSpPr>
        <p:spPr>
          <a:xfrm xmlns:a="http://schemas.openxmlformats.org/drawingml/2006/main">
            <a:off x="838200" y="50101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11827"/>
                </a:solidFill>
                <a:latin typeface="Arial"/>
                <a:ea typeface="Arial"/>
                <a:cs typeface="Arial"/>
              </a:defRPr>
            </a:pPr>
            <a:r>
              <a:rPr sz="1500" b="1">
                <a:solidFill>
                  <a:srgbClr val="111827"/>
                </a:solidFill>
                <a:latin typeface="Arial"/>
                <a:ea typeface="Arial"/>
                <a:cs typeface="Arial"/>
              </a:rPr>
              <a:t>Limits stay attached to the claim</a:t>
            </a:r>
          </a:p>
        </p:txBody>
      </p:sp>
      <p:sp>
        <p:nvSpPr>
          <p:cNvPr id="13" name="limitations-body">
            <a:extLst xmlns:a="http://schemas.openxmlformats.org/drawingml/2006/main">
              <a:ext uri="{FF2B5EF4-FFF2-40B4-BE49-F238E27FC236}">
                <a16:creationId xmlns:a16="http://schemas.microsoft.com/office/drawing/2014/main" id="{45053C4E-26B1-4A23-B7FD-13B1A9E31680}"/>
              </a:ext>
            </a:extLst>
          </p:cNvPr>
          <p:cNvSpPr>
            <a:spLocks xmlns:a="http://schemas.openxmlformats.org/drawingml/2006/main" noGrp="1"/>
          </p:cNvSpPr>
          <p:nvPr/>
        </p:nvSpPr>
        <p:spPr>
          <a:xfrm xmlns:a="http://schemas.openxmlformats.org/drawingml/2006/main">
            <a:off x="4095750" y="4972050"/>
            <a:ext cx="708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One retrospective replay • delayed public aggregate • marginal band coverage • no patient-level, causal, clinical, or regulatory claim • prospective evidence waits for the later 2026 PSR signal</a:t>
            </a:r>
          </a:p>
        </p:txBody>
      </p:sp>
      <p:cxnSp>
        <p:nvCxnSpPr>
          <p:cNvPr id="30" name="footer-rule-8"/>
          <p:cNvCxnSpPr/>
          <p:nvPr/>
        </p:nvCxnSpPr>
        <p:spPr>
          <a:xfrm xmlns:a="http://schemas.openxmlformats.org/drawingml/2006/main">
            <a:off x="609600" y="6305550"/>
            <a:ext cx="1097280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footer-source-8">
            <a:extLst xmlns:a="http://schemas.openxmlformats.org/drawingml/2006/main">
              <a:ext uri="{FF2B5EF4-FFF2-40B4-BE49-F238E27FC236}">
                <a16:creationId xmlns:a16="http://schemas.microsoft.com/office/drawing/2014/main" id="{CAEF8014-5C5C-4542-9901-7E6D8ABF9ED8}"/>
              </a:ext>
            </a:extLst>
          </p:cNvPr>
          <p:cNvSpPr>
            <a:spLocks xmlns:a="http://schemas.openxmlformats.org/drawingml/2006/main" noGrp="1"/>
          </p:cNvSpPr>
          <p:nvPr/>
        </p:nvSpPr>
        <p:spPr>
          <a:xfrm xmlns:a="http://schemas.openxmlformats.org/drawingml/2006/main">
            <a:off x="609600" y="642937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Reproducible case study • evidence, engineering, and product restraint</a:t>
            </a:r>
          </a:p>
        </p:txBody>
      </p:sp>
      <p:sp>
        <p:nvSpPr>
          <p:cNvPr id="16" name="footer-number-8">
            <a:extLst xmlns:a="http://schemas.openxmlformats.org/drawingml/2006/main">
              <a:ext uri="{FF2B5EF4-FFF2-40B4-BE49-F238E27FC236}">
                <a16:creationId xmlns:a16="http://schemas.microsoft.com/office/drawing/2014/main" id="{CC4D67E9-8619-44EB-9399-E925BBEC669E}"/>
              </a:ext>
            </a:extLst>
          </p:cNvPr>
          <p:cNvSpPr>
            <a:spLocks xmlns:a="http://schemas.openxmlformats.org/drawingml/2006/main" noGrp="1"/>
          </p:cNvSpPr>
          <p:nvPr/>
        </p:nvSpPr>
        <p:spPr>
          <a:xfrm xmlns:a="http://schemas.openxmlformats.org/drawingml/2006/main">
            <a:off x="11049000" y="6429375"/>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8</a:t>
            </a:r>
          </a:p>
        </p:txBody>
      </p:sp>
    </p:spTree>
    <p:extLst>
      <p:ext uri="{BB962C8B-B14F-4D97-AF65-F5344CB8AC3E}">
        <p14:creationId xmlns:p14="http://schemas.microsoft.com/office/powerpoint/2010/main" val="3549426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2026-09-03T23:13:51.6120000Z</dcterms:created>
  <dcterms:modified xsi:type="dcterms:W3CDTF">2026-09-03T23:13:51.6120000Z</dcterms:modified>
</coreProperties>
</file>