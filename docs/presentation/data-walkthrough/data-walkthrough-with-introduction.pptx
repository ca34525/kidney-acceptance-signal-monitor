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dc3741acd744e47" /><Relationship Type="http://schemas.openxmlformats.org/officeDocument/2006/relationships/extended-properties" Target="/docProps/app.xml" Id="R6e4fabfb18534a88" /><Relationship Type="http://schemas.openxmlformats.org/officeDocument/2006/relationships/officeDocument" Target="/ppt/presentation.xml" Id="R03efac8f7e8940a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d89db0b746c4413"/>
  </p:sldMasterIdLst>
  <p:notesMasterIdLst>
    <p:notesMasterId xmlns:r="http://schemas.openxmlformats.org/officeDocument/2006/relationships" r:id="R3d2d1d631a7840cb"/>
  </p:notesMasterIdLst>
  <p:sldIdLst>
    <p:sldId xmlns:r="http://schemas.openxmlformats.org/officeDocument/2006/relationships" id="256" r:id="R5a4d42df2d704e34"/>
    <p:sldId xmlns:r="http://schemas.openxmlformats.org/officeDocument/2006/relationships" id="257" r:id="Rb46a24dc0f9f4081"/>
    <p:sldId xmlns:r="http://schemas.openxmlformats.org/officeDocument/2006/relationships" id="258" r:id="R2652d89b04b84d7e"/>
    <p:sldId xmlns:r="http://schemas.openxmlformats.org/officeDocument/2006/relationships" id="259" r:id="R0cc7477216574501"/>
    <p:sldId xmlns:r="http://schemas.openxmlformats.org/officeDocument/2006/relationships" id="260" r:id="Rb1f13ff3b51941e7"/>
    <p:sldId xmlns:r="http://schemas.openxmlformats.org/officeDocument/2006/relationships" id="261" r:id="R088a170417b24082"/>
    <p:sldId xmlns:r="http://schemas.openxmlformats.org/officeDocument/2006/relationships" id="262" r:id="R095ce74b5177457b"/>
    <p:sldId xmlns:r="http://schemas.openxmlformats.org/officeDocument/2006/relationships" id="263" r:id="R429dd4d15c404b03"/>
    <p:sldId xmlns:r="http://schemas.openxmlformats.org/officeDocument/2006/relationships" id="264" r:id="Rfb30447280ac4e39"/>
    <p:sldId xmlns:r="http://schemas.openxmlformats.org/officeDocument/2006/relationships" id="265" r:id="R6a823915f1234fdb"/>
    <p:sldId xmlns:r="http://schemas.openxmlformats.org/officeDocument/2006/relationships" id="266" r:id="R9da2be0af2bc40fa"/>
    <p:sldId xmlns:r="http://schemas.openxmlformats.org/officeDocument/2006/relationships" id="267" r:id="Rd97d7728d11c4509"/>
    <p:sldId xmlns:r="http://schemas.openxmlformats.org/officeDocument/2006/relationships" id="268" r:id="R0f52572607ee447c"/>
    <p:sldId xmlns:r="http://schemas.openxmlformats.org/officeDocument/2006/relationships" id="269" r:id="Rbfe5407aad354f95"/>
    <p:sldId xmlns:r="http://schemas.openxmlformats.org/officeDocument/2006/relationships" id="270" r:id="Rf1f1ade14c51440a"/>
    <p:sldId xmlns:r="http://schemas.openxmlformats.org/officeDocument/2006/relationships" id="271" r:id="R72a0c0ffad4b4583"/>
    <p:sldId xmlns:r="http://schemas.openxmlformats.org/officeDocument/2006/relationships" id="272" r:id="R072f586561124cf7"/>
    <p:sldId xmlns:r="http://schemas.openxmlformats.org/officeDocument/2006/relationships" id="273" r:id="Ref3adf5717b5494d"/>
    <p:sldId xmlns:r="http://schemas.openxmlformats.org/officeDocument/2006/relationships" id="274" r:id="Rd8a08555dddf43b5"/>
    <p:sldId xmlns:r="http://schemas.openxmlformats.org/officeDocument/2006/relationships" id="275" r:id="Rf01aec1d3d674620"/>
    <p:sldId xmlns:r="http://schemas.openxmlformats.org/officeDocument/2006/relationships" id="276" r:id="Rb71d4ce5c40047c4"/>
    <p:sldId xmlns:r="http://schemas.openxmlformats.org/officeDocument/2006/relationships" id="277" r:id="R7111108fdb8d417b"/>
    <p:sldId xmlns:r="http://schemas.openxmlformats.org/officeDocument/2006/relationships" id="278" r:id="R2ac3349bcb184f4a"/>
    <p:sldId xmlns:r="http://schemas.openxmlformats.org/officeDocument/2006/relationships" id="279" r:id="Rd08554a7a2ef40f6"/>
    <p:sldId xmlns:r="http://schemas.openxmlformats.org/officeDocument/2006/relationships" id="280" r:id="Rdef302de9e594b3d"/>
  </p:sldIdLst>
  <p:sldSz cx="12192000" cy="6858000"/>
  <p:notesSz cx="6858000" cy="9144000"/>
  <p:embeddedFontLst>
    <p:embeddedFont>
      <p:font typeface="OpenAI Sans"/>
      <p:regular xmlns:r="http://schemas.openxmlformats.org/officeDocument/2006/relationships" r:id="Re111ae4290b04229"/>
      <p:bold xmlns:r="http://schemas.openxmlformats.org/officeDocument/2006/relationships" r:id="R598a7ed62a5b483b"/>
      <p:italic xmlns:r="http://schemas.openxmlformats.org/officeDocument/2006/relationships" r:id="R9c8c81d263284e79"/>
      <p:boldItalic xmlns:r="http://schemas.openxmlformats.org/officeDocument/2006/relationships" r:id="R38cc2e2585d44e7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09b9e287dcf438c" /><Relationship Type="http://schemas.openxmlformats.org/officeDocument/2006/relationships/slideMaster" Target="/ppt/slideMasters/slideMaster1.xml" Id="Rbd89db0b746c4413" /><Relationship Type="http://schemas.openxmlformats.org/officeDocument/2006/relationships/notesMaster" Target="/ppt/notesMasters/notesMaster1.xml" Id="R3d2d1d631a7840cb" /><Relationship Type="http://schemas.openxmlformats.org/officeDocument/2006/relationships/presProps" Target="/ppt/presProps.xml" Id="R425710bec9b546c7" /><Relationship Type="http://schemas.openxmlformats.org/officeDocument/2006/relationships/viewProps" Target="/ppt/viewProps.xml" Id="R22e478d606544f01" /><Relationship Type="http://schemas.openxmlformats.org/officeDocument/2006/relationships/tableStyles" Target="/ppt/tableStyles.xml" Id="Ra0cc6741e5ef43b6" /><Relationship Type="http://schemas.openxmlformats.org/officeDocument/2006/relationships/font" Target="/ppt/fonts/font.dat" Id="Re111ae4290b04229" /><Relationship Type="http://schemas.openxmlformats.org/officeDocument/2006/relationships/font" Target="/ppt/fonts/font2.dat" Id="R598a7ed62a5b483b" /><Relationship Type="http://schemas.openxmlformats.org/officeDocument/2006/relationships/font" Target="/ppt/fonts/font3.dat" Id="R9c8c81d263284e79" /><Relationship Type="http://schemas.openxmlformats.org/officeDocument/2006/relationships/font" Target="/ppt/fonts/font4.dat" Id="R38cc2e2585d44e7b" /><Relationship Type="http://schemas.openxmlformats.org/officeDocument/2006/relationships/slide" Target="/ppt/slides/slide1.xml" Id="R5a4d42df2d704e34" /><Relationship Type="http://schemas.openxmlformats.org/officeDocument/2006/relationships/slide" Target="/ppt/slides/slide2.xml" Id="Rb46a24dc0f9f4081" /><Relationship Type="http://schemas.openxmlformats.org/officeDocument/2006/relationships/slide" Target="/ppt/slides/slide3.xml" Id="R2652d89b04b84d7e" /><Relationship Type="http://schemas.openxmlformats.org/officeDocument/2006/relationships/slide" Target="/ppt/slides/slide4.xml" Id="R0cc7477216574501" /><Relationship Type="http://schemas.openxmlformats.org/officeDocument/2006/relationships/slide" Target="/ppt/slides/slide5.xml" Id="Rb1f13ff3b51941e7" /><Relationship Type="http://schemas.openxmlformats.org/officeDocument/2006/relationships/slide" Target="/ppt/slides/slide6.xml" Id="R088a170417b24082" /><Relationship Type="http://schemas.openxmlformats.org/officeDocument/2006/relationships/slide" Target="/ppt/slides/slide7.xml" Id="R095ce74b5177457b" /><Relationship Type="http://schemas.openxmlformats.org/officeDocument/2006/relationships/slide" Target="/ppt/slides/slide8.xml" Id="R429dd4d15c404b03" /><Relationship Type="http://schemas.openxmlformats.org/officeDocument/2006/relationships/slide" Target="/ppt/slides/slide9.xml" Id="Rfb30447280ac4e39" /><Relationship Type="http://schemas.openxmlformats.org/officeDocument/2006/relationships/slide" Target="/ppt/slides/slide10.xml" Id="R6a823915f1234fdb" /><Relationship Type="http://schemas.openxmlformats.org/officeDocument/2006/relationships/slide" Target="/ppt/slides/slide11.xml" Id="R9da2be0af2bc40fa" /><Relationship Type="http://schemas.openxmlformats.org/officeDocument/2006/relationships/slide" Target="/ppt/slides/slide12.xml" Id="Rd97d7728d11c4509" /><Relationship Type="http://schemas.openxmlformats.org/officeDocument/2006/relationships/slide" Target="/ppt/slides/slide13.xml" Id="R0f52572607ee447c" /><Relationship Type="http://schemas.openxmlformats.org/officeDocument/2006/relationships/slide" Target="/ppt/slides/slide14.xml" Id="Rbfe5407aad354f95" /><Relationship Type="http://schemas.openxmlformats.org/officeDocument/2006/relationships/slide" Target="/ppt/slides/slide15.xml" Id="Rf1f1ade14c51440a" /><Relationship Type="http://schemas.openxmlformats.org/officeDocument/2006/relationships/slide" Target="/ppt/slides/slide16.xml" Id="R72a0c0ffad4b4583" /><Relationship Type="http://schemas.openxmlformats.org/officeDocument/2006/relationships/slide" Target="/ppt/slides/slide17.xml" Id="R072f586561124cf7" /><Relationship Type="http://schemas.openxmlformats.org/officeDocument/2006/relationships/slide" Target="/ppt/slides/slide18.xml" Id="Ref3adf5717b5494d" /><Relationship Type="http://schemas.openxmlformats.org/officeDocument/2006/relationships/slide" Target="/ppt/slides/slide19.xml" Id="Rd8a08555dddf43b5" /><Relationship Type="http://schemas.openxmlformats.org/officeDocument/2006/relationships/slide" Target="/ppt/slides/slide20.xml" Id="Rf01aec1d3d674620" /><Relationship Type="http://schemas.openxmlformats.org/officeDocument/2006/relationships/slide" Target="/ppt/slides/slide21.xml" Id="Rb71d4ce5c40047c4" /><Relationship Type="http://schemas.openxmlformats.org/officeDocument/2006/relationships/slide" Target="/ppt/slides/slide22.xml" Id="R7111108fdb8d417b" /><Relationship Type="http://schemas.openxmlformats.org/officeDocument/2006/relationships/slide" Target="/ppt/slides/slide23.xml" Id="R2ac3349bcb184f4a" /><Relationship Type="http://schemas.openxmlformats.org/officeDocument/2006/relationships/slide" Target="/ppt/slides/slide24.xml" Id="Rd08554a7a2ef40f6" /><Relationship Type="http://schemas.openxmlformats.org/officeDocument/2006/relationships/slide" Target="/ppt/slides/slide25.xml" Id="Rdef302de9e594b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411b37a1054a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69b98c021f4843" /><Relationship Type="http://schemas.openxmlformats.org/officeDocument/2006/relationships/notesMaster" Target="/ppt/notesMasters/notesMaster1.xml" Id="R1ab68aef1f3e4d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b49ea2571241ae" /><Relationship Type="http://schemas.openxmlformats.org/officeDocument/2006/relationships/notesMaster" Target="/ppt/notesMasters/notesMaster1.xml" Id="R7dfca7bc1e8d4d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d4edc3fd39471e" /><Relationship Type="http://schemas.openxmlformats.org/officeDocument/2006/relationships/notesMaster" Target="/ppt/notesMasters/notesMaster1.xml" Id="Rfb95fbee9c544e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579567b9d149dc" /><Relationship Type="http://schemas.openxmlformats.org/officeDocument/2006/relationships/notesMaster" Target="/ppt/notesMasters/notesMaster1.xml" Id="R34e617bb0b3e48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8871adfdcb4a00" /><Relationship Type="http://schemas.openxmlformats.org/officeDocument/2006/relationships/notesMaster" Target="/ppt/notesMasters/notesMaster1.xml" Id="R7bcfaefdb7d14e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e7ddca868740ad" /><Relationship Type="http://schemas.openxmlformats.org/officeDocument/2006/relationships/notesMaster" Target="/ppt/notesMasters/notesMaster1.xml" Id="R05bfade4c5d045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c7ff551d614f39" /><Relationship Type="http://schemas.openxmlformats.org/officeDocument/2006/relationships/notesMaster" Target="/ppt/notesMasters/notesMaster1.xml" Id="Ra3fa565107bd4b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6708fc4d7f4ac6" /><Relationship Type="http://schemas.openxmlformats.org/officeDocument/2006/relationships/notesMaster" Target="/ppt/notesMasters/notesMaster1.xml" Id="Ra1bfe3adaad845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38a481862f46aa" /><Relationship Type="http://schemas.openxmlformats.org/officeDocument/2006/relationships/notesMaster" Target="/ppt/notesMasters/notesMaster1.xml" Id="Rc0987113388f46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3ae1280f544e8c" /><Relationship Type="http://schemas.openxmlformats.org/officeDocument/2006/relationships/notesMaster" Target="/ppt/notesMasters/notesMaster1.xml" Id="R742ef59ce94b4a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2fff67d2ca4879" /><Relationship Type="http://schemas.openxmlformats.org/officeDocument/2006/relationships/notesMaster" Target="/ppt/notesMasters/notesMaster1.xml" Id="Rf6459857a8734c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55e64f5bfd4ff6" /><Relationship Type="http://schemas.openxmlformats.org/officeDocument/2006/relationships/notesMaster" Target="/ppt/notesMasters/notesMaster1.xml" Id="Ra3b1d65e442141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b1b3daddb8491f" /><Relationship Type="http://schemas.openxmlformats.org/officeDocument/2006/relationships/notesMaster" Target="/ppt/notesMasters/notesMaster1.xml" Id="Raa6b89c289404f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3e7ac5f35b434a" /><Relationship Type="http://schemas.openxmlformats.org/officeDocument/2006/relationships/notesMaster" Target="/ppt/notesMasters/notesMaster1.xml" Id="R5255b23fd6d84a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a25a1c86b04d99" /><Relationship Type="http://schemas.openxmlformats.org/officeDocument/2006/relationships/notesMaster" Target="/ppt/notesMasters/notesMaster1.xml" Id="R2caf5805172e4c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e4b7f1499b4bff" /><Relationship Type="http://schemas.openxmlformats.org/officeDocument/2006/relationships/notesMaster" Target="/ppt/notesMasters/notesMaster1.xml" Id="R79789bbcc4ab4f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389cae409f4228" /><Relationship Type="http://schemas.openxmlformats.org/officeDocument/2006/relationships/notesMaster" Target="/ppt/notesMasters/notesMaster1.xml" Id="Rdfc62880fd8648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f7c9d62a724581" /><Relationship Type="http://schemas.openxmlformats.org/officeDocument/2006/relationships/notesMaster" Target="/ppt/notesMasters/notesMaster1.xml" Id="Rd9ee3ab20f104ef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d028130b17a4e46" /><Relationship Type="http://schemas.openxmlformats.org/officeDocument/2006/relationships/notesMaster" Target="/ppt/notesMasters/notesMaster1.xml" Id="R0818fe49b1e043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e45aa7e70b4ed7" /><Relationship Type="http://schemas.openxmlformats.org/officeDocument/2006/relationships/notesMaster" Target="/ppt/notesMasters/notesMaster1.xml" Id="R228d7bb97b1f47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b6edc5fc7a4a92" /><Relationship Type="http://schemas.openxmlformats.org/officeDocument/2006/relationships/notesMaster" Target="/ppt/notesMasters/notesMaster1.xml" Id="Rec59ff0081ce4b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9912369bce42e9" /><Relationship Type="http://schemas.openxmlformats.org/officeDocument/2006/relationships/notesMaster" Target="/ppt/notesMasters/notesMaster1.xml" Id="R39d263a95df74f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7911f03bead414b" /><Relationship Type="http://schemas.openxmlformats.org/officeDocument/2006/relationships/notesMaster" Target="/ppt/notesMasters/notesMaster1.xml" Id="R492c1bb559cf43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1e70ebe5a5140fc" /><Relationship Type="http://schemas.openxmlformats.org/officeDocument/2006/relationships/notesMaster" Target="/ppt/notesMasters/notesMaster1.xml" Id="R1d6bb93e7fb642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1a1f1129ebd4ae7" /><Relationship Type="http://schemas.openxmlformats.org/officeDocument/2006/relationships/notesMaster" Target="/ppt/notesMasters/notesMaster1.xml" Id="R429f28dea6454b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Introduce the project as an independent portfolio study built from public kidney program summaries. V1 provides a historical screening monitor and evaluates projections against simple comparisons. V2 asks a separate exploratory question about later reported outcomes among listed candidates, with no model promotion. Both studies concern program summaries. They do not evaluate an individual offer or prescribe a clinical action. The walkthrough begins with the source workbooks, explains the checks and study choices, demonstrates the app and examines what the results can support. The next slide introduces SRTR and the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SRTR stands for Scientific Registry of Transplant Recipients. The public Program-Specific Reports summarize transplant programs using data reported to the Organ Procurement and Transplantation Network. SRTR publishes national center-level summary data as Excel workbooks organized by report table and figure. The project pins eight historical ZIP downloads containing kidney XLS files and one direct kidney XLS download. The nine saved releases span October 2018 to July 2026. The workbook contains aggregate program records, without individual patient or offer records. Different tables summarize different populations and periods. Publication is a separate date from the period measured. V1 uses calendar-year offer-acceptance cohorts. V2 uses selected July–June listing cohorts and their later reported outcomes. Nine saved releases do not mean nine independent V2 training periods. The code combines CTR_CD and CTR_TY for program identity, because code alone was not unique in older reports. Names and location remain display fields. Missing or suppressed source values stay null. A zero is a reported value and must remain distinct from missing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https://srtr.hrsa.gov/transplant-professionals/program-specific-report/program-specific-reports-psr/</a:t>
            </a:r>
            <a:endParaRPr/>
          </a:p>
          <a:p xmlns:a="http://schemas.openxmlformats.org/drawingml/2006/main">
            <a:pPr marL="0" lvl="0" indent="0" algn="l">
              <a:spcBef>
                <a:spcPts val="0"/>
              </a:spcBef>
              <a:spcAft>
                <a:spcPts val="0"/>
              </a:spcAft>
              <a:buNone/>
            </a:pPr>
            <a:r>
              <a:t>https://srtr.hrsa.gov/transplant-professionals/program-specific-report/technical-methods-for-the-program-specific-reports/</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 relabeled, selected-column excerpt from the source workbook, rather than the final modeling table. It shows Excel rows 3–5 of Table B7 from csrs_final_tables_2505_KI.xls. Row 1 contains machine field names and row 2 contains human-readable descriptions. The three selected data rows are the first three program records and also the first three in composite-key order. Selection illustrates the schema and does not depend on outcome size or model error. It is not a representative sample or a comparison of clinical quality. The workbook stores CTR_CD and CTR_TY separately; this table preserves both. ALCH is Children's of Alabama, ALUA is University of Alabama Hospital, and ALVA is Birmingham VA Medical Center. These labels help explain the identifiers and do not enter the model. SAL_N_C is the number of candidates in the original listing group. SAL_TOTFTX_C18 is SRTR's published percentage known alive with a functioning transplant at 18 months, including living and deceased donation. The raw source values are 58.823529412, 17.518248175 and 19.047619048 percentage units, displayed as 58.82%, 17.52% and 19.05%. This is a direct formatting operation; the published percentages are not reconstructed from counts. The denominator includes people who never received a transplant. Unknown status does not establish death, graft failure or a functioning transplant. This published percentage is not an officially risk-adjusted measure. The listing period comes from the release-specific methodology ledger, July 1, 2022 through June 30, 2023. Publication comes from the source manifest, July 8, 2025. Other tables in the same workbook have different measurement periods. The full source Table B7 has 234 program rows and 139 columns, excluding the two header rows. The July 2025 offer-acceptance table has 230 rows; table populations must not be assumed identical.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https://srtr.hrsa.gov/Archives/PSRdownloads/csrs_tables_all/csrs_final_tables_2505all.zip</a:t>
            </a:r>
            <a:endParaRPr/>
          </a:p>
          <a:p xmlns:a="http://schemas.openxmlformats.org/drawingml/2006/main">
            <a:pPr marL="0" lvl="0" indent="0" algn="l">
              <a:spcBef>
                <a:spcPts val="0"/>
              </a:spcBef>
              <a:spcAft>
                <a:spcPts val="0"/>
              </a:spcAft>
              <a:buNone/>
            </a:pPr>
            <a:r>
              <a:t>https://srtr.hrsa.gov/transplant-professionals/program-specific-report/technical-methods-for-the-program-specific-reports/</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Data quality assurance, or QA, is a useful umbrella for the checks before interpretation and delivery. The purpose is to identify specific failures that a successfully fitted model would not automatically reveal. A SHA-256 hash acts as a file fingerprint: it establishes that bytes match the recorded source version, not that the source values or study assumptions are correct. A harmless metadata or line-ending change can also trigger that strict identity check, so a mismatch calls for review rather than a claim that the data are wrong. A structural contract names the expected worksheets and machine fields. Value checks reject such problems as impossible counts and inconsistent intervals. Composite identity checks prevent accidental combinations of different programs. Missing and suppressed source values remain unknown instead of becoming observed zeros. A scientific study contract defines the population, target, dates and evaluation rules. In this project, predictor measurement windows and publication availability must satisfy the applicable V1 or V2 contract. Passing software checks does not substitute for assessing that design. Reproduction records identify the saved source files, configuration, code revision, dependency lock and generated outputs. A preliminary exploratory notebook need not implement this entire release system. Correct meanings, joins and dates remain necessary for interpreting an analysis, while the extra engineering helps another person repeat the work and investigate differences. The checks cannot guarantee source truth, prevent every error or validate a model by themselves.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src/kasm/data/parse.py</a:t>
            </a:r>
            <a:endParaRPr/>
          </a:p>
          <a:p xmlns:a="http://schemas.openxmlformats.org/drawingml/2006/main">
            <a:pPr marL="0" lvl="0" indent="0" algn="l">
              <a:spcBef>
                <a:spcPts val="0"/>
              </a:spcBef>
              <a:spcAft>
                <a:spcPts val="0"/>
              </a:spcAft>
              <a:buNone/>
            </a:pPr>
            <a:r>
              <a:t>src/kasm/data/cache.py</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docs/data_card.md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concrete source-QA example compares program identifiers in two sheets of the same verified July 2025 kidney workbook. It does not construct a predictor/outcome dataset. Both sheets have machine names in Excel row 1 and descriptions in row 2. Table B7's first three program records, Excel rows 3–5, are ALCH:TX1, ALUA:TX1 and ALVA:TX1. The same Excel rows of Table B11 &amp; Figures B10-B14 are PAUP:TX1, VANG:TX1 and MDUM:TX1. They are shown in original source order, without sorting or selection based on outcomes. A hypothetical join by row position would pair different programs immediately. ALUA:TX1 at Table B7 row 4 correctly matches ALUA:TX1 at Table B11 row 74. VANG:TX1 is Sentara Norfolk General Hospital, a different program. The displayed code:type representation combines the two original columns CTR_CD and CTR_TY for readability; it is not a new source field. Counts are 234 and 230, but the size difference does not mean four unmatched programs. There are 229 shared identities, five B7-only identities (CARC:TX1, FLBC:TX1, PACC:TX1, PALH:TX1, TXDL:TX1), and one acceptance-only identity (SCCH:TX1). A keyed match makes these differences visible and requires explicit handling of missing records. Table B7 describes July 1, 2022–June 30, 2023 listings and their 18-month status. The acceptance table describes January 1–December 31, 2024 offers. Both were published July 8, 2025. Therefore these same-release acceptance values are not permitted predictors for that earlier V2 listing cohort. Matching identity alone does not establish eligibility under the study's time rules. This example illustrates a potential error prevented by explicit matching; it does not claim that such an erroneous join occurred in the project. The existing archive/member verification and both production table parsers passed before the example was selected.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https://srtr.hrsa.gov/Archives/PSRdownloads/csrs_tables_all/csrs_final_tables_2505all.zip</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src/kasm/data/parse.py</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offer-acceptance ratio is a published, risk-adjusted program measure. SRTR's FAQ gives (acceptances + 2) / (expected acceptances + 2). Expected acceptances sum offer-level probabilities from SRTR's logistic models. This project reads that published expectation; it does not recreate the underlying offer-level model. Only acceptances resulting in completed transplants count, within SRTR's included-offer population. The algebraic +2 adjustment moves the ratio toward 1, particularly with small expected counts. In the hypothetical example, (48+2)/(98+2)=0.50. The number of offers is not the denominator, so this does not say half the offers were accepted. The 95% credible interval expresses uncertainty about the source ratio and differs from a band around a prediction. The public expected counts and ratios are rounded, so the application preserves published values and uses formula reconstruction only as a rounding-aware QA check. The measure supports a screening signal for quality-improvement review. It does not determine the appropriateness of an individual decline or establish clinical quality, causal effects or regulatory standing. Cross-year changes can reflect national practice and model changes as well as program behavior. SRTR changed which declined offers count in July 2025 and broadened the rule in January 2026. The July 2025 pinned report for calendar 2024 used the first exclusion, based on bypass code 863. The July 2026 report for calendar 2025 follows the broader definition. These changes can affect annual ratios. The audit does not establish their quantitative effect on this study or show that they caused a model gain.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https://srtr.hrsa.gov/getting-started/faqs/for-transplant-center-professionals/</a:t>
            </a:r>
            <a:endParaRPr/>
          </a:p>
          <a:p xmlns:a="http://schemas.openxmlformats.org/drawingml/2006/main">
            <a:pPr marL="0" lvl="0" indent="0" algn="l">
              <a:spcBef>
                <a:spcPts val="0"/>
              </a:spcBef>
              <a:spcAft>
                <a:spcPts val="0"/>
              </a:spcAft>
              <a:buNone/>
            </a:pPr>
            <a:r>
              <a:t>https://srtr.hrsa.gov/transplant-professionals/program-specific-report/technical-methods-for-the-program-specific-reports/</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docs/audits/source-definition-0029.md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V1's product is the historical monitor. Its prediction question is whether earlier public program summaries improve on carrying the latest published ratio forward. The target is the next same-cadence calendar-year published log(OAR). Logarithms put reciprocal multiplicative changes on symmetric scales. The 17 original inputs include earlier ratios, their changes, expected volume, interval width, donor groups, offer shares and missingness. Identity and location are excluded by this study's scope. Alpha 10 was selected using 2021–2023 outcomes. Whole target years stay together, and preprocessing learns only from training rows. The original 2025 replay fits target years 2018–2023. It reserves 2024 outcomes for its empirical band. Across 229 programs, Ridge's mean absolute log error was 0.2399 versus 0.2670 for persistence, a 10.13% reduction. Its absolute mean signed log error was 0.01145 versus 0.00885. The exact-bias comparison that rejected Ridge was a design mistake: such a small difference had no demonstrated connection to the user's review task. Decision 0016 withdraws that rule from current model selection while retaining the historical calculation. The unchanged app displays persistence. The separate five-method Plan 0027 comparison selected a fitted adjustment of the latest ratio as a provisional research candidate, with 6.90% lower mean absolute log error than persistence across already-inspected 2021–2025. Its small 0.66% edge over full Ridge does not establish a meaningful advantage. Its bands remain withheld. The source audit confirms included-offer changes in July 2025 and January 2026. It does not quantify their effect on the saved model scores. These changes must inform any later deployment decision. All comparisons are retrospective, and publication lag makes the projection a delayed-report nowcast.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configs/frozen_experiment.yaml</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docs/acceptance_forecast_results.md</a:t>
            </a:r>
            <a:endParaRPr/>
          </a:p>
          <a:p xmlns:a="http://schemas.openxmlformats.org/drawingml/2006/main">
            <a:pPr marL="0" lvl="0" indent="0" algn="l">
              <a:spcBef>
                <a:spcPts val="0"/>
              </a:spcBef>
              <a:spcAft>
                <a:spcPts val="0"/>
              </a:spcAft>
              <a:buNone/>
            </a:pPr>
            <a:r>
              <a:t>docs/decisions/0016-retire-bias-gate-and-correct-readiness.md</a:t>
            </a:r>
            <a:endParaRPr/>
          </a:p>
          <a:p xmlns:a="http://schemas.openxmlformats.org/drawingml/2006/main">
            <a:pPr marL="0" lvl="0" indent="0" algn="l">
              <a:spcBef>
                <a:spcPts val="0"/>
              </a:spcBef>
              <a:spcAft>
                <a:spcPts val="0"/>
              </a:spcAft>
              <a:buNone/>
            </a:pPr>
            <a:r>
              <a:t>docs/audits/source-definition-0029.md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Switch to the V1 Program monitor and select University of Alabama Hospital (ALUA) — Birmingham, AL. This slide is a factual fallback if the app is unavailable, not a screenshot. The line shows published point estimates, without historical credible-interval bars; inspect the intervals in the app. OAR rises from 0.74 to 2.00, falls to 0.81 and ends at 1.11. In the latest donor detail, high-KDRI OAR is 0.41 (95% credible interval 0.15–0.81) and hard-to-place OAR is 0.16 (0.03–0.39). KDRI is the Kidney Donor Risk Index; the hard-to-place group overlaps the KDRI groups, so these are not additive categories. The overall ratio hides differences between groups. The projection carries 1.11 into calendar 2026. Its origin is July 7, 2026, when 51.5% of the target year has elapsed; call it a delayed-report nowcast. The current ratio's credible interval is not a future forecast band. Open Model evaluation and methodology to explain accuracy, the unchanged historical release and the limits of the data. The old exact-bias rule has been withdrawn. The separately selected point method remains a research candidate, and forecast bands remain withheld. The source audit confirms changes to the offer population in July 2025 and January 2026. The pinned calendar-2024 and calendar-2025 signals therefore use different stages of the exclusion rule. The audit does not establish how much of this example’s change reflects definitions or behavior. This case was chosen for a readable changing history and continuity with the workbook example, not as evidence of model performance or program quality. Transition: V1 describes acceptance; V2 asks about the later reported experience of people who were listed.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artifacts/release</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docs/presentation/data-walkthrough/README.md</a:t>
            </a:r>
            <a:endParaRPr/>
          </a:p>
          <a:p xmlns:a="http://schemas.openxmlformats.org/drawingml/2006/main">
            <a:pPr marL="0" lvl="0" indent="0" algn="l">
              <a:spcBef>
                <a:spcPts val="0"/>
              </a:spcBef>
              <a:spcAft>
                <a:spcPts val="0"/>
              </a:spcAft>
              <a:buNone/>
            </a:pPr>
            <a:r>
              <a:t>app/streamlit_app.py</a:t>
            </a:r>
            <a:endParaRPr/>
          </a:p>
          <a:p xmlns:a="http://schemas.openxmlformats.org/drawingml/2006/main">
            <a:pPr marL="0" lvl="0" indent="0" algn="l">
              <a:spcBef>
                <a:spcPts val="0"/>
              </a:spcBef>
              <a:spcAft>
                <a:spcPts val="0"/>
              </a:spcAft>
              <a:buNone/>
            </a:pPr>
            <a:r>
              <a:t>docs/audits/source-definition-0029.md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Return to the Table B7 outcome introduced in the source sample. V1 predicts a program's next published offer-acceptance ratio. Original V2 instead asks whether earlier acceptance or access summaries add predictive information about a later listing group's published percentage known alive with a functioning transplant at 18 months. Access means published transplant-rate and waiting-time measures, not a patient-specific chance of receiving a kidney. Offer acceptance concerns deceased-donor offers, while this outcome also includes living donors. The comparison is useful for investigating information content, but it cannot identify a causal effect of acceptance or support clinical recommendations. The original study was exploratory from the outset, including inspection during feasibility work. No original or revised V2 model becomes a future forecast.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docs/patient_journey_v2_model_card.md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outcome is the published known-functioning percentage, not survival conditional on receiving a transplant. In the hypothetical 100-candidate group, 30 are known functioning and 15 have unknown post-transplant status. The remaining 55 occupy other reported statuses, such as still waiting, death or removal; this example does not specify their allocation. Unknown does not establish either functioning or failure. These are status snapshots at 18 months from each person's listing, not one common follow-up date. The original denominator remains 100 throughout. Evaluation compares predictions with the published percentage; it cannot recover the true status of people recorded as unknown. Percentage points are subtraction between percentages. A decline from 40% to 30% is ten percentage points, not ten percent. The empirical-logit modeling transform is explained in the appendix; source values remain authoritative.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docs/patient_journey_v2_component_ledger.md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third simple comparison uses a candidate-volume-weighted reference from the already-available cohort; it is not an official national statistic. The five Ridge groups are history; history plus acceptance; history plus access; history plus access plus acceptance; and the full group plus eligible lagged waiting-list mortality. History includes prior outcome, its historical mean, prior listing count and, in the original model, number of earlier reports. Access includes transplant-rate ratio, candidate person-time and the 25th-percentile time to transplant. Acceptance includes expected acceptances; overall and donor-stratum offer-acceptance ratios; published uncertainty; and missingness indicators. All predictors obey the measurement and publication rules. Identity and geography are excluded. The primary target group has at least ten listed candidates, a reported target and prior history. Missing predictors are handled within training; missing future outcomes remain unknown and cannot be scored. Ridge is fixed at alpha 1 with no model-family search or promotion. The appendix includes every original and revised group's results, avoiding selection of only favorable comparisons.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configs/patient_journey_v2/experiment.yaml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Each row in this table summarizes a group of program records. The training pair is 1905→2205: its features were available at its earlier origin and its July 2019–June 2020 listing outcome becomes public in July 2022. The evaluation pair is 2205→2505, with July 2022–June 2023 listings and a later July 8, 2025 outcome publication. At the July 2022 evaluation origin, the earlier outcome can be used for training, while the evaluation outcome cannot. A predictor also needs its entire measurement and follow-up period to end before the new listing group begins; publication alone is insufficient. Earlier configured origins do not have an already-published qualifying training outcome, leaving one Ridge evaluation period in that original configuration. This does not mean there is only one program or only one report in the study. Because publication day is not verified for July 2022, do not claim prediction before the first listing that month. The original ledger incorrectly excluded the July 2026 outcome release for overlap. That report actually covers July 2023–June 2024 listings, following the previous July–June group without overlap. The separate deceased-donor receipt study subsequently evaluated that additional period with its own target and configuration. Neither additional retrospective data nor a corrected date turns inspected outcomes into untouched validation. See the cohort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docs/audits/source-feasibility-0022.md</a:t>
            </a:r>
            <a:endParaRPr/>
          </a:p>
          <a:p xmlns:a="http://schemas.openxmlformats.org/drawingml/2006/main">
            <a:pPr marL="0" lvl="0" indent="0" algn="l">
              <a:spcBef>
                <a:spcPts val="0"/>
              </a:spcBef>
              <a:spcAft>
                <a:spcPts val="0"/>
              </a:spcAft>
              <a:buNone/>
            </a:pPr>
            <a:r>
              <a:t>docs/deceased_donor_receipt_results.md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Mean absolute error is the average size of the prediction error, ignoring its sign. Original history-only Ridge has MAE 11.488 percentage points; adding acceptance gives 7.348. The simple historical mean has MAE 7.609 on exactly these 218 programs. The gains are approximately 4.14 and 0.26 points, respectively. A fitted history model is different from directly averaging prior outcomes. This comparison raised a specific diagnostic question: why did the fitted history model do so much worse? It did not justify moving to a more flexible model family. The original app also reports baseline summaries across four periods; those are different populations and must not replace these paired values. All methods' paired values appear in the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docs/patient_journey_v2_model_card.md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Before interpreting the model, the follow-up reconstructed all 1,744 original evaluation predictions exactly. The original history model used historical_target_count, the number of earlier available outcome reports. Most training rows had two while most evaluation rows had five; this is extrapolation, or using a learned relationship outside the range that taught it. Reconstructing the history-only model showed that the report-count term accounted for the upward shift in its predictions, with other inputs partly offsetting it. This describes the fitted model, not a patient-level effect. Standardizing within the training fold was correct, but could not solve extrapolation beyond the training range. The diagnostic is specific to the selected report collection and fitted model; it does not establish a general causal effect of report count.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docs/specs/patient-journey-v2-followup.md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separately specified follow-up removed only historical_target_count from all five groups, preserving other inputs, transformations, training rows, evaluation rows and Ridge settings. Original results remain intact. The exact saved acceptance-minus-history error contrast is −0.095 percentage points after display rounding; the roughly 0.09-point improvement is computed before rounding model MAEs. Negative values favor added acceptance. Its descriptive 95% bootstrap interval is −0.491 to 0.301, from 2,000 paired whole-program resamples. That interval describes variation among these observed programs in one inspected period, not uncertainty across future periods. The data do not establish a reliable new-period gain, but also do not prove acceptance contains no information. The historical-mean comparator remains competitive at 7.609. All five revised results, including worse incremental comparisons, are retained in the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configs/patient_journey_v2_followup/experiment.yaml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ALUA is University of Alabama Hospital, the program used in the workbook and app examples. The earlier listing group is July 2019–June 2020, with 431 candidates and published known-functioning outcome 28.07424594%, public July 2022. The later July 2022–June 2023 group has 548 candidates and published outcome 17.518248175%, public July 8, 2025. Its deceased-donor and living-donor known-functioning components are 14.416058394% and 3.102189781%; post-transplant unknown components are 18.97810219% and 4.0145985401%. Combined unknown is 22.9927007301%. These all use the original 548 candidates, including those never transplanted. The chart excludes waiting, death, removal and other statuses; it is not a complete partition. The total known-functioning figure overlaps the two donor-specific known categories and must not be added to them. The original case selection was the first composite key meeting a disclosed teaching pattern, not a representative sample or quality ranking. These later components describe the outcome; they are not permitted earlier predictors. Ask what cohort composition, donor pathways and reporting records would help account for the recorded difference; the aggregates cannot determine its cause.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docs/presentation/v2-followup/program-case.md</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component analysis matched all 218 original evaluation programs and reported associations for all eight original methods, including signed and absolute error. For each program, add the two post-transplant unknown donor percentages first; then take the median across programs. That median is 16.05%, not the sum of separate component medians. The broader 222-program source population has median 16.27%, which is not the evaluation value. Known and unknown categories share an original-listing denominator, and signed error itself subtracts the published known-functioning outcome. These mathematical relationships complicate causal interpretation. An unknown status can include follow-up not yet due and does not demonstrate death or graft failure. Table B7 does not supply event and last-observed times, or adequate equivalent counts over time, for standard survival adjustment. The appendix explains why deleting unknown rows or treating them as failures does not solve this. This is an outcome-definition limitation alongside the narrow time evidence, not a reason to silently change the target. Across the eight original methods, the Pearson correlation with combined unknown ranges from -0.301 to 0.330 for signed error and from 0.056 to 0.337 for absolute error. These descriptive associations are not causal estimates.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docs/patient_journey_v2_component_ledger.md</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closes the loop with the QA slides: the preparation steps create a stable, reviewable input to a lightweight reporting app. V1 and original V2 have separate trusted release bundles; the later count-removed investigation is preserved separately and does not replace the original V2 application evidence. Python modules under src/kasm contain data and statistical logic; Streamlit is the view layer. Tests exercise observable risks such as wrong hashes, malformed source fields, composite keys, missing versus zero, unavailable future data, train-only preprocessing, forecast eligibility and offline loading. A concrete outcome-component regression rejected a sum of components’ lower rounding bounds exceeding 100% even when another component was missing; valid incomplete totals remain missing. Another all-missing chart case displays Not reported. These tests protect specified behavior; passing them does not prove scientific validity. AI assistance was used in implementation and review, with generated code and claims checked against sources and behavior. The author should explain the choices they understand and avoid implying that automated checks replace their judgment.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AGENTS.md</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docs/plans/0020-v2-follow-up-and-interview-story.md</a:t>
            </a:r>
            <a:endParaRPr/>
          </a:p>
          <a:p xmlns:a="http://schemas.openxmlformats.org/drawingml/2006/main">
            <a:pPr marL="0" lvl="0" indent="0" algn="l">
              <a:spcBef>
                <a:spcPts val="0"/>
              </a:spcBef>
              <a:spcAft>
                <a:spcPts val="0"/>
              </a:spcAft>
              <a:buNone/>
            </a:pPr>
            <a:r>
              <a:t>tests/unit/test_patient_journey_component_analysis.py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V1 provides a working historical monitor. Its original exact-bias selection rule was a mistake, now explicitly withdrawn. The later fixed comparison found that a fitted adjustment of the latest ratio reduced mean absolute log error by 6.90%, with modest improvement in the share of predictions close to the later published ratio. That method remains a provisional research candidate. Its comparison thresholds do not demonstrate user benefit or authorize deployment. The source audit confirms changed SRTR offer exclusions in July 2025 and January 2026. It does not quantify their contribution to the saved prediction errors. The app must check the complete artifact before display. The next release decision requires a specific analyst task and justified error tolerances. The current app retains persistence, and empirical bands remain withheld. Original V2's attractive result weakened after comparison with a simple average and removal of the report-count input. Its outcome also depends on documented follow-up. A separately completed receipt study used the corrected July 2023–June 2024 listing period and found only a 0.113-percentage-point gain from acceptance beyond history plus access, with an interval spanning worsening and improvement. The waiting-list case study separately demonstrates why list growth needs an additions-and-removals breakdown. These completed follow-ups do not create new validation or patient-level advice. Future unseen calendar-year 2026 OAR outcomes are expected around mid-2027.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docs/acceptance_forecast_results.md</a:t>
            </a:r>
            <a:endParaRPr/>
          </a:p>
          <a:p xmlns:a="http://schemas.openxmlformats.org/drawingml/2006/main">
            <a:pPr marL="0" lvl="0" indent="0" algn="l">
              <a:spcBef>
                <a:spcPts val="0"/>
              </a:spcBef>
              <a:spcAft>
                <a:spcPts val="0"/>
              </a:spcAft>
              <a:buNone/>
            </a:pPr>
            <a:r>
              <a:t>docs/deceased_donor_receipt_results.md</a:t>
            </a:r>
            <a:endParaRPr/>
          </a:p>
          <a:p xmlns:a="http://schemas.openxmlformats.org/drawingml/2006/main">
            <a:pPr marL="0" lvl="0" indent="0" algn="l">
              <a:spcBef>
                <a:spcPts val="0"/>
              </a:spcBef>
              <a:spcAft>
                <a:spcPts val="0"/>
              </a:spcAft>
              <a:buNone/>
            </a:pPr>
            <a:r>
              <a:t>docs/waiting_list_case_study.md</a:t>
            </a:r>
            <a:endParaRPr/>
          </a:p>
          <a:p xmlns:a="http://schemas.openxmlformats.org/drawingml/2006/main">
            <a:pPr marL="0" lvl="0" indent="0" algn="l">
              <a:spcBef>
                <a:spcPts val="0"/>
              </a:spcBef>
              <a:spcAft>
                <a:spcPts val="0"/>
              </a:spcAft>
              <a:buNone/>
            </a:pPr>
            <a:r>
              <a:t>docs/decisions/0016-retire-bias-gate-and-correct-readiness.md</a:t>
            </a:r>
            <a:endParaRPr/>
          </a:p>
          <a:p xmlns:a="http://schemas.openxmlformats.org/drawingml/2006/main">
            <a:pPr marL="0" lvl="0" indent="0" algn="l">
              <a:spcBef>
                <a:spcPts val="0"/>
              </a:spcBef>
              <a:spcAft>
                <a:spcPts val="0"/>
              </a:spcAft>
              <a:buNone/>
            </a:pPr>
            <a:r>
              <a:t>docs/audits/source-definition-0029.md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There is no blanket rule against CSV. A trustworthy CSV extract could be useful for initial exploration or as a documented intermediate format. It would not remove the need to understand two-row headers, source fields, suppression, composite identity and release-specific dates. Here the pinned public sources are eight archives containing kidney XLS workbooks and one direct XLS workbook. The project preserves those original inputs and reads fields by machine names. A conversion should preserve identifiers and nulls and keep enough context to recover table definitions and timing. Byte matching is a strict source-identity check; it is not a claim that Excel is scientifically superior or that every notebook needs a complete release pipeline.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docs/data_card.md</a:t>
            </a:r>
            <a:endParaRPr/>
          </a:p>
          <a:p xmlns:a="http://schemas.openxmlformats.org/drawingml/2006/main">
            <a:pPr marL="0" lvl="0" indent="0" algn="l">
              <a:spcBef>
                <a:spcPts val="0"/>
              </a:spcBef>
              <a:spcAft>
                <a:spcPts val="0"/>
              </a:spcAft>
              <a:buNone/>
            </a:pPr>
            <a:r>
              <a:t>src/kasm/data/parse.py</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V1 predicts log(OAR). Exponentiating returns a positive ratio-scale point prediction, generally not the arithmetic expected OAR. Symmetric log errors represent multiplicative discrepancies, which differ from absolute error in ratio units. V2 uses k=round(N×published_percentage/100), p=(k+0.5)/(N+1), then log(p/(1−p)). This is a specified modeling transform and rounding reconstruction, not a replacement published numerator. The half-count adjustment keeps p strictly between zero and one, and inverse-logit predictions remain bounded. Ridge minimizes squared training error plus alpha times the sum of squared coefficients; the evaluation metric can still be mean absolute error on the declared scale. Standardization keeps the penalty from depending arbitrarily on input units and is learned within training only. V1 chose alpha 10 using its development years. V2 fixed alpha 1 and allows no model promotion. Neither model's weights establish causal effects. The report-count issue shows that shrinkage is not a substitute for checking whether input meaning and range remain appropriate.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configs/patient_journey_v2/experiment.yaml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completed five-method comparison uses identical program-year rows and gives each of the five years equal weight. It selected adjusted persistence, a Ridge fit with the latest log OAR as its only input, on the smallest mean absolute log error. The comparison includes 236 programs and 1,150 observed program-years, excluding 11 missing later reports. The numbers here come from saved results. The fitted adjustment has 6.90% lower mean absolute log error and 9.20% lower mean ratio-unit error than persistence. Its advantage over full Ridge is only 0.66%, with no configured direct comparison interval. The candidate makes individual absolute log errors worse in 40.1% of program-years. In 2022, its median relative error is 30.7% and the worst-tenth boundary is 116.6%. Relative error divides the miss by the later published ratio. It is not a percentage-point change in acceptance. No result here establishes user benefit or future-year accuracy. The original rule comparing exact absolute mean signed errors was a design mistake and has been retired. The saved original decision remains historical evidence only. Likewise, inclusion of 80% in every coverage confidence interval is not a guarantee of calibration. The candidate bands cover 77.4%, 75.2%, 92.7%, 79.5% and 85.6% across these years and remain withheld. The source audit confirms included-offer changes in July 2025 and January 2026, without establishing their quantitative effect on the model results. These source changes and an explicit analyst use case must inform a later deployment decision.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docs/acceptance_forecast_results.md</a:t>
            </a:r>
            <a:endParaRPr/>
          </a:p>
          <a:p xmlns:a="http://schemas.openxmlformats.org/drawingml/2006/main">
            <a:pPr marL="0" lvl="0" indent="0" algn="l">
              <a:spcBef>
                <a:spcPts val="0"/>
              </a:spcBef>
              <a:spcAft>
                <a:spcPts val="0"/>
              </a:spcAft>
              <a:buNone/>
            </a:pPr>
            <a:r>
              <a:t>docs/decisions/0016-retire-bias-gate-and-correct-readiness.md</a:t>
            </a:r>
            <a:endParaRPr/>
          </a:p>
          <a:p xmlns:a="http://schemas.openxmlformats.org/drawingml/2006/main">
            <a:pPr marL="0" lvl="0" indent="0" algn="l">
              <a:spcBef>
                <a:spcPts val="0"/>
              </a:spcBef>
              <a:spcAft>
                <a:spcPts val="0"/>
              </a:spcAft>
              <a:buNone/>
            </a:pPr>
            <a:r>
              <a:t>data/research/acceptance-forecast-0027/comparison-v1/report.json</a:t>
            </a:r>
            <a:endParaRPr/>
          </a:p>
          <a:p xmlns:a="http://schemas.openxmlformats.org/drawingml/2006/main">
            <a:pPr marL="0" lvl="0" indent="0" algn="l">
              <a:spcBef>
                <a:spcPts val="0"/>
              </a:spcBef>
              <a:spcAft>
                <a:spcPts val="0"/>
              </a:spcAft>
              <a:buNone/>
            </a:pPr>
            <a:r>
              <a:t>docs/audits/source-definition-0029.md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complete table prevents choosing only favorable information additions. Full means history plus access plus acceptance. The waiting-list mortality addition uses eligible earlier published ratios and intervals, not future safety outcomes. The available-cohort reference is the specified candidate-volume-weighted source-derived baseline already available at prediction time; it is not an official national statistic. The result document retains signed error, volume-weighted error, all fixed contrasts and descriptive whole-program bootstrap intervals. Count removal improved each original fitted group here, but added information did not consistently improve the revised history model. This remains one already-inspected period, not a new validation sample. Original four-period baseline summaries answer a differently pooled question and are not used in this 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configs/patient_journey_v2_followup/experiment.yaml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included release pairs are 1905→2205, 2006→2305, 2105→2405 and 2205→2505. This is not a clean before-first-listing prediction design: the fixed specification allows the documented origin offset up to one calendar month. The 2020 origin falls in August, while the July 2022 source has month-only publication precision. The excluded 1808→2105 pair would use an October origin for July-start listings, exceeding that rule. The original exclusion of 2305→2605 for an overlapping calendar-2023 target was a source-date error. The July 2026 report actually describes July 2023–June 2024 listings, with no overlap with the preceding listing group. The separate receipt study used that corrected period without changing original V2 data or results. The primary evaluation requires reported targets, target N≥10 and prior outcome history. The eligibility audit records 966 program/listing-group records, with 47 missing targets, 48 below the primary count minimum, six without prior history and 865 eligible. Original Ridge uses one train/evaluation pair among its four configured groups because each training target also has to be public by the later prediction origin. That describes the original configuration, not all possible archive history. Missing target rows remain unknown, not negative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configs/patient_journey_v2/experiment.yaml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docs/audits/source-feasibility-0022.md</a:t>
            </a:r>
            <a:endParaRPr/>
          </a:p>
          <a:p xmlns:a="http://schemas.openxmlformats.org/drawingml/2006/main">
            <a:pPr marL="0" lvl="0" indent="0" algn="l">
              <a:spcBef>
                <a:spcPts val="0"/>
              </a:spcBef>
              <a:spcAft>
                <a:spcPts val="0"/>
              </a:spcAft>
              <a:buNone/>
            </a:pPr>
            <a:r>
              <a:t>docs/deceased_donor_receipt_results.md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Right censoring means observation ends before the event time is observed. Kaplan–Meier uses event times and numbers still at risk, or adequate equivalent aggregate counts, rather than a single final unknown percentage. It does not require a reason for every censored observation, but the interpretation needs a defensible independent-censoring assumption for the relevant analysis. Unknown Table B7 status neither proves nor disproves that assumption, and may include follow-up not yet due. The current target mixes access to transplant, donor pathways and known functioning at 18 months; it is not simply survival among transplant recipients. A new time-to-event analysis would need its own target, data and assumptions. These slides do not fill in unknown records or imply that the source outcome has been corrected.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https://www.itl.nist.gov/div898/handbook/apr/section2/apr215.htm</a:t>
            </a:r>
            <a:endParaRPr/>
          </a:p>
          <a:p xmlns:a="http://schemas.openxmlformats.org/drawingml/2006/main">
            <a:pPr marL="0" lvl="0" indent="0" algn="l">
              <a:spcBef>
                <a:spcPts val="0"/>
              </a:spcBef>
              <a:spcAft>
                <a:spcPts val="0"/>
              </a:spcAft>
              <a:buNone/>
            </a:pPr>
            <a:r>
              <a:t>https://pmc.ncbi.nlm.nih.gov/articles/PMC4282781/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2026-09-08.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d52a3481194c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2fcf3f277f4d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0447b0a0de49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86a670573249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5f3f642dde47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1854f4d28843a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72ac269194941d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4150e9d95df4fa9"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dd1f55a7d44ab3" /><Relationship Type="http://schemas.openxmlformats.org/officeDocument/2006/relationships/slideLayout" Target="/ppt/slideLayouts/slideLayout1.xml" Id="Rd5ae1ea7a7d24752" /><Relationship Type="http://schemas.openxmlformats.org/officeDocument/2006/relationships/slideLayout" Target="/ppt/slideLayouts/slideLayout2.xml" Id="R212008c59e214a98" /><Relationship Type="http://schemas.openxmlformats.org/officeDocument/2006/relationships/slideLayout" Target="/ppt/slideLayouts/slideLayout3.xml" Id="R5107c95d0f474cbd" /><Relationship Type="http://schemas.openxmlformats.org/officeDocument/2006/relationships/slideLayout" Target="/ppt/slideLayouts/slideLayout4.xml" Id="R789e8ea755a74ac2" /><Relationship Type="http://schemas.openxmlformats.org/officeDocument/2006/relationships/slideLayout" Target="/ppt/slideLayouts/slideLayout5.xml" Id="R821ae458d5454b62" /><Relationship Type="http://schemas.openxmlformats.org/officeDocument/2006/relationships/slideLayout" Target="/ppt/slideLayouts/slideLayout6.xml" Id="R471aece5262e448b" /><Relationship Type="http://schemas.openxmlformats.org/officeDocument/2006/relationships/slideLayout" Target="/ppt/slideLayouts/slideLayout7.xml" Id="R9cec0ea26d444a22" /><Relationship Type="http://schemas.openxmlformats.org/officeDocument/2006/relationships/slideLayout" Target="/ppt/slideLayouts/slideLayout8.xml" Id="R1baa1e4444dc4b6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ae1ea7a7d24752"/>
    <p:sldLayoutId xmlns:r="http://schemas.openxmlformats.org/officeDocument/2006/relationships" id="2147483650" r:id="R212008c59e214a98"/>
    <p:sldLayoutId xmlns:r="http://schemas.openxmlformats.org/officeDocument/2006/relationships" id="2147483651" r:id="R5107c95d0f474cbd"/>
    <p:sldLayoutId xmlns:r="http://schemas.openxmlformats.org/officeDocument/2006/relationships" id="2147483652" r:id="R789e8ea755a74ac2"/>
    <p:sldLayoutId xmlns:r="http://schemas.openxmlformats.org/officeDocument/2006/relationships" id="2147483653" r:id="R821ae458d5454b62"/>
    <p:sldLayoutId xmlns:r="http://schemas.openxmlformats.org/officeDocument/2006/relationships" id="2147483654" r:id="R471aece5262e448b"/>
    <p:sldLayoutId xmlns:r="http://schemas.openxmlformats.org/officeDocument/2006/relationships" id="2147483655" r:id="R9cec0ea26d444a22"/>
    <p:sldLayoutId xmlns:r="http://schemas.openxmlformats.org/officeDocument/2006/relationships" id="2147483656" r:id="R1baa1e4444dc4b68"/>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d3713187f34932" /><Relationship Type="http://schemas.openxmlformats.org/officeDocument/2006/relationships/notesSlide" Target="/ppt/notesSlides/notesSlide1.xml" Id="Raae65a64e4f846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1834d97d284899" /><Relationship Type="http://schemas.openxmlformats.org/officeDocument/2006/relationships/notesSlide" Target="/ppt/notesSlides/notesSlide2.xml" Id="R31d2679e47d144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ef40c55a024da7" /><Relationship Type="http://schemas.openxmlformats.org/officeDocument/2006/relationships/notesSlide" Target="/ppt/notesSlides/notesSlide3.xml" Id="R03b92950fc3241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af5683cb96477a" /><Relationship Type="http://schemas.openxmlformats.org/officeDocument/2006/relationships/notesSlide" Target="/ppt/notesSlides/notesSlide4.xml" Id="Rde65b707cf0348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ff2c38cf95c41cc" /><Relationship Type="http://schemas.openxmlformats.org/officeDocument/2006/relationships/notesSlide" Target="/ppt/notesSlides/notesSlide5.xml" Id="R2245cb4183af45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971778538e4c22" /><Relationship Type="http://schemas.openxmlformats.org/officeDocument/2006/relationships/notesSlide" Target="/ppt/notesSlides/notesSlide6.xml" Id="Rc6c070db25bf41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c517b6c2ec438b" /><Relationship Type="http://schemas.openxmlformats.org/officeDocument/2006/relationships/notesSlide" Target="/ppt/notesSlides/notesSlide7.xml" Id="Rf8eb88a6c10c40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ad9eaaf89e48ec" /><Relationship Type="http://schemas.openxmlformats.org/officeDocument/2006/relationships/chart" Target="/ppt/slides/charts/chart1.xml" Id="Rc7599d95482940d6" /><Relationship Type="http://schemas.openxmlformats.org/officeDocument/2006/relationships/notesSlide" Target="/ppt/notesSlides/notesSlide8.xml" Id="Rb75dca72d81d4a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e9104cd60534eec" /><Relationship Type="http://schemas.openxmlformats.org/officeDocument/2006/relationships/notesSlide" Target="/ppt/notesSlides/notesSlide9.xml" Id="R8789532dcf294a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39a559fbf64c16" /><Relationship Type="http://schemas.openxmlformats.org/officeDocument/2006/relationships/notesSlide" Target="/ppt/notesSlides/notesSlide10.xml" Id="Rad70d1e9de6547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9d53d696d34001" /><Relationship Type="http://schemas.openxmlformats.org/officeDocument/2006/relationships/notesSlide" Target="/ppt/notesSlides/notesSlide11.xml" Id="R51b5914d53274e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4c789623b945ac" /><Relationship Type="http://schemas.openxmlformats.org/officeDocument/2006/relationships/notesSlide" Target="/ppt/notesSlides/notesSlide12.xml" Id="R3adc8d40421e4e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e4c1865827144bb" /><Relationship Type="http://schemas.openxmlformats.org/officeDocument/2006/relationships/chart" Target="/ppt/slides/charts/chart2.xml" Id="Rd972d16f39d943c5" /><Relationship Type="http://schemas.openxmlformats.org/officeDocument/2006/relationships/notesSlide" Target="/ppt/notesSlides/notesSlide13.xml" Id="Rcb339813cd6a4b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3f47b0e675d490f" /><Relationship Type="http://schemas.openxmlformats.org/officeDocument/2006/relationships/chart" Target="/ppt/slides/charts/chart3.xml" Id="R9369faa8bacc4710" /><Relationship Type="http://schemas.openxmlformats.org/officeDocument/2006/relationships/notesSlide" Target="/ppt/notesSlides/notesSlide14.xml" Id="R2a50f29699024f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677e0272a0414e" /><Relationship Type="http://schemas.openxmlformats.org/officeDocument/2006/relationships/chart" Target="/ppt/slides/charts/chart4.xml" Id="R3727124f6595444c" /><Relationship Type="http://schemas.openxmlformats.org/officeDocument/2006/relationships/notesSlide" Target="/ppt/notesSlides/notesSlide15.xml" Id="Rd549b335a3d64c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926c3a0aab2498b" /><Relationship Type="http://schemas.openxmlformats.org/officeDocument/2006/relationships/chart" Target="/ppt/slides/charts/chart5.xml" Id="Rea3f21592980439d" /><Relationship Type="http://schemas.openxmlformats.org/officeDocument/2006/relationships/notesSlide" Target="/ppt/notesSlides/notesSlide16.xml" Id="R3ff358a377b445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66d925bc4ce4d67" /><Relationship Type="http://schemas.openxmlformats.org/officeDocument/2006/relationships/notesSlide" Target="/ppt/notesSlides/notesSlide17.xml" Id="R11830f05eca648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7d0fd9a9e754347" /><Relationship Type="http://schemas.openxmlformats.org/officeDocument/2006/relationships/notesSlide" Target="/ppt/notesSlides/notesSlide18.xml" Id="R144b24d3b1184a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4d5736b13be4803" /><Relationship Type="http://schemas.openxmlformats.org/officeDocument/2006/relationships/notesSlide" Target="/ppt/notesSlides/notesSlide19.xml" Id="R2cb37994829d4e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7f3d6c4adcb4016" /><Relationship Type="http://schemas.openxmlformats.org/officeDocument/2006/relationships/notesSlide" Target="/ppt/notesSlides/notesSlide20.xml" Id="R332d24cc2f744c1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dd288156b1348c5" /><Relationship Type="http://schemas.openxmlformats.org/officeDocument/2006/relationships/notesSlide" Target="/ppt/notesSlides/notesSlide21.xml" Id="R59437410307f4c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207932707d14b32" /><Relationship Type="http://schemas.openxmlformats.org/officeDocument/2006/relationships/notesSlide" Target="/ppt/notesSlides/notesSlide22.xml" Id="Rd399a8682ec3452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dba33a1ad744587" /><Relationship Type="http://schemas.openxmlformats.org/officeDocument/2006/relationships/notesSlide" Target="/ppt/notesSlides/notesSlide23.xml" Id="R45cb296270854f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76c7d4538834c14" /><Relationship Type="http://schemas.openxmlformats.org/officeDocument/2006/relationships/notesSlide" Target="/ppt/notesSlides/notesSlide24.xml" Id="R4344f85ae4f2453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be763d419394164" /><Relationship Type="http://schemas.openxmlformats.org/officeDocument/2006/relationships/notesSlide" Target="/ppt/notesSlides/notesSlide25.xml" Id="R6f343b76a14b4e4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Published overall OAR</c:v>
          </c:tx>
          <c:spPr>
            <a:solidFill xmlns:a="http://schemas.openxmlformats.org/drawingml/2006/main">
              <a:srgbClr val="7BADC9"/>
            </a:solidFill>
            <a:ln xmlns:a="http://schemas.openxmlformats.org/drawingml/2006/main" w="28575">
              <a:solidFill>
                <a:srgbClr val="304F65"/>
              </a:solidFill>
            </a:ln>
          </c:spPr>
          <c:marker>
            <c:symbol val="none"/>
          </c:marker>
          <c:cat>
            <c:numRef>
              <c:f>'Chart Data'!$A$2:$A$10</c:f>
              <c:numCache>
                <c:formatCode>General</c:formatCode>
                <c:ptCount val="9"/>
                <c:pt idx="0">
                  <c:v>2017</c:v>
                </c:pt>
                <c:pt idx="1">
                  <c:v>2018</c:v>
                </c:pt>
                <c:pt idx="2">
                  <c:v>2019</c:v>
                </c:pt>
                <c:pt idx="3">
                  <c:v>2020</c:v>
                </c:pt>
                <c:pt idx="4">
                  <c:v>2021</c:v>
                </c:pt>
                <c:pt idx="5">
                  <c:v>2022</c:v>
                </c:pt>
                <c:pt idx="6">
                  <c:v>2023</c:v>
                </c:pt>
                <c:pt idx="7">
                  <c:v>2024</c:v>
                </c:pt>
                <c:pt idx="8">
                  <c:v>2025</c:v>
                </c:pt>
              </c:numCache>
            </c:numRef>
          </c:cat>
          <c:val>
            <c:numRef>
              <c:f>'Chart Data'!$B$2:$B$10</c:f>
              <c:numCache>
                <c:formatCode>0.00</c:formatCode>
                <c:ptCount val="9"/>
                <c:pt idx="0">
                  <c:v>0.74</c:v>
                </c:pt>
                <c:pt idx="1">
                  <c:v>0.82</c:v>
                </c:pt>
                <c:pt idx="2">
                  <c:v>0.96</c:v>
                </c:pt>
                <c:pt idx="3">
                  <c:v>1.46</c:v>
                </c:pt>
                <c:pt idx="4">
                  <c:v>2</c:v>
                </c:pt>
                <c:pt idx="5">
                  <c:v>1.33</c:v>
                </c:pt>
                <c:pt idx="6">
                  <c:v>0.81</c:v>
                </c:pt>
                <c:pt idx="7">
                  <c:v>0.85</c:v>
                </c:pt>
                <c:pt idx="8">
                  <c:v>1.11</c:v>
                </c:pt>
              </c:numCache>
            </c:numRef>
          </c:val>
          <c:smooth val="0"/>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2.5"/>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Published OAR (1 = expectation)</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error</c:v>
          </c:tx>
          <c:spPr>
            <a:solidFill xmlns:a="http://schemas.openxmlformats.org/drawingml/2006/main">
              <a:srgbClr val="7BADC9"/>
            </a:solidFill>
          </c:spPr>
          <c:cat>
            <c:strRef>
              <c:f>'Chart Data'!$A$2:$A$4</c:f>
              <c:strCache>
                <c:ptCount val="3"/>
                <c:pt idx="0">
                  <c:v>History
Ridge</c:v>
                </c:pt>
                <c:pt idx="1">
                  <c:v>History +
acceptance</c:v>
                </c:pt>
                <c:pt idx="2">
                  <c:v>Simple
historical mean</c:v>
                </c:pt>
              </c:strCache>
            </c:strRef>
          </c:cat>
          <c:val>
            <c:numRef>
              <c:f>'Chart Data'!$B$2:$B$4</c:f>
              <c:numCache>
                <c:formatCode>0.00</c:formatCode>
                <c:ptCount val="3"/>
                <c:pt idx="0">
                  <c:v>11.488</c:v>
                </c:pt>
                <c:pt idx="1">
                  <c:v>7.348</c:v>
                </c:pt>
                <c:pt idx="2">
                  <c:v>7.609</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Error in percentage points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c:v>
          </c:tx>
          <c:spPr>
            <a:solidFill xmlns:a="http://schemas.openxmlformats.org/drawingml/2006/main">
              <a:srgbClr val="7BADC9"/>
            </a:solidFill>
          </c:spPr>
          <c:cat>
            <c:numRef>
              <c:f>'Chart Data'!$A$2:$A$6</c:f>
              <c:numCache>
                <c:formatCode>General</c:formatCode>
                <c:ptCount val="5"/>
                <c:pt idx="0">
                  <c:v>1</c:v>
                </c:pt>
                <c:pt idx="1">
                  <c:v>2</c:v>
                </c:pt>
                <c:pt idx="2">
                  <c:v>3</c:v>
                </c:pt>
                <c:pt idx="3">
                  <c:v>4</c:v>
                </c:pt>
                <c:pt idx="4">
                  <c:v>5</c:v>
                </c:pt>
              </c:numCache>
            </c:numRef>
          </c:cat>
          <c:val>
            <c:numRef>
              <c:f>'Chart Data'!$B$2:$B$6</c:f>
              <c:numCache>
                <c:formatCode>0</c:formatCode>
                <c:ptCount val="5"/>
                <c:pt idx="0">
                  <c:v>3</c:v>
                </c:pt>
                <c:pt idx="1">
                  <c:v>212</c:v>
                </c:pt>
                <c:pt idx="2">
                  <c:v>0</c:v>
                </c:pt>
                <c:pt idx="3">
                  <c:v>0</c:v>
                </c:pt>
                <c:pt idx="4">
                  <c:v>0</c:v>
                </c:pt>
              </c:numCache>
            </c:numRef>
          </c:val>
        </c:ser>
        <c:ser>
          <c:idx val="1"/>
          <c:order val="1"/>
          <c:tx>
            <c:v>Evaluation</c:v>
          </c:tx>
          <c:spPr>
            <a:solidFill xmlns:a="http://schemas.openxmlformats.org/drawingml/2006/main">
              <a:srgbClr val="304F65"/>
            </a:solidFill>
          </c:spPr>
          <c:cat>
            <c:numRef>
              <c:f>'Chart Data'!$C$2:$C$6</c:f>
              <c:numCache>
                <c:formatCode>General</c:formatCode>
                <c:ptCount val="5"/>
                <c:pt idx="0">
                  <c:v>1</c:v>
                </c:pt>
                <c:pt idx="1">
                  <c:v>2</c:v>
                </c:pt>
                <c:pt idx="2">
                  <c:v>3</c:v>
                </c:pt>
                <c:pt idx="3">
                  <c:v>4</c:v>
                </c:pt>
                <c:pt idx="4">
                  <c:v>5</c:v>
                </c:pt>
              </c:numCache>
            </c:numRef>
          </c:cat>
          <c:val>
            <c:numRef>
              <c:f>'Chart Data'!$D$2:$D$6</c:f>
              <c:numCache>
                <c:formatCode>0</c:formatCode>
                <c:ptCount val="5"/>
                <c:pt idx="0">
                  <c:v>1</c:v>
                </c:pt>
                <c:pt idx="1">
                  <c:v>1</c:v>
                </c:pt>
                <c:pt idx="2">
                  <c:v>1</c:v>
                </c:pt>
                <c:pt idx="3">
                  <c:v>7</c:v>
                </c:pt>
                <c:pt idx="4">
                  <c:v>208</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240"/>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Number of programs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c:v>
          </c:tx>
          <c:spPr>
            <a:solidFill xmlns:a="http://schemas.openxmlformats.org/drawingml/2006/main">
              <a:srgbClr val="7BADC9"/>
            </a:solidFill>
          </c:spPr>
          <c:cat>
            <c:strRef>
              <c:f>'Chart Data'!$A$2:$A$3</c:f>
              <c:strCache>
                <c:ptCount val="2"/>
                <c:pt idx="0">
                  <c:v>History Ridge</c:v>
                </c:pt>
                <c:pt idx="1">
                  <c:v>History +
acceptance</c:v>
                </c:pt>
              </c:strCache>
            </c:strRef>
          </c:cat>
          <c:val>
            <c:numRef>
              <c:f>'Chart Data'!$B$2:$B$3</c:f>
              <c:numCache>
                <c:formatCode>0.00</c:formatCode>
                <c:ptCount val="2"/>
                <c:pt idx="0">
                  <c:v>11.488</c:v>
                </c:pt>
                <c:pt idx="1">
                  <c:v>7.348</c:v>
                </c:pt>
              </c:numCache>
            </c:numRef>
          </c:val>
        </c:ser>
        <c:ser>
          <c:idx val="1"/>
          <c:order val="1"/>
          <c:tx>
            <c:v>Report count removed</c:v>
          </c:tx>
          <c:spPr>
            <a:solidFill xmlns:a="http://schemas.openxmlformats.org/drawingml/2006/main">
              <a:srgbClr val="304F65"/>
            </a:solidFill>
          </c:spPr>
          <c:cat>
            <c:strRef>
              <c:f>'Chart Data'!$C$2:$C$3</c:f>
              <c:strCache>
                <c:ptCount val="2"/>
                <c:pt idx="0">
                  <c:v>History Ridge</c:v>
                </c:pt>
                <c:pt idx="1">
                  <c:v>History +
acceptance</c:v>
                </c:pt>
              </c:strCache>
            </c:strRef>
          </c:cat>
          <c:val>
            <c:numRef>
              <c:f>'Chart Data'!$D$2:$D$3</c:f>
              <c:numCache>
                <c:formatCode>0.00</c:formatCode>
                <c:ptCount val="2"/>
                <c:pt idx="0">
                  <c:v>7.32</c:v>
                </c:pt>
                <c:pt idx="1">
                  <c:v>7.226</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Error in percentage points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 share</c:v>
          </c:tx>
          <c:spPr>
            <a:solidFill xmlns:a="http://schemas.openxmlformats.org/drawingml/2006/main">
              <a:srgbClr val="7BADC9"/>
            </a:solidFill>
          </c:spPr>
          <c:cat>
            <c:strRef>
              <c:f>'Chart Data'!$A$2:$A$5</c:f>
              <c:strCache>
                <c:ptCount val="4"/>
                <c:pt idx="0">
                  <c:v>Deceased donor
functioning</c:v>
                </c:pt>
                <c:pt idx="1">
                  <c:v>Living donor
functioning</c:v>
                </c:pt>
                <c:pt idx="2">
                  <c:v>Deceased donor
unknown</c:v>
                </c:pt>
                <c:pt idx="3">
                  <c:v>Living donor
unknown</c:v>
                </c:pt>
              </c:strCache>
            </c:strRef>
          </c:cat>
          <c:val>
            <c:numRef>
              <c:f>'Chart Data'!$B$2:$B$5</c:f>
              <c:numCache>
                <c:formatCode>0.00%</c:formatCode>
                <c:ptCount val="4"/>
                <c:pt idx="0">
                  <c:v>0.14416058394</c:v>
                </c:pt>
                <c:pt idx="1">
                  <c:v>0.03102189781</c:v>
                </c:pt>
                <c:pt idx="2">
                  <c:v>0.1897810219</c:v>
                </c:pt>
                <c:pt idx="3">
                  <c:v>0.040145985401</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0.25"/>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Share of original listing group</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AD75FED6-38D0-DE9C-92C0-6E7FA635581C}" type="slidenum">
              <a:rPr sz="900">
                <a:solidFill>
                  <a:srgbClr val="333333"/>
                </a:solidFill>
                <a:latin typeface="Helvetica Neue"/>
                <a:ea typeface="Helvetica Neue"/>
                <a:cs typeface="Helvetica Neue"/>
              </a:rPr>
              <a:t>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Kidney Acceptance Signal Monitor</a:t>
            </a:r>
          </a:p>
        </p:txBody>
      </p:sp>
      <p:sp>
        <p:nvSpPr>
          <p:cNvPr id="534" name="purpose">
            <a:extLst xmlns:a="http://schemas.openxmlformats.org/drawingml/2006/main">
              <a:ext uri="{FF2B5EF4-FFF2-40B4-BE49-F238E27FC236}">
                <a16:creationId xmlns:a16="http://schemas.microsoft.com/office/drawing/2014/main" id="{82C6768E-6651-4D59-A4B0-943F64920467}"/>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Goal: use public reports to study kidney programs over time and test predictions of later published measures.</a:t>
            </a:r>
          </a:p>
        </p:txBody>
      </p:sp>
      <p:sp>
        <p:nvSpPr>
          <p:cNvPr id="535" name="left-heading">
            <a:extLst xmlns:a="http://schemas.openxmlformats.org/drawingml/2006/main">
              <a:ext uri="{FF2B5EF4-FFF2-40B4-BE49-F238E27FC236}">
                <a16:creationId xmlns:a16="http://schemas.microsoft.com/office/drawing/2014/main" id="{20D6B66D-9F37-487D-9262-8115CD1E329A}"/>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V1: a historical monitor</a:t>
            </a:r>
          </a:p>
        </p:txBody>
      </p:sp>
      <p:sp>
        <p:nvSpPr>
          <p:cNvPr id="536" name="right-heading">
            <a:extLst xmlns:a="http://schemas.openxmlformats.org/drawingml/2006/main">
              <a:ext uri="{FF2B5EF4-FFF2-40B4-BE49-F238E27FC236}">
                <a16:creationId xmlns:a16="http://schemas.microsoft.com/office/drawing/2014/main" id="{1C531503-6B54-461E-A920-CDEA2CE78EFE}"/>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V2: an exploratory study</a:t>
            </a:r>
          </a:p>
        </p:txBody>
      </p:sp>
      <p:sp>
        <p:nvSpPr>
          <p:cNvPr id="537" name="left-explanation">
            <a:extLst xmlns:a="http://schemas.openxmlformats.org/drawingml/2006/main">
              <a:ext uri="{FF2B5EF4-FFF2-40B4-BE49-F238E27FC236}">
                <a16:creationId xmlns:a16="http://schemas.microsoft.com/office/drawing/2014/main" id="{ED881A43-6F33-4613-80CE-0F06CD5EC6A7}"/>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Build a historical screening monitor using SRTR's published offer-acceptance ratios.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Test whether a model improves on carrying the latest value forward.</a:t>
            </a:r>
          </a:p>
        </p:txBody>
      </p:sp>
      <p:sp>
        <p:nvSpPr>
          <p:cNvPr id="538" name="right-explanation">
            <a:extLst xmlns:a="http://schemas.openxmlformats.org/drawingml/2006/main">
              <a:ext uri="{FF2B5EF4-FFF2-40B4-BE49-F238E27FC236}">
                <a16:creationId xmlns:a16="http://schemas.microsoft.com/office/drawing/2014/main" id="{8457576B-0E24-475B-8944-FC4C608611DD}"/>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Ask whether earlier acceptance and transplant access measures add predictive information.</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Outcome: the percentage of listed candidates known alive with a functioning transplant 18 months after listing.</a:t>
            </a:r>
          </a:p>
        </p:txBody>
      </p:sp>
      <p:sp>
        <p:nvSpPr>
          <p:cNvPr id="539" name="conclusion">
            <a:extLst xmlns:a="http://schemas.openxmlformats.org/drawingml/2006/main">
              <a:ext uri="{FF2B5EF4-FFF2-40B4-BE49-F238E27FC236}">
                <a16:creationId xmlns:a16="http://schemas.microsoft.com/office/drawing/2014/main" id="{EF43BA50-DF5C-41B8-A82F-BB9DFF4C7B3B}"/>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walkthrough connects source data, quality checks and model comparisons with a working reporting app.</a:t>
            </a:r>
          </a:p>
        </p:txBody>
      </p:sp>
      <p:sp>
        <p:nvSpPr>
          <p:cNvPr id="540" name="source-caption">
            <a:extLst xmlns:a="http://schemas.openxmlformats.org/drawingml/2006/main">
              <a:ext uri="{FF2B5EF4-FFF2-40B4-BE49-F238E27FC236}">
                <a16:creationId xmlns:a16="http://schemas.microsoft.com/office/drawing/2014/main" id="{5CA1B17B-92F2-4E25-AE75-D70B3B47CD2F}"/>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Independent portfolio project using public aggregate SRTR data.</a:t>
            </a:r>
          </a:p>
        </p:txBody>
      </p:sp>
      <p:sp>
        <p:nvSpPr>
          <p:cNvPr id="541" name="claim-boundary">
            <a:extLst xmlns:a="http://schemas.openxmlformats.org/drawingml/2006/main">
              <a:ext uri="{FF2B5EF4-FFF2-40B4-BE49-F238E27FC236}">
                <a16:creationId xmlns:a16="http://schemas.microsoft.com/office/drawing/2014/main" id="{1AB513A3-1217-451E-BCCC-B6AACE8B9D9B}"/>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2598689-54C9-18A7-3A19-ED76AA08988F}" type="slidenum">
              <a:rPr sz="900">
                <a:solidFill>
                  <a:srgbClr val="333333"/>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SRTR and the source data</a:t>
            </a:r>
          </a:p>
        </p:txBody>
      </p:sp>
      <p:sp>
        <p:nvSpPr>
          <p:cNvPr id="534" name="source-bullets">
            <a:extLst xmlns:a="http://schemas.openxmlformats.org/drawingml/2006/main">
              <a:ext uri="{FF2B5EF4-FFF2-40B4-BE49-F238E27FC236}">
                <a16:creationId xmlns:a16="http://schemas.microsoft.com/office/drawing/2014/main" id="{7A6B8165-34BF-4565-AC12-7BB8F38E269E}"/>
              </a:ext>
            </a:extLst>
          </p:cNvPr>
          <p:cNvSpPr>
            <a:spLocks xmlns:a="http://schemas.openxmlformats.org/drawingml/2006/main" noGrp="1"/>
          </p:cNvSpPr>
          <p:nvPr/>
        </p:nvSpPr>
        <p:spPr>
          <a:xfrm xmlns:a="http://schemas.openxmlformats.org/drawingml/2006/main">
            <a:off x="390525" y="1400175"/>
            <a:ext cx="1122045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The Scientific Registry of Transplant Recipients (SRTR) publishes Program-Specific Reports (PSRs).</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Public Excel workbooks contain summaries for each transplant program. This project uses kidney programs.</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Nine saved releases span October 2018 to July 2026, covering offer acceptance, transplant access and candidate outcomes.</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Each table has its own population, measurement period and units. The publication date tells us when it became public.</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Program code plus program type links records across reports. Missing and suppressed values remain unknown.</a:t>
            </a:r>
          </a:p>
        </p:txBody>
      </p:sp>
      <p:sp>
        <p:nvSpPr>
          <p:cNvPr id="535" name="source-caption">
            <a:extLst xmlns:a="http://schemas.openxmlformats.org/drawingml/2006/main">
              <a:ext uri="{FF2B5EF4-FFF2-40B4-BE49-F238E27FC236}">
                <a16:creationId xmlns:a16="http://schemas.microsoft.com/office/drawing/2014/main" id="{135A1BFD-71B3-422D-B539-E57695A1137B}"/>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Source: SRTR national program tables. Nine selected releases, October 2018 to July 2026.</a:t>
            </a:r>
          </a:p>
        </p:txBody>
      </p:sp>
      <p:sp>
        <p:nvSpPr>
          <p:cNvPr id="536" name="claim-boundary">
            <a:extLst xmlns:a="http://schemas.openxmlformats.org/drawingml/2006/main">
              <a:ext uri="{FF2B5EF4-FFF2-40B4-BE49-F238E27FC236}">
                <a16:creationId xmlns:a16="http://schemas.microsoft.com/office/drawing/2014/main" id="{5153F59C-DB39-4472-9EB8-8B4D5D8548D8}"/>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202359C0-8A7A-196E-DD58-8E6569619F09}" type="slidenum">
              <a:rPr sz="900">
                <a:solidFill>
                  <a:srgbClr val="333333"/>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 small sample of the kidney workbook</a:t>
            </a:r>
          </a:p>
        </p:txBody>
      </p:sp>
      <p:sp>
        <p:nvSpPr>
          <p:cNvPr id="534" name="table-grain">
            <a:extLst xmlns:a="http://schemas.openxmlformats.org/drawingml/2006/main">
              <a:ext uri="{FF2B5EF4-FFF2-40B4-BE49-F238E27FC236}">
                <a16:creationId xmlns:a16="http://schemas.microsoft.com/office/drawing/2014/main" id="{421BC283-316B-446F-9500-C157F2C94E2D}"/>
              </a:ext>
            </a:extLst>
          </p:cNvPr>
          <p:cNvSpPr>
            <a:spLocks xmlns:a="http://schemas.openxmlformats.org/drawingml/2006/main" noGrp="1"/>
          </p:cNvSpPr>
          <p:nvPr/>
        </p:nvSpPr>
        <p:spPr>
          <a:xfrm xmlns:a="http://schemas.openxmlformats.org/drawingml/2006/main">
            <a:off x="390525" y="1104900"/>
            <a:ext cx="11401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Table B7: candidate status 18 months after listing</a:t>
            </a:r>
          </a:p>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One row describes one kidney program and its listing group.</a:t>
            </a:r>
          </a:p>
        </p:txBody>
      </p:sp>
      <p:sp>
        <p:nvSpPr>
          <p:cNvPr id="535" name="source-dates">
            <a:extLst xmlns:a="http://schemas.openxmlformats.org/drawingml/2006/main">
              <a:ext uri="{FF2B5EF4-FFF2-40B4-BE49-F238E27FC236}">
                <a16:creationId xmlns:a16="http://schemas.microsoft.com/office/drawing/2014/main" id="{096A6954-3DB5-4B3A-9FA6-8EEDE23E5916}"/>
              </a:ext>
            </a:extLst>
          </p:cNvPr>
          <p:cNvSpPr>
            <a:spLocks xmlns:a="http://schemas.openxmlformats.org/drawingml/2006/main" noGrp="1"/>
          </p:cNvSpPr>
          <p:nvPr/>
        </p:nvSpPr>
        <p:spPr>
          <a:xfrm xmlns:a="http://schemas.openxmlformats.org/drawingml/2006/main">
            <a:off x="390525" y="1924050"/>
            <a:ext cx="11401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a:solidFill>
                  <a:srgbClr val="222222"/>
                </a:solidFill>
                <a:latin typeface="Helvetica Neue"/>
                <a:ea typeface="Helvetica Neue"/>
                <a:cs typeface="Helvetica Neue"/>
              </a:defRPr>
            </a:pPr>
            <a:r>
              <a:rPr sz="1725">
                <a:solidFill>
                  <a:srgbClr val="222222"/>
                </a:solidFill>
                <a:latin typeface="Helvetica Neue"/>
                <a:ea typeface="Helvetica Neue"/>
                <a:cs typeface="Helvetica Neue"/>
              </a:rPr>
              <a:t>Listing period: July 1, 2022 to June 30, 2023. Published July 8, 2025.</a:t>
            </a:r>
          </a:p>
        </p:txBody>
      </p:sp>
      <p:graphicFrame>
        <p:nvGraphicFramePr>
          <p:cNvPr id="546" name=""/>
          <p:cNvGraphicFramePr/>
          <p:nvPr/>
        </p:nvGraphicFramePr>
        <p:xfrm>
          <a:off xmlns:a="http://schemas.openxmlformats.org/drawingml/2006/main" x="393697" y="2457450"/>
          <a:ext xmlns:a="http://schemas.openxmlformats.org/drawingml/2006/main" cx="11404568" cy="2238375"/>
        </p:xfrm>
        <a:graphic xmlns:a="http://schemas.openxmlformats.org/drawingml/2006/main">
          <a:graphicData uri="http://schemas.openxmlformats.org/drawingml/2006/table">
            <a:tbl>
              <a:tblPr/>
              <a:tblGrid>
                <a:gridCol w="2143125"/>
                <a:gridCol w="2143125"/>
                <a:gridCol w="2781300"/>
                <a:gridCol w="4337018"/>
              </a:tblGrid>
              <a:tr h="685800">
                <a:tc>
                  <a:txBody>
                    <a:bodyPr/>
                    <a:lstStyle/>
                    <a:p>
                      <a:r>
                        <a:rPr sz="1875" b="1">
                          <a:solidFill>
                            <a:srgbClr val="000000"/>
                          </a:solidFill>
                          <a:latin typeface="Helvetica Neue"/>
                          <a:ea typeface="Helvetica Neue"/>
                          <a:cs typeface="Helvetica Neue"/>
                        </a:rPr>
                        <a:t>Program code</a:t>
                      </a:r>
                    </a:p>
                  </a:txBody>
                  <a:tcPr marL="95250" marR="95250" marT="57150" marB="57150">
                    <a:solidFill>
                      <a:srgbClr val="F2F2F2"/>
                    </a:solidFill>
                  </a:tcPr>
                </a:tc>
                <a:tc>
                  <a:txBody>
                    <a:bodyPr/>
                    <a:lstStyle/>
                    <a:p>
                      <a:r>
                        <a:rPr sz="1875" b="1">
                          <a:solidFill>
                            <a:srgbClr val="000000"/>
                          </a:solidFill>
                          <a:latin typeface="Helvetica Neue"/>
                          <a:ea typeface="Helvetica Neue"/>
                          <a:cs typeface="Helvetica Neue"/>
                        </a:rPr>
                        <a:t>Program type</a:t>
                      </a:r>
                    </a:p>
                  </a:txBody>
                  <a:tcPr marL="95250" marR="95250" marT="57150" marB="57150">
                    <a:solidFill>
                      <a:srgbClr val="F2F2F2"/>
                    </a:solidFill>
                  </a:tcPr>
                </a:tc>
                <a:tc>
                  <a:txBody>
                    <a:bodyPr/>
                    <a:lstStyle/>
                    <a:p>
                      <a:r>
                        <a:rPr sz="1875" b="1">
                          <a:solidFill>
                            <a:srgbClr val="000000"/>
                          </a:solidFill>
                          <a:latin typeface="Helvetica Neue"/>
                          <a:ea typeface="Helvetica Neue"/>
                          <a:cs typeface="Helvetica Neue"/>
                        </a:rPr>
                        <a:t>Candidates listed</a:t>
                      </a:r>
                    </a:p>
                  </a:txBody>
                  <a:tcPr marL="95250" marR="95250" marT="57150" marB="57150">
                    <a:solidFill>
                      <a:srgbClr val="F2F2F2"/>
                    </a:solidFill>
                  </a:tcPr>
                </a:tc>
                <a:tc>
                  <a:txBody>
                    <a:bodyPr/>
                    <a:lstStyle/>
                    <a:p>
                      <a:r>
                        <a:rPr sz="1875" b="1">
                          <a:solidFill>
                            <a:srgbClr val="000000"/>
                          </a:solidFill>
                          <a:latin typeface="Helvetica Neue"/>
                          <a:ea typeface="Helvetica Neue"/>
                          <a:cs typeface="Helvetica Neue"/>
                        </a:rPr>
                        <a:t>Known functioning</a:t>
                      </a:r>
                    </a:p>
                    <a:p>
                      <a:r>
                        <a:rPr sz="1875" b="1">
                          <a:solidFill>
                            <a:srgbClr val="000000"/>
                          </a:solidFill>
                          <a:latin typeface="Helvetica Neue"/>
                          <a:ea typeface="Helvetica Neue"/>
                          <a:cs typeface="Helvetica Neue"/>
                        </a:rPr>
                        <a:t>transplant (%)</a:t>
                      </a:r>
                    </a:p>
                  </a:txBody>
                  <a:tcPr marL="95250" marR="95250" marT="57150" marB="57150">
                    <a:solidFill>
                      <a:srgbClr val="F2F2F2"/>
                    </a:solidFill>
                  </a:tcPr>
                </a:tc>
              </a:tr>
              <a:tr h="400050">
                <a:tc>
                  <a:txBody>
                    <a:bodyPr/>
                    <a:lstStyle/>
                    <a:p>
                      <a:r>
                        <a:rPr sz="1500">
                          <a:solidFill>
                            <a:srgbClr val="555555"/>
                          </a:solidFill>
                          <a:latin typeface="Helvetica Neue"/>
                          <a:ea typeface="Helvetica Neue"/>
                          <a:cs typeface="Helvetica Neue"/>
                        </a:rPr>
                        <a:t>CTR_CD</a:t>
                      </a:r>
                    </a:p>
                  </a:txBody>
                  <a:tcPr marL="95250" marR="95250" marT="57150" marB="57150">
                    <a:solidFill>
                      <a:srgbClr val="F7F7F7"/>
                    </a:solidFill>
                  </a:tcPr>
                </a:tc>
                <a:tc>
                  <a:txBody>
                    <a:bodyPr/>
                    <a:lstStyle/>
                    <a:p>
                      <a:r>
                        <a:rPr sz="1500">
                          <a:solidFill>
                            <a:srgbClr val="555555"/>
                          </a:solidFill>
                          <a:latin typeface="Helvetica Neue"/>
                          <a:ea typeface="Helvetica Neue"/>
                          <a:cs typeface="Helvetica Neue"/>
                        </a:rPr>
                        <a:t>CTR_TY</a:t>
                      </a:r>
                    </a:p>
                  </a:txBody>
                  <a:tcPr marL="95250" marR="95250" marT="57150" marB="57150">
                    <a:solidFill>
                      <a:srgbClr val="F7F7F7"/>
                    </a:solidFill>
                  </a:tcPr>
                </a:tc>
                <a:tc>
                  <a:txBody>
                    <a:bodyPr/>
                    <a:lstStyle/>
                    <a:p>
                      <a:r>
                        <a:rPr sz="1500">
                          <a:solidFill>
                            <a:srgbClr val="555555"/>
                          </a:solidFill>
                          <a:latin typeface="Helvetica Neue"/>
                          <a:ea typeface="Helvetica Neue"/>
                          <a:cs typeface="Helvetica Neue"/>
                        </a:rPr>
                        <a:t>SAL_N_C</a:t>
                      </a:r>
                    </a:p>
                  </a:txBody>
                  <a:tcPr marL="95250" marR="95250" marT="57150" marB="57150">
                    <a:solidFill>
                      <a:srgbClr val="F7F7F7"/>
                    </a:solidFill>
                  </a:tcPr>
                </a:tc>
                <a:tc>
                  <a:txBody>
                    <a:bodyPr/>
                    <a:lstStyle/>
                    <a:p>
                      <a:r>
                        <a:rPr sz="1500">
                          <a:solidFill>
                            <a:srgbClr val="555555"/>
                          </a:solidFill>
                          <a:latin typeface="Helvetica Neue"/>
                          <a:ea typeface="Helvetica Neue"/>
                          <a:cs typeface="Helvetica Neue"/>
                        </a:rPr>
                        <a:t>SAL_TOTFTX_C18</a:t>
                      </a:r>
                    </a:p>
                  </a:txBody>
                  <a:tcPr marL="95250" marR="95250" marT="57150" marB="57150">
                    <a:solidFill>
                      <a:srgbClr val="F7F7F7"/>
                    </a:solidFill>
                  </a:tcPr>
                </a:tc>
              </a:tr>
              <a:tr h="409575">
                <a:tc>
                  <a:txBody>
                    <a:bodyPr/>
                    <a:lstStyle/>
                    <a:p>
                      <a:r>
                        <a:rPr sz="1950">
                          <a:solidFill>
                            <a:srgbClr val="000000"/>
                          </a:solidFill>
                          <a:latin typeface="Helvetica Neue"/>
                          <a:ea typeface="Helvetica Neue"/>
                          <a:cs typeface="Helvetica Neue"/>
                        </a:rPr>
                        <a:t>ALCH</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TX1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17</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58.82%</a:t>
                      </a:r>
                    </a:p>
                  </a:txBody>
                  <a:tcPr marL="95250" marR="95250" marT="57150" marB="57150">
                    <a:solidFill>
                      <a:srgbClr val="FFFFFF"/>
                    </a:solidFill>
                  </a:tcPr>
                </a:tc>
              </a:tr>
              <a:tr h="409575">
                <a:tc>
                  <a:txBody>
                    <a:bodyPr/>
                    <a:lstStyle/>
                    <a:p>
                      <a:r>
                        <a:rPr sz="1950">
                          <a:solidFill>
                            <a:srgbClr val="000000"/>
                          </a:solidFill>
                          <a:latin typeface="Helvetica Neue"/>
                          <a:ea typeface="Helvetica Neue"/>
                          <a:cs typeface="Helvetica Neue"/>
                        </a:rPr>
                        <a:t>ALUA</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TX1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548</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17.52%</a:t>
                      </a:r>
                    </a:p>
                  </a:txBody>
                  <a:tcPr marL="95250" marR="95250" marT="57150" marB="57150">
                    <a:solidFill>
                      <a:srgbClr val="FFFFFF"/>
                    </a:solidFill>
                  </a:tcPr>
                </a:tc>
              </a:tr>
              <a:tr h="409575">
                <a:tc>
                  <a:txBody>
                    <a:bodyPr/>
                    <a:lstStyle/>
                    <a:p>
                      <a:r>
                        <a:rPr sz="1950">
                          <a:solidFill>
                            <a:srgbClr val="000000"/>
                          </a:solidFill>
                          <a:latin typeface="Helvetica Neue"/>
                          <a:ea typeface="Helvetica Neue"/>
                          <a:cs typeface="Helvetica Neue"/>
                        </a:rPr>
                        <a:t>ALVA</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TX1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21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19.05%</a:t>
                      </a:r>
                    </a:p>
                  </a:txBody>
                  <a:tcPr marL="95250" marR="95250" marT="57150" marB="57150">
                    <a:solidFill>
                      <a:srgbClr val="FFFFFF"/>
                    </a:solidFill>
                  </a:tcPr>
                </a:tc>
              </a:tr>
            </a:tbl>
          </a:graphicData>
        </a:graphic>
      </p:graphicFrame>
      <p:sp>
        <p:nvSpPr>
          <p:cNvPr id="537" name="display-rounding">
            <a:extLst xmlns:a="http://schemas.openxmlformats.org/drawingml/2006/main">
              <a:ext uri="{FF2B5EF4-FFF2-40B4-BE49-F238E27FC236}">
                <a16:creationId xmlns:a16="http://schemas.microsoft.com/office/drawing/2014/main" id="{A39977C3-CF91-43D4-BAF9-4B6486DFBAA0}"/>
              </a:ext>
            </a:extLst>
          </p:cNvPr>
          <p:cNvSpPr>
            <a:spLocks xmlns:a="http://schemas.openxmlformats.org/drawingml/2006/main" noGrp="1"/>
          </p:cNvSpPr>
          <p:nvPr/>
        </p:nvSpPr>
        <p:spPr>
          <a:xfrm xmlns:a="http://schemas.openxmlformats.org/drawingml/2006/main">
            <a:off x="390525" y="4895850"/>
            <a:ext cx="11401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Selected columns from three source rows. Percentages rounded to two decimal places.</a:t>
            </a:r>
          </a:p>
        </p:txBody>
      </p:sp>
      <p:sp>
        <p:nvSpPr>
          <p:cNvPr id="538" name="example-meaning">
            <a:extLst xmlns:a="http://schemas.openxmlformats.org/drawingml/2006/main">
              <a:ext uri="{FF2B5EF4-FFF2-40B4-BE49-F238E27FC236}">
                <a16:creationId xmlns:a16="http://schemas.microsoft.com/office/drawing/2014/main" id="{81FBB0E8-A78E-400C-B811-F1191E50F768}"/>
              </a:ext>
            </a:extLst>
          </p:cNvPr>
          <p:cNvSpPr>
            <a:spLocks xmlns:a="http://schemas.openxmlformats.org/drawingml/2006/main" noGrp="1"/>
          </p:cNvSpPr>
          <p:nvPr/>
        </p:nvSpPr>
        <p:spPr>
          <a:xfrm xmlns:a="http://schemas.openxmlformats.org/drawingml/2006/main">
            <a:off x="390525" y="5219700"/>
            <a:ext cx="11401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222222"/>
                </a:solidFill>
                <a:latin typeface="Helvetica Neue"/>
                <a:ea typeface="Helvetica Neue"/>
                <a:cs typeface="Helvetica Neue"/>
              </a:defRPr>
            </a:pPr>
            <a:r>
              <a:rPr sz="1875">
                <a:solidFill>
                  <a:srgbClr val="222222"/>
                </a:solidFill>
                <a:latin typeface="Helvetica Neue"/>
                <a:ea typeface="Helvetica Neue"/>
                <a:cs typeface="Helvetica Neue"/>
              </a:rPr>
              <a:t>For ALUA, 17.52% of the 548 listed candidates were known alive with a functioning transplant at 18 months.</a:t>
            </a:r>
          </a:p>
        </p:txBody>
      </p:sp>
      <p:sp>
        <p:nvSpPr>
          <p:cNvPr id="539" name="denominator">
            <a:extLst xmlns:a="http://schemas.openxmlformats.org/drawingml/2006/main">
              <a:ext uri="{FF2B5EF4-FFF2-40B4-BE49-F238E27FC236}">
                <a16:creationId xmlns:a16="http://schemas.microsoft.com/office/drawing/2014/main" id="{AA662B82-D883-4647-B3B7-A7F2D5BCAF0B}"/>
              </a:ext>
            </a:extLst>
          </p:cNvPr>
          <p:cNvSpPr>
            <a:spLocks xmlns:a="http://schemas.openxmlformats.org/drawingml/2006/main" noGrp="1"/>
          </p:cNvSpPr>
          <p:nvPr/>
        </p:nvSpPr>
        <p:spPr>
          <a:xfrm xmlns:a="http://schemas.openxmlformats.org/drawingml/2006/main">
            <a:off x="390525" y="5838825"/>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The denominator includes everyone in the listing group. Living and deceased donors both count.</a:t>
            </a:r>
          </a:p>
        </p:txBody>
      </p:sp>
      <p:sp>
        <p:nvSpPr>
          <p:cNvPr id="540" name="source-caption">
            <a:extLst xmlns:a="http://schemas.openxmlformats.org/drawingml/2006/main">
              <a:ext uri="{FF2B5EF4-FFF2-40B4-BE49-F238E27FC236}">
                <a16:creationId xmlns:a16="http://schemas.microsoft.com/office/drawing/2014/main" id="{1237A88A-B06D-4298-B399-9F248429B1D1}"/>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Source: SRTR July 2025 kidney workbook, Table B7, Excel rows 3–5. Schema illustration only.</a:t>
            </a:r>
          </a:p>
        </p:txBody>
      </p:sp>
      <p:sp>
        <p:nvSpPr>
          <p:cNvPr id="541" name="claim-boundary">
            <a:extLst xmlns:a="http://schemas.openxmlformats.org/drawingml/2006/main">
              <a:ext uri="{FF2B5EF4-FFF2-40B4-BE49-F238E27FC236}">
                <a16:creationId xmlns:a16="http://schemas.microsoft.com/office/drawing/2014/main" id="{3BB371F1-53A5-419E-B1D0-48C4D43A1100}"/>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FD6AB9A-5F9E-5F59-51AB-3C8734130965}" type="slidenum">
              <a:rPr sz="900">
                <a:solidFill>
                  <a:srgbClr val="333333"/>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Data quality and reproducibility</a:t>
            </a:r>
          </a:p>
        </p:txBody>
      </p:sp>
      <p:sp>
        <p:nvSpPr>
          <p:cNvPr id="534" name="contract-meaning">
            <a:extLst xmlns:a="http://schemas.openxmlformats.org/drawingml/2006/main">
              <a:ext uri="{FF2B5EF4-FFF2-40B4-BE49-F238E27FC236}">
                <a16:creationId xmlns:a16="http://schemas.microsoft.com/office/drawing/2014/main" id="{348DBCA8-B529-4540-8748-0277C7CCA5FE}"/>
              </a:ext>
            </a:extLst>
          </p:cNvPr>
          <p:cNvSpPr>
            <a:spLocks xmlns:a="http://schemas.openxmlformats.org/drawingml/2006/main" noGrp="1"/>
          </p:cNvSpPr>
          <p:nvPr/>
        </p:nvSpPr>
        <p:spPr>
          <a:xfrm xmlns:a="http://schemas.openxmlformats.org/drawingml/2006/main">
            <a:off x="390525" y="1114425"/>
            <a:ext cx="11401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A data contract is an explicit set of rules the input must satisfy.</a:t>
            </a:r>
          </a:p>
        </p:txBody>
      </p:sp>
      <p:sp>
        <p:nvSpPr>
          <p:cNvPr id="535" name="qa-bullets">
            <a:extLst xmlns:a="http://schemas.openxmlformats.org/drawingml/2006/main">
              <a:ext uri="{FF2B5EF4-FFF2-40B4-BE49-F238E27FC236}">
                <a16:creationId xmlns:a16="http://schemas.microsoft.com/office/drawing/2014/main" id="{3BE5214D-1B18-44C0-962E-29BEC1010A5E}"/>
              </a:ext>
            </a:extLst>
          </p:cNvPr>
          <p:cNvSpPr>
            <a:spLocks xmlns:a="http://schemas.openxmlformats.org/drawingml/2006/main" noGrp="1"/>
          </p:cNvSpPr>
          <p:nvPr/>
        </p:nvSpPr>
        <p:spPr>
          <a:xfrm xmlns:a="http://schemas.openxmlformats.org/drawingml/2006/main">
            <a:off x="390525" y="1809750"/>
            <a:ext cx="11220450" cy="388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source: a file fingerprint confirms the saved version. A changed file needs review.</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structure: expected worksheets and named columns protect against reading the wrong fields.</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records: validate values, preserve missing data and match program identities.</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study rules: use appropriate dates and information already public at prediction time.</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Record the build: source files, settings and code versions let someone reproduce the result.</a:t>
            </a:r>
          </a:p>
        </p:txBody>
      </p:sp>
      <p:sp>
        <p:nvSpPr>
          <p:cNvPr id="536" name="qa-limits">
            <a:extLst xmlns:a="http://schemas.openxmlformats.org/drawingml/2006/main">
              <a:ext uri="{FF2B5EF4-FFF2-40B4-BE49-F238E27FC236}">
                <a16:creationId xmlns:a16="http://schemas.microsoft.com/office/drawing/2014/main" id="{8ABA37CF-BA6A-4E03-ABE2-F7F2A4FAB5F1}"/>
              </a:ext>
            </a:extLst>
          </p:cNvPr>
          <p:cNvSpPr>
            <a:spLocks xmlns:a="http://schemas.openxmlformats.org/drawingml/2006/main" noGrp="1"/>
          </p:cNvSpPr>
          <p:nvPr/>
        </p:nvSpPr>
        <p:spPr>
          <a:xfrm xmlns:a="http://schemas.openxmlformats.org/drawingml/2006/main">
            <a:off x="390525" y="5810250"/>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These checks catch specified problems. Matching files does not establish scientific correctness.</a:t>
            </a:r>
          </a:p>
        </p:txBody>
      </p:sp>
      <p:sp>
        <p:nvSpPr>
          <p:cNvPr id="537" name="source-caption">
            <a:extLst xmlns:a="http://schemas.openxmlformats.org/drawingml/2006/main">
              <a:ext uri="{FF2B5EF4-FFF2-40B4-BE49-F238E27FC236}">
                <a16:creationId xmlns:a16="http://schemas.microsoft.com/office/drawing/2014/main" id="{6CD4E842-4712-44C3-82F4-8B4375672EDB}"/>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Source: project source manifest, data reader and study specifications.</a:t>
            </a:r>
          </a:p>
        </p:txBody>
      </p:sp>
      <p:sp>
        <p:nvSpPr>
          <p:cNvPr id="538" name="claim-boundary">
            <a:extLst xmlns:a="http://schemas.openxmlformats.org/drawingml/2006/main">
              <a:ext uri="{FF2B5EF4-FFF2-40B4-BE49-F238E27FC236}">
                <a16:creationId xmlns:a16="http://schemas.microsoft.com/office/drawing/2014/main" id="{62AA8F84-FDEF-4996-8E37-317B6998FEF1}"/>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E5B3003-2C54-13C6-9832-7637201064DE}" type="slidenum">
              <a:rPr sz="900">
                <a:solidFill>
                  <a:srgbClr val="333333"/>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workbook tables contain different programs</a:t>
            </a:r>
          </a:p>
        </p:txBody>
      </p:sp>
      <p:sp>
        <p:nvSpPr>
          <p:cNvPr id="534" name="join-example-intro">
            <a:extLst xmlns:a="http://schemas.openxmlformats.org/drawingml/2006/main">
              <a:ext uri="{FF2B5EF4-FFF2-40B4-BE49-F238E27FC236}">
                <a16:creationId xmlns:a16="http://schemas.microsoft.com/office/drawing/2014/main" id="{BFEB2F4E-9A51-4B99-B246-2AFB9BACA887}"/>
              </a:ext>
            </a:extLst>
          </p:cNvPr>
          <p:cNvSpPr>
            <a:spLocks xmlns:a="http://schemas.openxmlformats.org/drawingml/2006/main" noGrp="1"/>
          </p:cNvSpPr>
          <p:nvPr/>
        </p:nvSpPr>
        <p:spPr>
          <a:xfrm xmlns:a="http://schemas.openxmlformats.org/drawingml/2006/main">
            <a:off x="390525" y="1171575"/>
            <a:ext cx="11401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same Excel row refers to different programs in these two tables.</a:t>
            </a:r>
          </a:p>
        </p:txBody>
      </p:sp>
      <p:graphicFrame>
        <p:nvGraphicFramePr>
          <p:cNvPr id="544" name=""/>
          <p:cNvGraphicFramePr/>
          <p:nvPr/>
        </p:nvGraphicFramePr>
        <p:xfrm>
          <a:off xmlns:a="http://schemas.openxmlformats.org/drawingml/2006/main" x="393697" y="2066925"/>
          <a:ext xmlns:a="http://schemas.openxmlformats.org/drawingml/2006/main" cx="11404568" cy="2476500"/>
        </p:xfrm>
        <a:graphic xmlns:a="http://schemas.openxmlformats.org/drawingml/2006/main">
          <a:graphicData uri="http://schemas.openxmlformats.org/drawingml/2006/table">
            <a:tbl>
              <a:tblPr/>
              <a:tblGrid>
                <a:gridCol w="1952625"/>
                <a:gridCol w="4724400"/>
                <a:gridCol w="4727543"/>
              </a:tblGrid>
              <a:tr h="781050">
                <a:tc>
                  <a:txBody>
                    <a:bodyPr/>
                    <a:lstStyle/>
                    <a:p>
                      <a:r>
                        <a:rPr sz="1950" b="1">
                          <a:solidFill>
                            <a:srgbClr val="000000"/>
                          </a:solidFill>
                          <a:latin typeface="Helvetica Neue"/>
                          <a:ea typeface="Helvetica Neue"/>
                          <a:cs typeface="Helvetica Neue"/>
                        </a:rPr>
                        <a:t>Excel row</a:t>
                      </a:r>
                    </a:p>
                  </a:txBody>
                  <a:tcPr marL="114300" marR="114300" marT="76200" marB="76200">
                    <a:solidFill>
                      <a:srgbClr val="F2F2F2"/>
                    </a:solidFill>
                  </a:tcPr>
                </a:tc>
                <a:tc>
                  <a:txBody>
                    <a:bodyPr/>
                    <a:lstStyle/>
                    <a:p>
                      <a:r>
                        <a:rPr sz="1950" b="1">
                          <a:solidFill>
                            <a:srgbClr val="000000"/>
                          </a:solidFill>
                          <a:latin typeface="Helvetica Neue"/>
                          <a:ea typeface="Helvetica Neue"/>
                          <a:cs typeface="Helvetica Neue"/>
                        </a:rPr>
                        <a:t>Table B7: outcomes</a:t>
                      </a:r>
                    </a:p>
                    <a:p>
                      <a:r>
                        <a:rPr sz="1950" b="1">
                          <a:solidFill>
                            <a:srgbClr val="000000"/>
                          </a:solidFill>
                          <a:latin typeface="Helvetica Neue"/>
                          <a:ea typeface="Helvetica Neue"/>
                          <a:cs typeface="Helvetica Neue"/>
                        </a:rPr>
                        <a:t>234 program records</a:t>
                      </a:r>
                    </a:p>
                  </a:txBody>
                  <a:tcPr marL="114300" marR="114300" marT="76200" marB="76200">
                    <a:solidFill>
                      <a:srgbClr val="F2F2F2"/>
                    </a:solidFill>
                  </a:tcPr>
                </a:tc>
                <a:tc>
                  <a:txBody>
                    <a:bodyPr/>
                    <a:lstStyle/>
                    <a:p>
                      <a:r>
                        <a:rPr sz="1950" b="1">
                          <a:solidFill>
                            <a:srgbClr val="000000"/>
                          </a:solidFill>
                          <a:latin typeface="Helvetica Neue"/>
                          <a:ea typeface="Helvetica Neue"/>
                          <a:cs typeface="Helvetica Neue"/>
                        </a:rPr>
                        <a:t>Table B11: acceptance</a:t>
                      </a:r>
                    </a:p>
                    <a:p>
                      <a:r>
                        <a:rPr sz="1950" b="1">
                          <a:solidFill>
                            <a:srgbClr val="000000"/>
                          </a:solidFill>
                          <a:latin typeface="Helvetica Neue"/>
                          <a:ea typeface="Helvetica Neue"/>
                          <a:cs typeface="Helvetica Neue"/>
                        </a:rPr>
                        <a:t>230 program records</a:t>
                      </a:r>
                    </a:p>
                  </a:txBody>
                  <a:tcPr marL="114300" marR="114300" marT="76200" marB="76200">
                    <a:solidFill>
                      <a:srgbClr val="F2F2F2"/>
                    </a:solidFill>
                  </a:tcPr>
                </a:tc>
              </a:tr>
              <a:tr h="523875">
                <a:tc>
                  <a:txBody>
                    <a:bodyPr/>
                    <a:lstStyle/>
                    <a:p>
                      <a:r>
                        <a:rPr sz="2175">
                          <a:solidFill>
                            <a:srgbClr val="000000"/>
                          </a:solidFill>
                          <a:latin typeface="Helvetica Neue"/>
                          <a:ea typeface="Helvetica Neue"/>
                          <a:cs typeface="Helvetica Neue"/>
                        </a:rPr>
                        <a:t>3</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ALCH:TX1</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PAUP:TX1</a:t>
                      </a:r>
                    </a:p>
                  </a:txBody>
                  <a:tcPr marL="114300" marR="114300" marT="76200" marB="76200">
                    <a:solidFill>
                      <a:srgbClr val="FFFFFF"/>
                    </a:solidFill>
                  </a:tcPr>
                </a:tc>
              </a:tr>
              <a:tr h="523875">
                <a:tc>
                  <a:txBody>
                    <a:bodyPr/>
                    <a:lstStyle/>
                    <a:p>
                      <a:r>
                        <a:rPr sz="2175">
                          <a:solidFill>
                            <a:srgbClr val="000000"/>
                          </a:solidFill>
                          <a:latin typeface="Helvetica Neue"/>
                          <a:ea typeface="Helvetica Neue"/>
                          <a:cs typeface="Helvetica Neue"/>
                        </a:rPr>
                        <a:t>4</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ALUA:TX1</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VANG:TX1</a:t>
                      </a:r>
                    </a:p>
                  </a:txBody>
                  <a:tcPr marL="114300" marR="114300" marT="76200" marB="76200">
                    <a:solidFill>
                      <a:srgbClr val="FFFFFF"/>
                    </a:solidFill>
                  </a:tcPr>
                </a:tc>
              </a:tr>
              <a:tr h="523875">
                <a:tc>
                  <a:txBody>
                    <a:bodyPr/>
                    <a:lstStyle/>
                    <a:p>
                      <a:r>
                        <a:rPr sz="2175">
                          <a:solidFill>
                            <a:srgbClr val="000000"/>
                          </a:solidFill>
                          <a:latin typeface="Helvetica Neue"/>
                          <a:ea typeface="Helvetica Neue"/>
                          <a:cs typeface="Helvetica Neue"/>
                        </a:rPr>
                        <a:t>5</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ALVA:TX1</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MDUM:TX1</a:t>
                      </a:r>
                    </a:p>
                  </a:txBody>
                  <a:tcPr marL="114300" marR="114300" marT="76200" marB="76200">
                    <a:solidFill>
                      <a:srgbClr val="FFFFFF"/>
                    </a:solidFill>
                  </a:tcPr>
                </a:tc>
              </a:tr>
            </a:tbl>
          </a:graphicData>
        </a:graphic>
      </p:graphicFrame>
      <p:sp>
        <p:nvSpPr>
          <p:cNvPr id="536" name="positional-join-error">
            <a:extLst xmlns:a="http://schemas.openxmlformats.org/drawingml/2006/main">
              <a:ext uri="{FF2B5EF4-FFF2-40B4-BE49-F238E27FC236}">
                <a16:creationId xmlns:a16="http://schemas.microsoft.com/office/drawing/2014/main" id="{B782FB38-E7F0-43C8-8A63-18ECE46DD996}"/>
              </a:ext>
            </a:extLst>
          </p:cNvPr>
          <p:cNvSpPr>
            <a:spLocks xmlns:a="http://schemas.openxmlformats.org/drawingml/2006/main" noGrp="1"/>
          </p:cNvSpPr>
          <p:nvPr/>
        </p:nvSpPr>
        <p:spPr>
          <a:xfrm xmlns:a="http://schemas.openxmlformats.org/drawingml/2006/main">
            <a:off x="390525" y="4762500"/>
            <a:ext cx="11401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row-position join would attach ALUA's outcome to VANG's acceptance.</a:t>
            </a:r>
          </a:p>
        </p:txBody>
      </p:sp>
      <p:sp>
        <p:nvSpPr>
          <p:cNvPr id="537" name="identity-match">
            <a:extLst xmlns:a="http://schemas.openxmlformats.org/drawingml/2006/main">
              <a:ext uri="{FF2B5EF4-FFF2-40B4-BE49-F238E27FC236}">
                <a16:creationId xmlns:a16="http://schemas.microsoft.com/office/drawing/2014/main" id="{0EDDFA72-788D-43E6-AA05-785334BBD1A4}"/>
              </a:ext>
            </a:extLst>
          </p:cNvPr>
          <p:cNvSpPr>
            <a:spLocks xmlns:a="http://schemas.openxmlformats.org/drawingml/2006/main" noGrp="1"/>
          </p:cNvSpPr>
          <p:nvPr/>
        </p:nvSpPr>
        <p:spPr>
          <a:xfrm xmlns:a="http://schemas.openxmlformats.org/drawingml/2006/main">
            <a:off x="390525" y="5295900"/>
            <a:ext cx="11401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Matching program code + type finds ALUA:TX1 on row 74 of Table B11.</a:t>
            </a:r>
          </a:p>
        </p:txBody>
      </p:sp>
      <p:sp>
        <p:nvSpPr>
          <p:cNvPr id="538" name="time-check">
            <a:extLst xmlns:a="http://schemas.openxmlformats.org/drawingml/2006/main">
              <a:ext uri="{FF2B5EF4-FFF2-40B4-BE49-F238E27FC236}">
                <a16:creationId xmlns:a16="http://schemas.microsoft.com/office/drawing/2014/main" id="{3623D357-661E-4B09-9F89-D8F88710F81A}"/>
              </a:ext>
            </a:extLst>
          </p:cNvPr>
          <p:cNvSpPr>
            <a:spLocks xmlns:a="http://schemas.openxmlformats.org/drawingml/2006/main" noGrp="1"/>
          </p:cNvSpPr>
          <p:nvPr/>
        </p:nvSpPr>
        <p:spPr>
          <a:xfrm xmlns:a="http://schemas.openxmlformats.org/drawingml/2006/main">
            <a:off x="390525" y="5838825"/>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Matching identities is one check. The study must also allow the measurement dates.</a:t>
            </a:r>
          </a:p>
        </p:txBody>
      </p:sp>
      <p:sp>
        <p:nvSpPr>
          <p:cNvPr id="539" name="source-caption">
            <a:extLst xmlns:a="http://schemas.openxmlformats.org/drawingml/2006/main">
              <a:ext uri="{FF2B5EF4-FFF2-40B4-BE49-F238E27FC236}">
                <a16:creationId xmlns:a16="http://schemas.microsoft.com/office/drawing/2014/main" id="{7E42B294-2D54-4990-A996-273DCDA3D3B4}"/>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July 2025 workbook. B7 listings: July 2022–June 2023. B11 offers: calendar 2024. Published July 8, 2025.</a:t>
            </a:r>
          </a:p>
        </p:txBody>
      </p:sp>
      <p:sp>
        <p:nvSpPr>
          <p:cNvPr id="540" name="claim-boundary">
            <a:extLst xmlns:a="http://schemas.openxmlformats.org/drawingml/2006/main">
              <a:ext uri="{FF2B5EF4-FFF2-40B4-BE49-F238E27FC236}">
                <a16:creationId xmlns:a16="http://schemas.microsoft.com/office/drawing/2014/main" id="{EC39B4BB-0E59-4B72-A13A-12E7AE033369}"/>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8C630A04-5A25-9E0C-9436-126091DB86B3}" type="slidenum">
              <a:rPr sz="900">
                <a:solidFill>
                  <a:srgbClr val="333333"/>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SRTR's offer-acceptance ratio</a:t>
            </a:r>
          </a:p>
        </p:txBody>
      </p:sp>
      <p:sp>
        <p:nvSpPr>
          <p:cNvPr id="534" name="oar-purpose">
            <a:extLst xmlns:a="http://schemas.openxmlformats.org/drawingml/2006/main">
              <a:ext uri="{FF2B5EF4-FFF2-40B4-BE49-F238E27FC236}">
                <a16:creationId xmlns:a16="http://schemas.microsoft.com/office/drawing/2014/main" id="{782A3EC7-F7AA-416E-9A1D-1C1D02B5C8F8}"/>
              </a:ext>
            </a:extLst>
          </p:cNvPr>
          <p:cNvSpPr>
            <a:spLocks xmlns:a="http://schemas.openxmlformats.org/drawingml/2006/main" noGrp="1"/>
          </p:cNvSpPr>
          <p:nvPr/>
        </p:nvSpPr>
        <p:spPr>
          <a:xfrm xmlns:a="http://schemas.openxmlformats.org/drawingml/2006/main">
            <a:off x="390525" y="1162050"/>
            <a:ext cx="11401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Risk-adjusted comparison with national expectation for the offers received</a:t>
            </a:r>
          </a:p>
        </p:txBody>
      </p:sp>
      <p:sp>
        <p:nvSpPr>
          <p:cNvPr id="535" name="oar-equation">
            <a:extLst xmlns:a="http://schemas.openxmlformats.org/drawingml/2006/main">
              <a:ext uri="{FF2B5EF4-FFF2-40B4-BE49-F238E27FC236}">
                <a16:creationId xmlns:a16="http://schemas.microsoft.com/office/drawing/2014/main" id="{25F0433C-234E-4C33-83FB-496ECEC745CA}"/>
              </a:ext>
            </a:extLst>
          </p:cNvPr>
          <p:cNvSpPr>
            <a:spLocks xmlns:a="http://schemas.openxmlformats.org/drawingml/2006/main" noGrp="1"/>
          </p:cNvSpPr>
          <p:nvPr/>
        </p:nvSpPr>
        <p:spPr>
          <a:xfrm xmlns:a="http://schemas.openxmlformats.org/drawingml/2006/main">
            <a:off x="390525" y="19240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a:solidFill>
                  <a:srgbClr val="222222"/>
                </a:solidFill>
                <a:latin typeface="Helvetica Neue"/>
                <a:ea typeface="Helvetica Neue"/>
                <a:cs typeface="Helvetica Neue"/>
              </a:defRPr>
            </a:pPr>
            <a:r>
              <a:rPr sz="3225">
                <a:solidFill>
                  <a:srgbClr val="222222"/>
                </a:solidFill>
                <a:latin typeface="Helvetica Neue"/>
                <a:ea typeface="Helvetica Neue"/>
                <a:cs typeface="Helvetica Neue"/>
              </a:rPr>
              <a:t>OAR = (O + 2) / (E + 2)</a:t>
            </a:r>
          </a:p>
        </p:txBody>
      </p:sp>
      <p:sp>
        <p:nvSpPr>
          <p:cNvPr id="536" name="oar-inputs">
            <a:extLst xmlns:a="http://schemas.openxmlformats.org/drawingml/2006/main">
              <a:ext uri="{FF2B5EF4-FFF2-40B4-BE49-F238E27FC236}">
                <a16:creationId xmlns:a16="http://schemas.microsoft.com/office/drawing/2014/main" id="{5FA392A2-B439-4C8F-B774-1F3389CC5DE1}"/>
              </a:ext>
            </a:extLst>
          </p:cNvPr>
          <p:cNvSpPr>
            <a:spLocks xmlns:a="http://schemas.openxmlformats.org/drawingml/2006/main" noGrp="1"/>
          </p:cNvSpPr>
          <p:nvPr/>
        </p:nvSpPr>
        <p:spPr>
          <a:xfrm xmlns:a="http://schemas.openxmlformats.org/drawingml/2006/main">
            <a:off x="390525" y="2809875"/>
            <a:ext cx="54006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222222"/>
                </a:solidFill>
                <a:latin typeface="Helvetica Neue"/>
                <a:ea typeface="Helvetica Neue"/>
                <a:cs typeface="Helvetica Neue"/>
              </a:defRPr>
            </a:pPr>
            <a:r>
              <a:rPr sz="1875">
                <a:solidFill>
                  <a:srgbClr val="222222"/>
                </a:solidFill>
                <a:latin typeface="Helvetica Neue"/>
                <a:ea typeface="Helvetica Neue"/>
                <a:cs typeface="Helvetica Neue"/>
              </a:rPr>
              <a:t>O = acceptances resulting in completed transplants</a:t>
            </a:r>
          </a:p>
          <a:p xmlns:a="http://schemas.openxmlformats.org/drawingml/2006/main">
            <a:r>
              <a:t/>
            </a:r>
          </a:p>
          <a:p xmlns:a="http://schemas.openxmlformats.org/drawingml/2006/main">
            <a:pPr>
              <a:defRPr sz="1875">
                <a:solidFill>
                  <a:srgbClr val="222222"/>
                </a:solidFill>
                <a:latin typeface="Helvetica Neue"/>
                <a:ea typeface="Helvetica Neue"/>
                <a:cs typeface="Helvetica Neue"/>
              </a:defRPr>
            </a:pPr>
            <a:r>
              <a:rPr sz="1875">
                <a:solidFill>
                  <a:srgbClr val="222222"/>
                </a:solidFill>
                <a:latin typeface="Helvetica Neue"/>
                <a:ea typeface="Helvetica Neue"/>
                <a:cs typeface="Helvetica Neue"/>
              </a:rPr>
              <a:t>E = sum of SRTR's predicted acceptance probabilities for the included offers</a:t>
            </a:r>
          </a:p>
        </p:txBody>
      </p:sp>
      <p:sp>
        <p:nvSpPr>
          <p:cNvPr id="537" name="oar-adjustment">
            <a:extLst xmlns:a="http://schemas.openxmlformats.org/drawingml/2006/main">
              <a:ext uri="{FF2B5EF4-FFF2-40B4-BE49-F238E27FC236}">
                <a16:creationId xmlns:a16="http://schemas.microsoft.com/office/drawing/2014/main" id="{D1E37B74-8825-4715-B558-4093EEC1EEA1}"/>
              </a:ext>
            </a:extLst>
          </p:cNvPr>
          <p:cNvSpPr>
            <a:spLocks xmlns:a="http://schemas.openxmlformats.org/drawingml/2006/main" noGrp="1"/>
          </p:cNvSpPr>
          <p:nvPr/>
        </p:nvSpPr>
        <p:spPr>
          <a:xfrm xmlns:a="http://schemas.openxmlformats.org/drawingml/2006/main">
            <a:off x="390525" y="4343400"/>
            <a:ext cx="54006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a:solidFill>
                  <a:srgbClr val="222222"/>
                </a:solidFill>
                <a:latin typeface="Helvetica Neue"/>
                <a:ea typeface="Helvetica Neue"/>
                <a:cs typeface="Helvetica Neue"/>
              </a:defRPr>
            </a:pPr>
            <a:r>
              <a:rPr sz="1725">
                <a:solidFill>
                  <a:srgbClr val="222222"/>
                </a:solidFill>
                <a:latin typeface="Helvetica Neue"/>
                <a:ea typeface="Helvetica Neue"/>
                <a:cs typeface="Helvetica Neue"/>
              </a:rPr>
              <a:t>The +2 adjustment pulls the ratio toward 1, especially when expected counts are small.</a:t>
            </a:r>
          </a:p>
        </p:txBody>
      </p:sp>
      <p:sp>
        <p:nvSpPr>
          <p:cNvPr id="538" name="oar-example">
            <a:extLst xmlns:a="http://schemas.openxmlformats.org/drawingml/2006/main">
              <a:ext uri="{FF2B5EF4-FFF2-40B4-BE49-F238E27FC236}">
                <a16:creationId xmlns:a16="http://schemas.microsoft.com/office/drawing/2014/main" id="{F0633FC1-695E-44B0-81D0-187CB0DAC7D5}"/>
              </a:ext>
            </a:extLst>
          </p:cNvPr>
          <p:cNvSpPr>
            <a:spLocks xmlns:a="http://schemas.openxmlformats.org/drawingml/2006/main" noGrp="1"/>
          </p:cNvSpPr>
          <p:nvPr/>
        </p:nvSpPr>
        <p:spPr>
          <a:xfrm xmlns:a="http://schemas.openxmlformats.org/drawingml/2006/main">
            <a:off x="390525" y="51530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Hypothetical example</a:t>
            </a:r>
          </a:p>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48 acceptances, 98 expected: OAR = 0.50</a:t>
            </a:r>
          </a:p>
        </p:txBody>
      </p:sp>
      <p:sp>
        <p:nvSpPr>
          <p:cNvPr id="539" name="oar-interpretation">
            <a:extLst xmlns:a="http://schemas.openxmlformats.org/drawingml/2006/main">
              <a:ext uri="{FF2B5EF4-FFF2-40B4-BE49-F238E27FC236}">
                <a16:creationId xmlns:a16="http://schemas.microsoft.com/office/drawing/2014/main" id="{CEF39DC1-25B6-4F22-929B-0B1AE0861BBF}"/>
              </a:ext>
            </a:extLst>
          </p:cNvPr>
          <p:cNvSpPr>
            <a:spLocks xmlns:a="http://schemas.openxmlformats.org/drawingml/2006/main" noGrp="1"/>
          </p:cNvSpPr>
          <p:nvPr/>
        </p:nvSpPr>
        <p:spPr>
          <a:xfrm xmlns:a="http://schemas.openxmlformats.org/drawingml/2006/main">
            <a:off x="6362700" y="1943100"/>
            <a:ext cx="5381625" cy="382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1: in line with expectation
Below 1: lower. Above 1: higher</a:t>
            </a:r>
          </a:p>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SRTR's 95% credible interval describes uncertainty about the ratio.</a:t>
            </a:r>
          </a:p>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OAR 0.50 does not mean 50% of offers were accepted.</a:t>
            </a:r>
          </a:p>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It cannot determine whether a decline was appropriate or establish clinical quality or regulatory status.</a:t>
            </a:r>
          </a:p>
        </p:txBody>
      </p:sp>
      <p:sp>
        <p:nvSpPr>
          <p:cNvPr id="540" name="published-values">
            <a:extLst xmlns:a="http://schemas.openxmlformats.org/drawingml/2006/main">
              <a:ext uri="{FF2B5EF4-FFF2-40B4-BE49-F238E27FC236}">
                <a16:creationId xmlns:a16="http://schemas.microsoft.com/office/drawing/2014/main" id="{33DB79A5-71C8-423D-A65F-F1C925E0C4DD}"/>
              </a:ext>
            </a:extLst>
          </p:cNvPr>
          <p:cNvSpPr>
            <a:spLocks xmlns:a="http://schemas.openxmlformats.org/drawingml/2006/main" noGrp="1"/>
          </p:cNvSpPr>
          <p:nvPr/>
        </p:nvSpPr>
        <p:spPr>
          <a:xfrm xmlns:a="http://schemas.openxmlformats.org/drawingml/2006/main">
            <a:off x="390525" y="5867400"/>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Published values remain authoritative. Changed offer definitions can also affect annual comparisons.</a:t>
            </a:r>
          </a:p>
        </p:txBody>
      </p:sp>
      <p:sp>
        <p:nvSpPr>
          <p:cNvPr id="541" name="source-caption">
            <a:extLst xmlns:a="http://schemas.openxmlformats.org/drawingml/2006/main">
              <a:ext uri="{FF2B5EF4-FFF2-40B4-BE49-F238E27FC236}">
                <a16:creationId xmlns:a16="http://schemas.microsoft.com/office/drawing/2014/main" id="{955239EB-DABC-443E-AB93-CA649B58DC0F}"/>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calendar-year offer cohorts, 2017–2025. Sources: SRTR offer-acceptance FAQ and technical methods.</a:t>
            </a:r>
          </a:p>
        </p:txBody>
      </p:sp>
      <p:sp>
        <p:nvSpPr>
          <p:cNvPr id="542" name="claim-boundary">
            <a:extLst xmlns:a="http://schemas.openxmlformats.org/drawingml/2006/main">
              <a:ext uri="{FF2B5EF4-FFF2-40B4-BE49-F238E27FC236}">
                <a16:creationId xmlns:a16="http://schemas.microsoft.com/office/drawing/2014/main" id="{FA0D3ACB-F117-44CA-A108-3678F8B13605}"/>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D3D7D1C8-AE23-AA48-DF65-C742588DBE47}" type="slidenum">
              <a:rPr sz="900">
                <a:solidFill>
                  <a:srgbClr val="333333"/>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V1 methodology</a:t>
            </a:r>
          </a:p>
        </p:txBody>
      </p:sp>
      <p:sp>
        <p:nvSpPr>
          <p:cNvPr id="534" name="v1-purpose">
            <a:extLst xmlns:a="http://schemas.openxmlformats.org/drawingml/2006/main">
              <a:ext uri="{FF2B5EF4-FFF2-40B4-BE49-F238E27FC236}">
                <a16:creationId xmlns:a16="http://schemas.microsoft.com/office/drawing/2014/main" id="{4224BD34-A9DE-47C2-B25B-034F8DD4AB17}"/>
              </a:ext>
            </a:extLst>
          </p:cNvPr>
          <p:cNvSpPr>
            <a:spLocks xmlns:a="http://schemas.openxmlformats.org/drawingml/2006/main" noGrp="1"/>
          </p:cNvSpPr>
          <p:nvPr/>
        </p:nvSpPr>
        <p:spPr>
          <a:xfrm xmlns:a="http://schemas.openxmlformats.org/drawingml/2006/main">
            <a:off x="390525" y="1162050"/>
            <a:ext cx="11401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Historical screening monitor plus a next-calendar-year PSR projection</a:t>
            </a:r>
          </a:p>
        </p:txBody>
      </p:sp>
      <p:sp>
        <p:nvSpPr>
          <p:cNvPr id="535" name="comparison-heading">
            <a:extLst xmlns:a="http://schemas.openxmlformats.org/drawingml/2006/main">
              <a:ext uri="{FF2B5EF4-FFF2-40B4-BE49-F238E27FC236}">
                <a16:creationId xmlns:a16="http://schemas.microsoft.com/office/drawing/2014/main" id="{66A7C760-8F7C-4CD7-8313-99625873047B}"/>
              </a:ext>
            </a:extLst>
          </p:cNvPr>
          <p:cNvSpPr>
            <a:spLocks xmlns:a="http://schemas.openxmlformats.org/drawingml/2006/main" noGrp="1"/>
          </p:cNvSpPr>
          <p:nvPr/>
        </p:nvSpPr>
        <p:spPr>
          <a:xfrm xmlns:a="http://schemas.openxmlformats.org/drawingml/2006/main">
            <a:off x="390525" y="1905000"/>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we compare</a:t>
            </a:r>
          </a:p>
        </p:txBody>
      </p:sp>
      <p:sp>
        <p:nvSpPr>
          <p:cNvPr id="536" name="evaluation-heading">
            <a:extLst xmlns:a="http://schemas.openxmlformats.org/drawingml/2006/main">
              <a:ext uri="{FF2B5EF4-FFF2-40B4-BE49-F238E27FC236}">
                <a16:creationId xmlns:a16="http://schemas.microsoft.com/office/drawing/2014/main" id="{3367A60C-6097-4873-BF38-8A0C43CC46F7}"/>
              </a:ext>
            </a:extLst>
          </p:cNvPr>
          <p:cNvSpPr>
            <a:spLocks xmlns:a="http://schemas.openxmlformats.org/drawingml/2006/main" noGrp="1"/>
          </p:cNvSpPr>
          <p:nvPr/>
        </p:nvSpPr>
        <p:spPr>
          <a:xfrm xmlns:a="http://schemas.openxmlformats.org/drawingml/2006/main">
            <a:off x="6267450" y="1905000"/>
            <a:ext cx="547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How we evaluate</a:t>
            </a:r>
          </a:p>
        </p:txBody>
      </p:sp>
      <p:sp>
        <p:nvSpPr>
          <p:cNvPr id="537" name="comparison-method">
            <a:extLst xmlns:a="http://schemas.openxmlformats.org/drawingml/2006/main">
              <a:ext uri="{FF2B5EF4-FFF2-40B4-BE49-F238E27FC236}">
                <a16:creationId xmlns:a16="http://schemas.microsoft.com/office/drawing/2014/main" id="{D8383C21-6613-4516-B744-EC4FCE833496}"/>
              </a:ext>
            </a:extLst>
          </p:cNvPr>
          <p:cNvSpPr>
            <a:spLocks xmlns:a="http://schemas.openxmlformats.org/drawingml/2006/main" noGrp="1"/>
          </p:cNvSpPr>
          <p:nvPr/>
        </p:nvSpPr>
        <p:spPr>
          <a:xfrm xmlns:a="http://schemas.openxmlformats.org/drawingml/2006/main">
            <a:off x="390525" y="2476500"/>
            <a:ext cx="53149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One record per program-year. Predict the next published annual log(OAR).</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Compare OAR = 1, the latest value (persistence), historical mean and Ridge.</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Use earlier ratios, donor groups, volume and published uncertainty.</a:t>
            </a:r>
          </a:p>
        </p:txBody>
      </p:sp>
      <p:sp>
        <p:nvSpPr>
          <p:cNvPr id="538" name="evaluation-method">
            <a:extLst xmlns:a="http://schemas.openxmlformats.org/drawingml/2006/main">
              <a:ext uri="{FF2B5EF4-FFF2-40B4-BE49-F238E27FC236}">
                <a16:creationId xmlns:a16="http://schemas.microsoft.com/office/drawing/2014/main" id="{60E6543C-E7DB-418B-8949-15FAFB21468A}"/>
              </a:ext>
            </a:extLst>
          </p:cNvPr>
          <p:cNvSpPr>
            <a:spLocks xmlns:a="http://schemas.openxmlformats.org/drawingml/2006/main" noGrp="1"/>
          </p:cNvSpPr>
          <p:nvPr/>
        </p:nvSpPr>
        <p:spPr>
          <a:xfrm xmlns:a="http://schemas.openxmlformats.org/drawingml/2006/main">
            <a:off x="6267450" y="2476500"/>
            <a:ext cx="5476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Keep whole years together. Fit missing-value handling and scaling on training rows only.</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Select alpha using 2021–2023. Original replay fit ends at 2023, reserving 2024 for the band.</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Compare average error, signed errors, large misses and earlier-volume groups.</a:t>
            </a:r>
          </a:p>
        </p:txBody>
      </p:sp>
      <p:sp>
        <p:nvSpPr>
          <p:cNvPr id="539" name="v1-result">
            <a:extLst xmlns:a="http://schemas.openxmlformats.org/drawingml/2006/main">
              <a:ext uri="{FF2B5EF4-FFF2-40B4-BE49-F238E27FC236}">
                <a16:creationId xmlns:a16="http://schemas.microsoft.com/office/drawing/2014/main" id="{E1A4B7CB-4BC9-41B2-8879-CF7AE20A404E}"/>
              </a:ext>
            </a:extLst>
          </p:cNvPr>
          <p:cNvSpPr>
            <a:spLocks xmlns:a="http://schemas.openxmlformats.org/drawingml/2006/main" noGrp="1"/>
          </p:cNvSpPr>
          <p:nvPr/>
        </p:nvSpPr>
        <p:spPr>
          <a:xfrm xmlns:a="http://schemas.openxmlformats.org/drawingml/2006/main">
            <a:off x="390525" y="5343525"/>
            <a:ext cx="1140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2025 replay: Ridge cut average absolute log error by 10.13%.</a:t>
            </a:r>
          </a:p>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The old bias rule was mistaken. The unchanged app displays persistence.</a:t>
            </a:r>
          </a:p>
        </p:txBody>
      </p:sp>
      <p:sp>
        <p:nvSpPr>
          <p:cNvPr id="540" name="source-caption">
            <a:extLst xmlns:a="http://schemas.openxmlformats.org/drawingml/2006/main">
              <a:ext uri="{FF2B5EF4-FFF2-40B4-BE49-F238E27FC236}">
                <a16:creationId xmlns:a16="http://schemas.microsoft.com/office/drawing/2014/main" id="{DC26BFC6-3E79-4D30-9D6F-95DD642C933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retrospective replay. SRTR changed included offers in July 2025 and January 2026.</a:t>
            </a:r>
          </a:p>
        </p:txBody>
      </p:sp>
      <p:sp>
        <p:nvSpPr>
          <p:cNvPr id="541" name="claim-boundary">
            <a:extLst xmlns:a="http://schemas.openxmlformats.org/drawingml/2006/main">
              <a:ext uri="{FF2B5EF4-FFF2-40B4-BE49-F238E27FC236}">
                <a16:creationId xmlns:a16="http://schemas.microsoft.com/office/drawing/2014/main" id="{3B19B058-B132-4C8F-B630-D6E122042A55}"/>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BA58DA2A-B818-18A9-29C1-B697728D5BCE}" type="slidenum">
              <a:rPr sz="900">
                <a:solidFill>
                  <a:srgbClr val="333333"/>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V1 in the app: follow one program over time</a:t>
            </a:r>
          </a:p>
        </p:txBody>
      </p:sp>
      <p:sp>
        <p:nvSpPr>
          <p:cNvPr id="534" name="purpose">
            <a:extLst xmlns:a="http://schemas.openxmlformats.org/drawingml/2006/main">
              <a:ext uri="{FF2B5EF4-FFF2-40B4-BE49-F238E27FC236}">
                <a16:creationId xmlns:a16="http://schemas.microsoft.com/office/drawing/2014/main" id="{D218E2A9-6416-4678-851D-4E58E1DD1A94}"/>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University of Alabama Hospital (ALUA:TX1) — Birmingham, Alabama</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c7599d95482940d6"/>
          </a:graphicData>
        </a:graphic>
      </p:graphicFrame>
      <p:sp>
        <p:nvSpPr>
          <p:cNvPr id="536" name="chart-heading">
            <a:extLst xmlns:a="http://schemas.openxmlformats.org/drawingml/2006/main">
              <a:ext uri="{FF2B5EF4-FFF2-40B4-BE49-F238E27FC236}">
                <a16:creationId xmlns:a16="http://schemas.microsoft.com/office/drawing/2014/main" id="{D55A2FC0-C746-4180-BA68-96822224C983}"/>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Show in the live app</a:t>
            </a:r>
          </a:p>
        </p:txBody>
      </p:sp>
      <p:sp>
        <p:nvSpPr>
          <p:cNvPr id="537" name="chart-interpretation">
            <a:extLst xmlns:a="http://schemas.openxmlformats.org/drawingml/2006/main">
              <a:ext uri="{FF2B5EF4-FFF2-40B4-BE49-F238E27FC236}">
                <a16:creationId xmlns:a16="http://schemas.microsoft.com/office/drawing/2014/main" id="{43BA460A-A2CC-4AF8-8BBA-C80CFAA6F849}"/>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Overall history, then donor groups</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2025 overall: 1.11
95% credible interval: 0.95–1.28</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2026 persistence projection: 1.11</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Model evaluation: accuracy and limits</a:t>
            </a:r>
          </a:p>
        </p:txBody>
      </p:sp>
      <p:sp>
        <p:nvSpPr>
          <p:cNvPr id="538" name="conclusion">
            <a:extLst xmlns:a="http://schemas.openxmlformats.org/drawingml/2006/main">
              <a:ext uri="{FF2B5EF4-FFF2-40B4-BE49-F238E27FC236}">
                <a16:creationId xmlns:a16="http://schemas.microsoft.com/office/drawing/2014/main" id="{4DEB83D6-20EF-47DD-82B3-AC6FF7D0C81A}"/>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SRTR changed offer definitions in July 2025 and January 2026, affecting annual comparability.</a:t>
            </a:r>
          </a:p>
        </p:txBody>
      </p:sp>
      <p:sp>
        <p:nvSpPr>
          <p:cNvPr id="539" name="source-caption">
            <a:extLst xmlns:a="http://schemas.openxmlformats.org/drawingml/2006/main">
              <a:ext uri="{FF2B5EF4-FFF2-40B4-BE49-F238E27FC236}">
                <a16:creationId xmlns:a16="http://schemas.microsoft.com/office/drawing/2014/main" id="{C307ED7A-4745-4CB6-821D-C72F3CFA4FC5}"/>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app backup. Calendar-year offers, 2017–2025. Latest source published July 7, 2026.</a:t>
            </a:r>
          </a:p>
        </p:txBody>
      </p:sp>
      <p:sp>
        <p:nvSpPr>
          <p:cNvPr id="540" name="claim-boundary">
            <a:extLst xmlns:a="http://schemas.openxmlformats.org/drawingml/2006/main">
              <a:ext uri="{FF2B5EF4-FFF2-40B4-BE49-F238E27FC236}">
                <a16:creationId xmlns:a16="http://schemas.microsoft.com/office/drawing/2014/main" id="{076A3577-3300-4AA3-92FE-86304E82953F}"/>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388657AE-30A1-5A7A-6A7F-315D84436430}" type="slidenum">
              <a:rPr sz="900">
                <a:solidFill>
                  <a:srgbClr val="333333"/>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V2: what can earlier reports tell us about later outcomes?</a:t>
            </a:r>
          </a:p>
        </p:txBody>
      </p:sp>
      <p:sp>
        <p:nvSpPr>
          <p:cNvPr id="534" name="purpose">
            <a:extLst xmlns:a="http://schemas.openxmlformats.org/drawingml/2006/main">
              <a:ext uri="{FF2B5EF4-FFF2-40B4-BE49-F238E27FC236}">
                <a16:creationId xmlns:a16="http://schemas.microsoft.com/office/drawing/2014/main" id="{16F98452-4598-4D5C-B58A-BCE95641C892}"/>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separate exploratory study of listed candidates</a:t>
            </a:r>
          </a:p>
        </p:txBody>
      </p:sp>
      <p:sp>
        <p:nvSpPr>
          <p:cNvPr id="535" name="left-heading">
            <a:extLst xmlns:a="http://schemas.openxmlformats.org/drawingml/2006/main">
              <a:ext uri="{FF2B5EF4-FFF2-40B4-BE49-F238E27FC236}">
                <a16:creationId xmlns:a16="http://schemas.microsoft.com/office/drawing/2014/main" id="{28D76EA4-F6F8-43C2-A0AE-3D3D651EA504}"/>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prediction question</a:t>
            </a:r>
          </a:p>
        </p:txBody>
      </p:sp>
      <p:sp>
        <p:nvSpPr>
          <p:cNvPr id="536" name="right-heading">
            <a:extLst xmlns:a="http://schemas.openxmlformats.org/drawingml/2006/main">
              <a:ext uri="{FF2B5EF4-FFF2-40B4-BE49-F238E27FC236}">
                <a16:creationId xmlns:a16="http://schemas.microsoft.com/office/drawing/2014/main" id="{0C3764AD-C165-4A26-A1C4-6DBA8BB90BC7}"/>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Why this is a different question</a:t>
            </a:r>
          </a:p>
        </p:txBody>
      </p:sp>
      <p:sp>
        <p:nvSpPr>
          <p:cNvPr id="537" name="left-explanation">
            <a:extLst xmlns:a="http://schemas.openxmlformats.org/drawingml/2006/main">
              <a:ext uri="{FF2B5EF4-FFF2-40B4-BE49-F238E27FC236}">
                <a16:creationId xmlns:a16="http://schemas.microsoft.com/office/drawing/2014/main" id="{00441FCA-CE5F-4697-B351-34D645D4A083}"/>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Start with a program's earlier reported outcomes.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Does access (transplant rate and waiting time) or offer-acceptance information improve predictions?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Predict a later listing group's published functioning-transplant percentage.</a:t>
            </a:r>
          </a:p>
        </p:txBody>
      </p:sp>
      <p:sp>
        <p:nvSpPr>
          <p:cNvPr id="538" name="right-explanation">
            <a:extLst xmlns:a="http://schemas.openxmlformats.org/drawingml/2006/main">
              <a:ext uri="{FF2B5EF4-FFF2-40B4-BE49-F238E27FC236}">
                <a16:creationId xmlns:a16="http://schemas.microsoft.com/office/drawing/2014/main" id="{5ED81A59-8284-4BF8-8683-F162E3704A51}"/>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One record is a program and a July–June listing group.</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outcome includes living and deceased donation, plus the path to transplant.</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Prediction cannot establish that changing acceptance would change outcomes.</a:t>
            </a:r>
          </a:p>
        </p:txBody>
      </p:sp>
      <p:sp>
        <p:nvSpPr>
          <p:cNvPr id="539" name="conclusion">
            <a:extLst xmlns:a="http://schemas.openxmlformats.org/drawingml/2006/main">
              <a:ext uri="{FF2B5EF4-FFF2-40B4-BE49-F238E27FC236}">
                <a16:creationId xmlns:a16="http://schemas.microsoft.com/office/drawing/2014/main" id="{180F5742-82D9-4D42-A626-12AB740E0F34}"/>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V2 is an information comparison. Its models were never eligible for promotion.</a:t>
            </a:r>
          </a:p>
        </p:txBody>
      </p:sp>
      <p:sp>
        <p:nvSpPr>
          <p:cNvPr id="540" name="source-caption">
            <a:extLst xmlns:a="http://schemas.openxmlformats.org/drawingml/2006/main">
              <a:ext uri="{FF2B5EF4-FFF2-40B4-BE49-F238E27FC236}">
                <a16:creationId xmlns:a16="http://schemas.microsoft.com/office/drawing/2014/main" id="{632FE114-EAE0-464F-95DA-D706908F5C7E}"/>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specification. Public program summaries; no patient-level predictions.</a:t>
            </a:r>
          </a:p>
        </p:txBody>
      </p:sp>
      <p:sp>
        <p:nvSpPr>
          <p:cNvPr id="541" name="claim-boundary">
            <a:extLst xmlns:a="http://schemas.openxmlformats.org/drawingml/2006/main">
              <a:ext uri="{FF2B5EF4-FFF2-40B4-BE49-F238E27FC236}">
                <a16:creationId xmlns:a16="http://schemas.microsoft.com/office/drawing/2014/main" id="{048D287B-5454-4351-84C4-7BE6B9C22A4D}"/>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DB7BEEEC-A170-5376-2B6E-CB54687B0CB1}" type="slidenum">
              <a:rPr sz="900">
                <a:solidFill>
                  <a:srgbClr val="333333"/>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What exactly does the V2 outcome count?</a:t>
            </a:r>
          </a:p>
        </p:txBody>
      </p:sp>
      <p:sp>
        <p:nvSpPr>
          <p:cNvPr id="534" name="purpose">
            <a:extLst xmlns:a="http://schemas.openxmlformats.org/drawingml/2006/main">
              <a:ext uri="{FF2B5EF4-FFF2-40B4-BE49-F238E27FC236}">
                <a16:creationId xmlns:a16="http://schemas.microsoft.com/office/drawing/2014/main" id="{D473325C-6AB2-4893-8A2D-311B02C07760}"/>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Percentage known alive with a functioning transplant, 18 months after listing</a:t>
            </a:r>
          </a:p>
        </p:txBody>
      </p:sp>
      <p:sp>
        <p:nvSpPr>
          <p:cNvPr id="535" name="left-heading">
            <a:extLst xmlns:a="http://schemas.openxmlformats.org/drawingml/2006/main">
              <a:ext uri="{FF2B5EF4-FFF2-40B4-BE49-F238E27FC236}">
                <a16:creationId xmlns:a16="http://schemas.microsoft.com/office/drawing/2014/main" id="{F980FA6A-A442-45F1-88EF-31FBD93A2B73}"/>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published measure</a:t>
            </a:r>
          </a:p>
        </p:txBody>
      </p:sp>
      <p:sp>
        <p:nvSpPr>
          <p:cNvPr id="536" name="right-heading">
            <a:extLst xmlns:a="http://schemas.openxmlformats.org/drawingml/2006/main">
              <a:ext uri="{FF2B5EF4-FFF2-40B4-BE49-F238E27FC236}">
                <a16:creationId xmlns:a16="http://schemas.microsoft.com/office/drawing/2014/main" id="{8BDC856A-B695-45F7-960D-646E48342266}"/>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Hypothetical group of 100</a:t>
            </a:r>
          </a:p>
        </p:txBody>
      </p:sp>
      <p:sp>
        <p:nvSpPr>
          <p:cNvPr id="537" name="left-explanation">
            <a:extLst xmlns:a="http://schemas.openxmlformats.org/drawingml/2006/main">
              <a:ext uri="{FF2B5EF4-FFF2-40B4-BE49-F238E27FC236}">
                <a16:creationId xmlns:a16="http://schemas.microsoft.com/office/drawing/2014/main" id="{4F9ED5FA-CC19-4001-8603-A9AF7D11A501}"/>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Numerator: candidates known alive with a functioning transplant at 18 months.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Denominator: everyone in the original listing group, including those never transplanted.</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Living and deceased donors both count. This is not an officially risk-adjusted percentage.</a:t>
            </a:r>
          </a:p>
        </p:txBody>
      </p:sp>
      <p:sp>
        <p:nvSpPr>
          <p:cNvPr id="538" name="right-explanation">
            <a:extLst xmlns:a="http://schemas.openxmlformats.org/drawingml/2006/main">
              <a:ext uri="{FF2B5EF4-FFF2-40B4-BE49-F238E27FC236}">
                <a16:creationId xmlns:a16="http://schemas.microsoft.com/office/drawing/2014/main" id="{1089A12C-FA18-481A-A875-31ADB6B42E37}"/>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20 known functioning after deceased donation + 10 after living donation</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Published functioning outcome:
(20 + 10) / 100 × 100 = 30%</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If 15 have unknown post-transplant status, they remain unknown; they are not added as successes.</a:t>
            </a:r>
          </a:p>
        </p:txBody>
      </p:sp>
      <p:sp>
        <p:nvSpPr>
          <p:cNvPr id="539" name="conclusion">
            <a:extLst xmlns:a="http://schemas.openxmlformats.org/drawingml/2006/main">
              <a:ext uri="{FF2B5EF4-FFF2-40B4-BE49-F238E27FC236}">
                <a16:creationId xmlns:a16="http://schemas.microsoft.com/office/drawing/2014/main" id="{9F406ADF-D7D9-4B60-8019-9F2E7A38E1B5}"/>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prediction of 40% against a published 30% has an error of 10 percentage points.</a:t>
            </a:r>
          </a:p>
        </p:txBody>
      </p:sp>
      <p:sp>
        <p:nvSpPr>
          <p:cNvPr id="540" name="source-caption">
            <a:extLst xmlns:a="http://schemas.openxmlformats.org/drawingml/2006/main">
              <a:ext uri="{FF2B5EF4-FFF2-40B4-BE49-F238E27FC236}">
                <a16:creationId xmlns:a16="http://schemas.microsoft.com/office/drawing/2014/main" id="{D1639A19-8489-4D8F-80E0-6121FA457CDF}"/>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Fields: SAL_TOTFTX_C18 and SAL_N_C. Example is hypothetical, not a source record.</a:t>
            </a:r>
          </a:p>
        </p:txBody>
      </p:sp>
      <p:sp>
        <p:nvSpPr>
          <p:cNvPr id="541" name="claim-boundary">
            <a:extLst xmlns:a="http://schemas.openxmlformats.org/drawingml/2006/main">
              <a:ext uri="{FF2B5EF4-FFF2-40B4-BE49-F238E27FC236}">
                <a16:creationId xmlns:a16="http://schemas.microsoft.com/office/drawing/2014/main" id="{730979CE-A4F5-459B-A566-5487454EAA9B}"/>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30394428-F1DC-E5F6-DB0C-7DE31F3D8A23}" type="slidenum">
              <a:rPr sz="900">
                <a:solidFill>
                  <a:srgbClr val="333333"/>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V2 methodology: add information in fixed groups</a:t>
            </a:r>
          </a:p>
        </p:txBody>
      </p:sp>
      <p:sp>
        <p:nvSpPr>
          <p:cNvPr id="534" name="purpose">
            <a:extLst xmlns:a="http://schemas.openxmlformats.org/drawingml/2006/main">
              <a:ext uri="{FF2B5EF4-FFF2-40B4-BE49-F238E27FC236}">
                <a16:creationId xmlns:a16="http://schemas.microsoft.com/office/drawing/2014/main" id="{C235F255-6B4D-478D-AB04-A10C756568D9}"/>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Compare predictions on the same programs, keeping the modeling method fixed</a:t>
            </a:r>
          </a:p>
        </p:txBody>
      </p:sp>
      <p:sp>
        <p:nvSpPr>
          <p:cNvPr id="535" name="left-heading">
            <a:extLst xmlns:a="http://schemas.openxmlformats.org/drawingml/2006/main">
              <a:ext uri="{FF2B5EF4-FFF2-40B4-BE49-F238E27FC236}">
                <a16:creationId xmlns:a16="http://schemas.microsoft.com/office/drawing/2014/main" id="{2BEB927E-E886-45D2-AAAA-9220486D0E8B}"/>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Start with simple comparisons</a:t>
            </a:r>
          </a:p>
        </p:txBody>
      </p:sp>
      <p:sp>
        <p:nvSpPr>
          <p:cNvPr id="536" name="right-heading">
            <a:extLst xmlns:a="http://schemas.openxmlformats.org/drawingml/2006/main">
              <a:ext uri="{FF2B5EF4-FFF2-40B4-BE49-F238E27FC236}">
                <a16:creationId xmlns:a16="http://schemas.microsoft.com/office/drawing/2014/main" id="{6AF9E5DF-D81D-403C-BF90-C55DA4B704BF}"/>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Keep the comparison interpretable</a:t>
            </a:r>
          </a:p>
        </p:txBody>
      </p:sp>
      <p:sp>
        <p:nvSpPr>
          <p:cNvPr id="537" name="left-explanation">
            <a:extLst xmlns:a="http://schemas.openxmlformats.org/drawingml/2006/main">
              <a:ext uri="{FF2B5EF4-FFF2-40B4-BE49-F238E27FC236}">
                <a16:creationId xmlns:a16="http://schemas.microsoft.com/office/drawing/2014/main" id="{A894A82E-E712-42EA-AC92-A4A47D457815}"/>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Persistence: carry forward the latest published outcome.</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Historical mean: average that program's earlier published outcomes.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Then fit Ridge using outcome history; add acceptance, access, or both.</a:t>
            </a:r>
          </a:p>
        </p:txBody>
      </p:sp>
      <p:sp>
        <p:nvSpPr>
          <p:cNvPr id="538" name="right-explanation">
            <a:extLst xmlns:a="http://schemas.openxmlformats.org/drawingml/2006/main">
              <a:ext uri="{FF2B5EF4-FFF2-40B4-BE49-F238E27FC236}">
                <a16:creationId xmlns:a16="http://schemas.microsoft.com/office/drawing/2014/main" id="{0482DB89-9742-42F3-A351-51EDA36A88BC}"/>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Five fixed Ridge groups, including one adding eligible earlier waiting-list mortality.</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All groups use identical eligible rows. Fit missing-value handling and scaling on training rows only.</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Fix Ridge's penalty at 1. Score predictions against published outcomes in percentage points.</a:t>
            </a:r>
          </a:p>
        </p:txBody>
      </p:sp>
      <p:sp>
        <p:nvSpPr>
          <p:cNvPr id="539" name="conclusion">
            <a:extLst xmlns:a="http://schemas.openxmlformats.org/drawingml/2006/main">
              <a:ext uri="{FF2B5EF4-FFF2-40B4-BE49-F238E27FC236}">
                <a16:creationId xmlns:a16="http://schemas.microsoft.com/office/drawing/2014/main" id="{130D72D6-4DFA-4499-B89E-120166C2B2C9}"/>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Changing one information group at a time asks whether it adds value beyond what is already known.</a:t>
            </a:r>
          </a:p>
        </p:txBody>
      </p:sp>
      <p:sp>
        <p:nvSpPr>
          <p:cNvPr id="540" name="source-caption">
            <a:extLst xmlns:a="http://schemas.openxmlformats.org/drawingml/2006/main">
              <a:ext uri="{FF2B5EF4-FFF2-40B4-BE49-F238E27FC236}">
                <a16:creationId xmlns:a16="http://schemas.microsoft.com/office/drawing/2014/main" id="{0BA3854C-A5D9-4EA6-BBDE-E0BAD7F5018C}"/>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Fixed inputs and settings; complete paired results are in the appendix.</a:t>
            </a:r>
          </a:p>
        </p:txBody>
      </p:sp>
      <p:sp>
        <p:nvSpPr>
          <p:cNvPr id="541" name="claim-boundary">
            <a:extLst xmlns:a="http://schemas.openxmlformats.org/drawingml/2006/main">
              <a:ext uri="{FF2B5EF4-FFF2-40B4-BE49-F238E27FC236}">
                <a16:creationId xmlns:a16="http://schemas.microsoft.com/office/drawing/2014/main" id="{BE0FC57D-3022-4A6E-803E-695A46E54B83}"/>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4DB16885-0D3F-A391-B669-3211DB3B26E8}" type="slidenum">
              <a:rPr sz="900">
                <a:solidFill>
                  <a:srgbClr val="333333"/>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 report's publication date determines what we can use</a:t>
            </a:r>
          </a:p>
        </p:txBody>
      </p:sp>
      <p:sp>
        <p:nvSpPr>
          <p:cNvPr id="534" name="purpose">
            <a:extLst xmlns:a="http://schemas.openxmlformats.org/drawingml/2006/main">
              <a:ext uri="{FF2B5EF4-FFF2-40B4-BE49-F238E27FC236}">
                <a16:creationId xmlns:a16="http://schemas.microsoft.com/office/drawing/2014/main" id="{33690D0B-AB27-4985-A19F-DC7C30DD5D7A}"/>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At the July 2022 prediction date, training outcomes must already be public.</a:t>
            </a:r>
          </a:p>
        </p:txBody>
      </p:sp>
      <p:graphicFrame>
        <p:nvGraphicFramePr>
          <p:cNvPr id="543" name=""/>
          <p:cNvGraphicFramePr/>
          <p:nvPr/>
        </p:nvGraphicFramePr>
        <p:xfrm>
          <a:off xmlns:a="http://schemas.openxmlformats.org/drawingml/2006/main" x="390525" y="1990725"/>
          <a:ext xmlns:a="http://schemas.openxmlformats.org/drawingml/2006/main" cx="11401425" cy="2247900"/>
        </p:xfrm>
        <a:graphic xmlns:a="http://schemas.openxmlformats.org/drawingml/2006/main">
          <a:graphicData uri="http://schemas.openxmlformats.org/drawingml/2006/table">
            <a:tbl>
              <a:tblPr/>
              <a:tblGrid>
                <a:gridCol w="3238500"/>
                <a:gridCol w="4048125"/>
                <a:gridCol w="4114800"/>
              </a:tblGrid>
              <a:tr h="749300">
                <a:tc>
                  <a:txBody>
                    <a:bodyPr/>
                    <a:lstStyle/>
                    <a:p>
                      <a:r>
                        <a:rPr sz="2025" b="1">
                          <a:solidFill>
                            <a:srgbClr val="222222"/>
                          </a:solidFill>
                          <a:latin typeface="Helvetica Neue"/>
                          <a:ea typeface="Helvetica Neue"/>
                          <a:cs typeface="Helvetica Neue"/>
                        </a:rPr>
                        <a:t>Role</a:t>
                      </a:r>
                    </a:p>
                  </a:txBody>
                  <a:tcPr marL="114300" marR="114300" marT="76200" marB="76200">
                    <a:solidFill>
                      <a:srgbClr val="F2F2F2"/>
                    </a:solidFill>
                  </a:tcPr>
                </a:tc>
                <a:tc>
                  <a:txBody>
                    <a:bodyPr/>
                    <a:lstStyle/>
                    <a:p>
                      <a:r>
                        <a:rPr sz="2025" b="1">
                          <a:solidFill>
                            <a:srgbClr val="222222"/>
                          </a:solidFill>
                          <a:latin typeface="Helvetica Neue"/>
                          <a:ea typeface="Helvetica Neue"/>
                          <a:cs typeface="Helvetica Neue"/>
                        </a:rPr>
                        <a:t>Candidates listed</a:t>
                      </a:r>
                    </a:p>
                  </a:txBody>
                  <a:tcPr marL="114300" marR="114300" marT="76200" marB="76200">
                    <a:solidFill>
                      <a:srgbClr val="F2F2F2"/>
                    </a:solidFill>
                  </a:tcPr>
                </a:tc>
                <a:tc>
                  <a:txBody>
                    <a:bodyPr/>
                    <a:lstStyle/>
                    <a:p>
                      <a:r>
                        <a:rPr sz="2025" b="1">
                          <a:solidFill>
                            <a:srgbClr val="222222"/>
                          </a:solidFill>
                          <a:latin typeface="Helvetica Neue"/>
                          <a:ea typeface="Helvetica Neue"/>
                          <a:cs typeface="Helvetica Neue"/>
                        </a:rPr>
                        <a:t>Outcome becomes public</a:t>
                      </a:r>
                    </a:p>
                  </a:txBody>
                  <a:tcPr marL="114300" marR="114300" marT="76200" marB="76200">
                    <a:solidFill>
                      <a:srgbClr val="F2F2F2"/>
                    </a:solidFill>
                  </a:tcPr>
                </a:tc>
              </a:tr>
              <a:tr h="749300">
                <a:tc>
                  <a:txBody>
                    <a:bodyPr/>
                    <a:lstStyle/>
                    <a:p>
                      <a:r>
                        <a:rPr sz="2025">
                          <a:solidFill>
                            <a:srgbClr val="222222"/>
                          </a:solidFill>
                          <a:latin typeface="Helvetica Neue"/>
                          <a:ea typeface="Helvetica Neue"/>
                          <a:cs typeface="Helvetica Neue"/>
                        </a:rPr>
                        <a:t>Train: 215 programs</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2019–June 2020</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2022</a:t>
                      </a:r>
                    </a:p>
                  </a:txBody>
                  <a:tcPr marL="114300" marR="114300" marT="76200" marB="76200">
                    <a:solidFill>
                      <a:srgbClr val="FFFFFF"/>
                    </a:solidFill>
                  </a:tcPr>
                </a:tc>
              </a:tr>
              <a:tr h="749300">
                <a:tc>
                  <a:txBody>
                    <a:bodyPr/>
                    <a:lstStyle/>
                    <a:p>
                      <a:r>
                        <a:rPr sz="2025">
                          <a:solidFill>
                            <a:srgbClr val="222222"/>
                          </a:solidFill>
                          <a:latin typeface="Helvetica Neue"/>
                          <a:ea typeface="Helvetica Neue"/>
                          <a:cs typeface="Helvetica Neue"/>
                        </a:rPr>
                        <a:t>Evaluate: 218 programs</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2022–June 2023</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8, 2025</a:t>
                      </a:r>
                    </a:p>
                  </a:txBody>
                  <a:tcPr marL="114300" marR="114300" marT="76200" marB="76200">
                    <a:solidFill>
                      <a:srgbClr val="FFFFFF"/>
                    </a:solidFill>
                  </a:tcPr>
                </a:tc>
              </a:tr>
            </a:tbl>
          </a:graphicData>
        </a:graphic>
      </p:graphicFrame>
      <p:sp>
        <p:nvSpPr>
          <p:cNvPr id="536" name="table-detail">
            <a:extLst xmlns:a="http://schemas.openxmlformats.org/drawingml/2006/main">
              <a:ext uri="{FF2B5EF4-FFF2-40B4-BE49-F238E27FC236}">
                <a16:creationId xmlns:a16="http://schemas.microsoft.com/office/drawing/2014/main" id="{97B2DAD0-40A7-4C47-A01B-2D9F3B008842}"/>
              </a:ext>
            </a:extLst>
          </p:cNvPr>
          <p:cNvSpPr>
            <a:spLocks xmlns:a="http://schemas.openxmlformats.org/drawingml/2006/main" noGrp="1"/>
          </p:cNvSpPr>
          <p:nvPr/>
        </p:nvSpPr>
        <p:spPr>
          <a:xfrm xmlns:a="http://schemas.openxmlformats.org/drawingml/2006/main">
            <a:off x="390525" y="5210175"/>
            <a:ext cx="11401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Predictor measurement periods must also end before the target listing group starts.</a:t>
            </a:r>
          </a:p>
        </p:txBody>
      </p:sp>
      <p:sp>
        <p:nvSpPr>
          <p:cNvPr id="537" name="conclusion">
            <a:extLst xmlns:a="http://schemas.openxmlformats.org/drawingml/2006/main">
              <a:ext uri="{FF2B5EF4-FFF2-40B4-BE49-F238E27FC236}">
                <a16:creationId xmlns:a16="http://schemas.microsoft.com/office/drawing/2014/main" id="{98EC8F06-2C13-45C0-80E6-553664332AD8}"/>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original configuration evaluates Ridge in one period. It does not establish the archive’s limit.</a:t>
            </a:r>
          </a:p>
        </p:txBody>
      </p:sp>
      <p:sp>
        <p:nvSpPr>
          <p:cNvPr id="538" name="source-caption">
            <a:extLst xmlns:a="http://schemas.openxmlformats.org/drawingml/2006/main">
              <a:ext uri="{FF2B5EF4-FFF2-40B4-BE49-F238E27FC236}">
                <a16:creationId xmlns:a16="http://schemas.microsoft.com/office/drawing/2014/main" id="{9B0DFCD2-16FB-4BE7-9622-40421D9305E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July 2022 has month-only publication precision; no day is invented.</a:t>
            </a:r>
          </a:p>
        </p:txBody>
      </p:sp>
      <p:sp>
        <p:nvSpPr>
          <p:cNvPr id="539" name="claim-boundary">
            <a:extLst xmlns:a="http://schemas.openxmlformats.org/drawingml/2006/main">
              <a:ext uri="{FF2B5EF4-FFF2-40B4-BE49-F238E27FC236}">
                <a16:creationId xmlns:a16="http://schemas.microsoft.com/office/drawing/2014/main" id="{AFB92834-611E-4B24-8733-A7B77639B557}"/>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2DD23107-4986-8758-3A93-3D74F35908CC}" type="slidenum">
              <a:rPr sz="900">
                <a:solidFill>
                  <a:srgbClr val="333333"/>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original result looks different beside a simple average</a:t>
            </a:r>
          </a:p>
        </p:txBody>
      </p:sp>
      <p:sp>
        <p:nvSpPr>
          <p:cNvPr id="534" name="purpose">
            <a:extLst xmlns:a="http://schemas.openxmlformats.org/drawingml/2006/main">
              <a:ext uri="{FF2B5EF4-FFF2-40B4-BE49-F238E27FC236}">
                <a16:creationId xmlns:a16="http://schemas.microsoft.com/office/drawing/2014/main" id="{42EE1D1C-0C5C-4653-A4D8-F9CA589EE83D}"/>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Average absolute error on the same 218 programs — lower is better</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d972d16f39d943c5"/>
          </a:graphicData>
        </a:graphic>
      </p:graphicFrame>
      <p:sp>
        <p:nvSpPr>
          <p:cNvPr id="536" name="chart-heading">
            <a:extLst xmlns:a="http://schemas.openxmlformats.org/drawingml/2006/main">
              <a:ext uri="{FF2B5EF4-FFF2-40B4-BE49-F238E27FC236}">
                <a16:creationId xmlns:a16="http://schemas.microsoft.com/office/drawing/2014/main" id="{E4AEAB6F-3CC5-4832-AB57-9F3E4749F412}"/>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How the approaches compare</a:t>
            </a:r>
          </a:p>
        </p:txBody>
      </p:sp>
      <p:sp>
        <p:nvSpPr>
          <p:cNvPr id="537" name="chart-interpretation">
            <a:extLst xmlns:a="http://schemas.openxmlformats.org/drawingml/2006/main">
              <a:ext uri="{FF2B5EF4-FFF2-40B4-BE49-F238E27FC236}">
                <a16:creationId xmlns:a16="http://schemas.microsoft.com/office/drawing/2014/main" id="{A90318E8-4DE2-41E3-A856-A10C97389F2B}"/>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History + acceptance has 4.14 points less error than history-only Ridge.</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It has 0.26 points less error than the simple historical mean.</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The weak history-only Ridge result deserves investigation.</a:t>
            </a:r>
          </a:p>
        </p:txBody>
      </p:sp>
      <p:sp>
        <p:nvSpPr>
          <p:cNvPr id="538" name="conclusion">
            <a:extLst xmlns:a="http://schemas.openxmlformats.org/drawingml/2006/main">
              <a:ext uri="{FF2B5EF4-FFF2-40B4-BE49-F238E27FC236}">
                <a16:creationId xmlns:a16="http://schemas.microsoft.com/office/drawing/2014/main" id="{AA03586C-9BB8-4213-8866-4B11AE6A348D}"/>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large gain over one comparator is not automatically a large gain over a useful baseline.</a:t>
            </a:r>
          </a:p>
        </p:txBody>
      </p:sp>
      <p:sp>
        <p:nvSpPr>
          <p:cNvPr id="539" name="source-caption">
            <a:extLst xmlns:a="http://schemas.openxmlformats.org/drawingml/2006/main">
              <a:ext uri="{FF2B5EF4-FFF2-40B4-BE49-F238E27FC236}">
                <a16:creationId xmlns:a16="http://schemas.microsoft.com/office/drawing/2014/main" id="{5CECE852-2D9E-4DDC-8002-570505BC1755}"/>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218 programs. July 2022–June 2023 listings; outcomes published July 8, 2025.</a:t>
            </a:r>
          </a:p>
        </p:txBody>
      </p:sp>
      <p:sp>
        <p:nvSpPr>
          <p:cNvPr id="540" name="claim-boundary">
            <a:extLst xmlns:a="http://schemas.openxmlformats.org/drawingml/2006/main">
              <a:ext uri="{FF2B5EF4-FFF2-40B4-BE49-F238E27FC236}">
                <a16:creationId xmlns:a16="http://schemas.microsoft.com/office/drawing/2014/main" id="{BE58641C-E4C8-4F73-A608-FB25BE776A00}"/>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327921A4-25C4-3DB4-06B1-32693CEE2241}" type="slidenum">
              <a:rPr sz="900">
                <a:solidFill>
                  <a:srgbClr val="333333"/>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One input counted the reports we happened to have</a:t>
            </a:r>
          </a:p>
        </p:txBody>
      </p:sp>
      <p:sp>
        <p:nvSpPr>
          <p:cNvPr id="534" name="purpose">
            <a:extLst xmlns:a="http://schemas.openxmlformats.org/drawingml/2006/main">
              <a:ext uri="{FF2B5EF4-FFF2-40B4-BE49-F238E27FC236}">
                <a16:creationId xmlns:a16="http://schemas.microsoft.com/office/drawing/2014/main" id="{37269B3F-9D11-4866-80BE-E208D7F4C320}"/>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Number of earlier available reports for each program</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9369faa8bacc4710"/>
          </a:graphicData>
        </a:graphic>
      </p:graphicFrame>
      <p:sp>
        <p:nvSpPr>
          <p:cNvPr id="536" name="chart-heading">
            <a:extLst xmlns:a="http://schemas.openxmlformats.org/drawingml/2006/main">
              <a:ext uri="{FF2B5EF4-FFF2-40B4-BE49-F238E27FC236}">
                <a16:creationId xmlns:a16="http://schemas.microsoft.com/office/drawing/2014/main" id="{9175C99F-8C91-4E32-8158-1C3A4DA4DA50}"/>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very different input range</a:t>
            </a:r>
          </a:p>
        </p:txBody>
      </p:sp>
      <p:sp>
        <p:nvSpPr>
          <p:cNvPr id="537" name="chart-interpretation">
            <a:extLst xmlns:a="http://schemas.openxmlformats.org/drawingml/2006/main">
              <a:ext uri="{FF2B5EF4-FFF2-40B4-BE49-F238E27FC236}">
                <a16:creationId xmlns:a16="http://schemas.microsoft.com/office/drawing/2014/main" id="{A1580A0D-69C0-42BB-B311-9D99450D75DD}"/>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212 of 215 training programs had two earlier reports.</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208 of 218 evaluation programs had five.</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This counts available reports, not program age or a change in care.</a:t>
            </a:r>
          </a:p>
        </p:txBody>
      </p:sp>
      <p:sp>
        <p:nvSpPr>
          <p:cNvPr id="538" name="conclusion">
            <a:extLst xmlns:a="http://schemas.openxmlformats.org/drawingml/2006/main">
              <a:ext uri="{FF2B5EF4-FFF2-40B4-BE49-F238E27FC236}">
                <a16:creationId xmlns:a16="http://schemas.microsoft.com/office/drawing/2014/main" id="{6D1D2B19-F07A-42D4-86E0-501E2956760B}"/>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Ridge learned a relationship in a narrow range, then applied it well beyond that range.</a:t>
            </a:r>
          </a:p>
        </p:txBody>
      </p:sp>
      <p:sp>
        <p:nvSpPr>
          <p:cNvPr id="539" name="source-caption">
            <a:extLst xmlns:a="http://schemas.openxmlformats.org/drawingml/2006/main">
              <a:ext uri="{FF2B5EF4-FFF2-40B4-BE49-F238E27FC236}">
                <a16:creationId xmlns:a16="http://schemas.microsoft.com/office/drawing/2014/main" id="{5892057F-8DD2-4DF1-A518-2CDCA8BC1FB2}"/>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Follow-up diagnosis. Train: July 2019–June 2020 listings. Evaluate: July 2022–June 2023 listings.</a:t>
            </a:r>
          </a:p>
        </p:txBody>
      </p:sp>
      <p:sp>
        <p:nvSpPr>
          <p:cNvPr id="540" name="claim-boundary">
            <a:extLst xmlns:a="http://schemas.openxmlformats.org/drawingml/2006/main">
              <a:ext uri="{FF2B5EF4-FFF2-40B4-BE49-F238E27FC236}">
                <a16:creationId xmlns:a16="http://schemas.microsoft.com/office/drawing/2014/main" id="{B0BD0F7B-BD08-4661-A513-617BBC6B4701}"/>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A83FA91-883A-0168-8075-96CEB9DCA3C2}" type="slidenum">
              <a:rPr sz="900">
                <a:solidFill>
                  <a:srgbClr val="333333"/>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Removing report count makes the remaining gain small</a:t>
            </a:r>
          </a:p>
        </p:txBody>
      </p:sp>
      <p:sp>
        <p:nvSpPr>
          <p:cNvPr id="534" name="purpose">
            <a:extLst xmlns:a="http://schemas.openxmlformats.org/drawingml/2006/main">
              <a:ext uri="{FF2B5EF4-FFF2-40B4-BE49-F238E27FC236}">
                <a16:creationId xmlns:a16="http://schemas.microsoft.com/office/drawing/2014/main" id="{1618EA0F-625E-4627-ACBB-7E28001BB1EC}"/>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separate, fixed follow-up removed that input from all five Ridge groups</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3727124f6595444c"/>
          </a:graphicData>
        </a:graphic>
      </p:graphicFrame>
      <p:sp>
        <p:nvSpPr>
          <p:cNvPr id="536" name="chart-heading">
            <a:extLst xmlns:a="http://schemas.openxmlformats.org/drawingml/2006/main">
              <a:ext uri="{FF2B5EF4-FFF2-40B4-BE49-F238E27FC236}">
                <a16:creationId xmlns:a16="http://schemas.microsoft.com/office/drawing/2014/main" id="{776A667F-BD73-4D79-872D-5F86D59725BD}"/>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Added acceptance: about 0.09 points</a:t>
            </a:r>
          </a:p>
        </p:txBody>
      </p:sp>
      <p:sp>
        <p:nvSpPr>
          <p:cNvPr id="537" name="chart-interpretation">
            <a:extLst xmlns:a="http://schemas.openxmlformats.org/drawingml/2006/main">
              <a:ext uri="{FF2B5EF4-FFF2-40B4-BE49-F238E27FC236}">
                <a16:creationId xmlns:a16="http://schemas.microsoft.com/office/drawing/2014/main" id="{CEF82666-8547-424A-ADA2-A5190AD02389}"/>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History-only error falls to 7.320; history + acceptance gives 7.226.</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Error difference: −0.095 points
Descriptive 95% interval:
[−0.491, 0.301]</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The interval crosses zero. Additional value remains uncertain.</a:t>
            </a:r>
          </a:p>
        </p:txBody>
      </p:sp>
      <p:sp>
        <p:nvSpPr>
          <p:cNvPr id="538" name="conclusion">
            <a:extLst xmlns:a="http://schemas.openxmlformats.org/drawingml/2006/main">
              <a:ext uri="{FF2B5EF4-FFF2-40B4-BE49-F238E27FC236}">
                <a16:creationId xmlns:a16="http://schemas.microsoft.com/office/drawing/2014/main" id="{14E80E78-FD98-49D0-AEB9-CEE3A0387260}"/>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This revisits an already-inspected period. It is not a fresh test of future performance.</a:t>
            </a:r>
          </a:p>
        </p:txBody>
      </p:sp>
      <p:sp>
        <p:nvSpPr>
          <p:cNvPr id="539" name="source-caption">
            <a:extLst xmlns:a="http://schemas.openxmlformats.org/drawingml/2006/main">
              <a:ext uri="{FF2B5EF4-FFF2-40B4-BE49-F238E27FC236}">
                <a16:creationId xmlns:a16="http://schemas.microsoft.com/office/drawing/2014/main" id="{23C42AFC-FF8F-4222-9481-C801207DC4B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Follow-up: same 218 programs and listing group. 2,000 whole-program resamples. No V2 promotion.</a:t>
            </a:r>
          </a:p>
        </p:txBody>
      </p:sp>
      <p:sp>
        <p:nvSpPr>
          <p:cNvPr id="540" name="claim-boundary">
            <a:extLst xmlns:a="http://schemas.openxmlformats.org/drawingml/2006/main">
              <a:ext uri="{FF2B5EF4-FFF2-40B4-BE49-F238E27FC236}">
                <a16:creationId xmlns:a16="http://schemas.microsoft.com/office/drawing/2014/main" id="{439FE1FF-587B-40A6-A613-A98C9B8898BB}"/>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DC9C7607-4BA3-B4DC-A00F-2E67A9FCFF7E}" type="slidenum">
              <a:rPr sz="900">
                <a:solidFill>
                  <a:srgbClr val="333333"/>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Return to ALUA: “known” changes the interpretation</a:t>
            </a:r>
          </a:p>
        </p:txBody>
      </p:sp>
      <p:sp>
        <p:nvSpPr>
          <p:cNvPr id="534" name="purpose">
            <a:extLst xmlns:a="http://schemas.openxmlformats.org/drawingml/2006/main">
              <a:ext uri="{FF2B5EF4-FFF2-40B4-BE49-F238E27FC236}">
                <a16:creationId xmlns:a16="http://schemas.microsoft.com/office/drawing/2014/main" id="{53EC9FD0-D520-46F5-B8E4-CA865DA5CC73}"/>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July 2022–June 2023 listing group: 548 candidates, status at 18 months</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ea3f21592980439d"/>
          </a:graphicData>
        </a:graphic>
      </p:graphicFrame>
      <p:sp>
        <p:nvSpPr>
          <p:cNvPr id="536" name="chart-heading">
            <a:extLst xmlns:a="http://schemas.openxmlformats.org/drawingml/2006/main">
              <a:ext uri="{FF2B5EF4-FFF2-40B4-BE49-F238E27FC236}">
                <a16:creationId xmlns:a16="http://schemas.microsoft.com/office/drawing/2014/main" id="{96A511B2-3DAD-4140-B7F9-BA661763027F}"/>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source reports</a:t>
            </a:r>
          </a:p>
        </p:txBody>
      </p:sp>
      <p:sp>
        <p:nvSpPr>
          <p:cNvPr id="537" name="chart-interpretation">
            <a:extLst xmlns:a="http://schemas.openxmlformats.org/drawingml/2006/main">
              <a:ext uri="{FF2B5EF4-FFF2-40B4-BE49-F238E27FC236}">
                <a16:creationId xmlns:a16="http://schemas.microsoft.com/office/drawing/2014/main" id="{3263A6B7-AB55-4202-88DF-1F8D3C24E05E}"/>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17.52% known functioning</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22.99% post-transplant unknown</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July 2019–June 2020 listings:
28.07% known functioning among 431 candidates</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Different listing groups; this does not explain the recorded change.</a:t>
            </a:r>
          </a:p>
        </p:txBody>
      </p:sp>
      <p:sp>
        <p:nvSpPr>
          <p:cNvPr id="538" name="conclusion">
            <a:extLst xmlns:a="http://schemas.openxmlformats.org/drawingml/2006/main">
              <a:ext uri="{FF2B5EF4-FFF2-40B4-BE49-F238E27FC236}">
                <a16:creationId xmlns:a16="http://schemas.microsoft.com/office/drawing/2014/main" id="{4BD64A4C-7585-47DE-97C8-35BFDDF67FFF}"/>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Unknown is neither a confirmed functioning transplant nor a confirmed death or graft failure.</a:t>
            </a:r>
          </a:p>
        </p:txBody>
      </p:sp>
      <p:sp>
        <p:nvSpPr>
          <p:cNvPr id="539" name="source-caption">
            <a:extLst xmlns:a="http://schemas.openxmlformats.org/drawingml/2006/main">
              <a:ext uri="{FF2B5EF4-FFF2-40B4-BE49-F238E27FC236}">
                <a16:creationId xmlns:a16="http://schemas.microsoft.com/office/drawing/2014/main" id="{36693416-9C91-4139-88DF-6DE6CD63F56D}"/>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Table B7, published July 8, 2025. Four selected categories; other statuses are omitted.</a:t>
            </a:r>
          </a:p>
        </p:txBody>
      </p:sp>
      <p:sp>
        <p:nvSpPr>
          <p:cNvPr id="540" name="claim-boundary">
            <a:extLst xmlns:a="http://schemas.openxmlformats.org/drawingml/2006/main">
              <a:ext uri="{FF2B5EF4-FFF2-40B4-BE49-F238E27FC236}">
                <a16:creationId xmlns:a16="http://schemas.microsoft.com/office/drawing/2014/main" id="{3E18BE05-931C-4C78-845C-A4821CE35B35}"/>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90F7333B-44AC-F7E9-D49D-FE92F45E0477}" type="slidenum">
              <a:rPr sz="900">
                <a:solidFill>
                  <a:srgbClr val="333333"/>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What the outcome breakdown can and cannot resolve</a:t>
            </a:r>
          </a:p>
        </p:txBody>
      </p:sp>
      <p:sp>
        <p:nvSpPr>
          <p:cNvPr id="534" name="purpose">
            <a:extLst xmlns:a="http://schemas.openxmlformats.org/drawingml/2006/main">
              <a:ext uri="{FF2B5EF4-FFF2-40B4-BE49-F238E27FC236}">
                <a16:creationId xmlns:a16="http://schemas.microsoft.com/office/drawing/2014/main" id="{C09287C1-890E-45C8-9EAF-731D36AA4C15}"/>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follow-up describes the published outcome; it does not correct unknown statuses</a:t>
            </a:r>
          </a:p>
        </p:txBody>
      </p:sp>
      <p:sp>
        <p:nvSpPr>
          <p:cNvPr id="535" name="left-heading">
            <a:extLst xmlns:a="http://schemas.openxmlformats.org/drawingml/2006/main">
              <a:ext uri="{FF2B5EF4-FFF2-40B4-BE49-F238E27FC236}">
                <a16:creationId xmlns:a16="http://schemas.microsoft.com/office/drawing/2014/main" id="{03CB7500-45D4-4A9E-B38D-6B68D070AF11}"/>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we can describe</a:t>
            </a:r>
          </a:p>
        </p:txBody>
      </p:sp>
      <p:sp>
        <p:nvSpPr>
          <p:cNvPr id="536" name="right-heading">
            <a:extLst xmlns:a="http://schemas.openxmlformats.org/drawingml/2006/main">
              <a:ext uri="{FF2B5EF4-FFF2-40B4-BE49-F238E27FC236}">
                <a16:creationId xmlns:a16="http://schemas.microsoft.com/office/drawing/2014/main" id="{B7AF3D33-2FD0-4B8B-806D-B14E9CECC35A}"/>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remains unresolved</a:t>
            </a:r>
          </a:p>
        </p:txBody>
      </p:sp>
      <p:sp>
        <p:nvSpPr>
          <p:cNvPr id="537" name="left-explanation">
            <a:extLst xmlns:a="http://schemas.openxmlformats.org/drawingml/2006/main">
              <a:ext uri="{FF2B5EF4-FFF2-40B4-BE49-F238E27FC236}">
                <a16:creationId xmlns:a16="http://schemas.microsoft.com/office/drawing/2014/main" id="{B4FCE0E7-275D-44C7-888E-5C19E8B2B02F}"/>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All 218 evaluation programs match to complete donor-component fields.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Median combined post-transplant unknown: 16.05% of the original listing group.</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relationship between unknown status and prediction error varies by model.</a:t>
            </a:r>
          </a:p>
        </p:txBody>
      </p:sp>
      <p:sp>
        <p:nvSpPr>
          <p:cNvPr id="538" name="right-explanation">
            <a:extLst xmlns:a="http://schemas.openxmlformats.org/drawingml/2006/main">
              <a:ext uri="{FF2B5EF4-FFF2-40B4-BE49-F238E27FC236}">
                <a16:creationId xmlns:a16="http://schemas.microsoft.com/office/drawing/2014/main" id="{1CDB469F-9548-465A-BFF3-E857015AD09C}"/>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median of program percentages is not a pooled percentage of patients.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Shared denominators and outcome definitions make correlations difficult to interpret.</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Status snapshots lack the event and observation timing needed to adjust for incomplete follow-up.</a:t>
            </a:r>
          </a:p>
        </p:txBody>
      </p:sp>
      <p:sp>
        <p:nvSpPr>
          <p:cNvPr id="539" name="conclusion">
            <a:extLst xmlns:a="http://schemas.openxmlformats.org/drawingml/2006/main">
              <a:ext uri="{FF2B5EF4-FFF2-40B4-BE49-F238E27FC236}">
                <a16:creationId xmlns:a16="http://schemas.microsoft.com/office/drawing/2014/main" id="{E2B8654A-5D6C-4669-8A4A-5AC945A1D69D}"/>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An association with prediction error cannot establish that reporting caused the error.</a:t>
            </a:r>
          </a:p>
        </p:txBody>
      </p:sp>
      <p:sp>
        <p:nvSpPr>
          <p:cNvPr id="540" name="source-caption">
            <a:extLst xmlns:a="http://schemas.openxmlformats.org/drawingml/2006/main">
              <a:ext uri="{FF2B5EF4-FFF2-40B4-BE49-F238E27FC236}">
                <a16:creationId xmlns:a16="http://schemas.microsoft.com/office/drawing/2014/main" id="{F54C3CC8-3B3D-472C-9542-0F98B1FB820C}"/>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Completed outcome-composition follow-up. Same 218 programs; target and original predictions unchanged.</a:t>
            </a:r>
          </a:p>
        </p:txBody>
      </p:sp>
      <p:sp>
        <p:nvSpPr>
          <p:cNvPr id="541" name="claim-boundary">
            <a:extLst xmlns:a="http://schemas.openxmlformats.org/drawingml/2006/main">
              <a:ext uri="{FF2B5EF4-FFF2-40B4-BE49-F238E27FC236}">
                <a16:creationId xmlns:a16="http://schemas.microsoft.com/office/drawing/2014/main" id="{224018C8-A569-4A3A-9CC9-D4243DF83325}"/>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B1C6C81E-38B9-7560-621D-5A151A79DF9B}" type="slidenum">
              <a:rPr sz="900">
                <a:solidFill>
                  <a:srgbClr val="333333"/>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From saved workbooks to a working reporting app</a:t>
            </a:r>
          </a:p>
        </p:txBody>
      </p:sp>
      <p:sp>
        <p:nvSpPr>
          <p:cNvPr id="534" name="purpose">
            <a:extLst xmlns:a="http://schemas.openxmlformats.org/drawingml/2006/main">
              <a:ext uri="{FF2B5EF4-FFF2-40B4-BE49-F238E27FC236}">
                <a16:creationId xmlns:a16="http://schemas.microsoft.com/office/drawing/2014/main" id="{96B34D7A-DCD7-4031-B3C1-2A8105A27253}"/>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preparation pipeline builds the evidence; the app displays it</a:t>
            </a:r>
          </a:p>
        </p:txBody>
      </p:sp>
      <p:sp>
        <p:nvSpPr>
          <p:cNvPr id="535" name="left-heading">
            <a:extLst xmlns:a="http://schemas.openxmlformats.org/drawingml/2006/main">
              <a:ext uri="{FF2B5EF4-FFF2-40B4-BE49-F238E27FC236}">
                <a16:creationId xmlns:a16="http://schemas.microsoft.com/office/drawing/2014/main" id="{5E9F2DF0-32BD-47D5-9F58-646D427C81EC}"/>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Before the app starts</a:t>
            </a:r>
          </a:p>
        </p:txBody>
      </p:sp>
      <p:sp>
        <p:nvSpPr>
          <p:cNvPr id="536" name="right-heading">
            <a:extLst xmlns:a="http://schemas.openxmlformats.org/drawingml/2006/main">
              <a:ext uri="{FF2B5EF4-FFF2-40B4-BE49-F238E27FC236}">
                <a16:creationId xmlns:a16="http://schemas.microsoft.com/office/drawing/2014/main" id="{FF9D77C0-3A82-42DF-B5CE-E5489449D00F}"/>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At viewing time</a:t>
            </a:r>
          </a:p>
        </p:txBody>
      </p:sp>
      <p:sp>
        <p:nvSpPr>
          <p:cNvPr id="537" name="left-explanation">
            <a:extLst xmlns:a="http://schemas.openxmlformats.org/drawingml/2006/main">
              <a:ext uri="{FF2B5EF4-FFF2-40B4-BE49-F238E27FC236}">
                <a16:creationId xmlns:a16="http://schemas.microsoft.com/office/drawing/2014/main" id="{357101D0-D52F-4BD8-ADDC-AAC0A0EC7877}"/>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Verify saved sources, read named fields and build dated program records.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Fit and evaluate models under the study rules.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Write compact tables and metadata with source, configuration and code versions.</a:t>
            </a:r>
          </a:p>
        </p:txBody>
      </p:sp>
      <p:sp>
        <p:nvSpPr>
          <p:cNvPr id="538" name="right-explanation">
            <a:extLst xmlns:a="http://schemas.openxmlformats.org/drawingml/2006/main">
              <a:ext uri="{FF2B5EF4-FFF2-40B4-BE49-F238E27FC236}">
                <a16:creationId xmlns:a16="http://schemas.microsoft.com/office/drawing/2014/main" id="{E5122F98-4D84-4C0E-996A-9089EA0AC5A9}"/>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Streamlit loads trusted, precomputed Parquet and JSON files.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app displays histories, source uncertainty, dates and the retained model decision.</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critical flow works offline; no workbook parsing or model fitting happens on a page request.</a:t>
            </a:r>
          </a:p>
        </p:txBody>
      </p:sp>
      <p:sp>
        <p:nvSpPr>
          <p:cNvPr id="539" name="conclusion">
            <a:extLst xmlns:a="http://schemas.openxmlformats.org/drawingml/2006/main">
              <a:ext uri="{FF2B5EF4-FFF2-40B4-BE49-F238E27FC236}">
                <a16:creationId xmlns:a16="http://schemas.microsoft.com/office/drawing/2014/main" id="{2A251825-23D6-4EE4-853A-2F388FE5627F}"/>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Prepare the evidence once; make it easy to inspect consistently and offline.</a:t>
            </a:r>
          </a:p>
        </p:txBody>
      </p:sp>
      <p:sp>
        <p:nvSpPr>
          <p:cNvPr id="540" name="source-caption">
            <a:extLst xmlns:a="http://schemas.openxmlformats.org/drawingml/2006/main">
              <a:ext uri="{FF2B5EF4-FFF2-40B4-BE49-F238E27FC236}">
                <a16:creationId xmlns:a16="http://schemas.microsoft.com/office/drawing/2014/main" id="{7ACC79A8-0440-405F-B617-5A596093DC48}"/>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Implemented application boundary. Software checks complement the scientific specification.</a:t>
            </a:r>
          </a:p>
        </p:txBody>
      </p:sp>
      <p:sp>
        <p:nvSpPr>
          <p:cNvPr id="541" name="claim-boundary">
            <a:extLst xmlns:a="http://schemas.openxmlformats.org/drawingml/2006/main">
              <a:ext uri="{FF2B5EF4-FFF2-40B4-BE49-F238E27FC236}">
                <a16:creationId xmlns:a16="http://schemas.microsoft.com/office/drawing/2014/main" id="{BB4619D9-954B-493F-9976-C59C1FEC6DC5}"/>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CCF91274-D221-1BB4-3BF9-836E3AD31EBE}" type="slidenum">
              <a:rPr sz="900">
                <a:solidFill>
                  <a:srgbClr val="333333"/>
                </a:solidFill>
                <a:latin typeface="Helvetica Neue"/>
                <a:ea typeface="Helvetica Neue"/>
                <a:cs typeface="Helvetica Neue"/>
              </a:rPr>
              <a:t>19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What this project established, and what comes next</a:t>
            </a:r>
          </a:p>
        </p:txBody>
      </p:sp>
      <p:sp>
        <p:nvSpPr>
          <p:cNvPr id="534" name="purpose">
            <a:extLst xmlns:a="http://schemas.openxmlformats.org/drawingml/2006/main">
              <a:ext uri="{FF2B5EF4-FFF2-40B4-BE49-F238E27FC236}">
                <a16:creationId xmlns:a16="http://schemas.microsoft.com/office/drawing/2014/main" id="{6B17429B-2716-4F81-9DAA-5BC3049B8B73}"/>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working historical monitor and a more qualified forecasting result</a:t>
            </a:r>
          </a:p>
        </p:txBody>
      </p:sp>
      <p:sp>
        <p:nvSpPr>
          <p:cNvPr id="535" name="left-heading">
            <a:extLst xmlns:a="http://schemas.openxmlformats.org/drawingml/2006/main">
              <a:ext uri="{FF2B5EF4-FFF2-40B4-BE49-F238E27FC236}">
                <a16:creationId xmlns:a16="http://schemas.microsoft.com/office/drawing/2014/main" id="{BF62BF10-BF00-45E6-87D0-8524E6FB7A97}"/>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Established in this project</a:t>
            </a:r>
          </a:p>
        </p:txBody>
      </p:sp>
      <p:sp>
        <p:nvSpPr>
          <p:cNvPr id="536" name="right-heading">
            <a:extLst xmlns:a="http://schemas.openxmlformats.org/drawingml/2006/main">
              <a:ext uri="{FF2B5EF4-FFF2-40B4-BE49-F238E27FC236}">
                <a16:creationId xmlns:a16="http://schemas.microsoft.com/office/drawing/2014/main" id="{B8D0033D-792D-4DE8-B3DA-0D89D10E9D88}"/>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Before a new forecast release</a:t>
            </a:r>
          </a:p>
        </p:txBody>
      </p:sp>
      <p:sp>
        <p:nvSpPr>
          <p:cNvPr id="537" name="left-explanation">
            <a:extLst xmlns:a="http://schemas.openxmlformats.org/drawingml/2006/main">
              <a:ext uri="{FF2B5EF4-FFF2-40B4-BE49-F238E27FC236}">
                <a16:creationId xmlns:a16="http://schemas.microsoft.com/office/drawing/2014/main" id="{44DFFC1B-6CC6-471E-A22B-19FE1F5F2D94}"/>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reproducible historical screening monitor using public SRTR reports.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V1: a fitted ratio adjustment cut mean absolute log error by 6.90%. It remains a research candidate.</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V2: correcting a weak comparator left a small, uncertain gain from acceptance.</a:t>
            </a:r>
          </a:p>
        </p:txBody>
      </p:sp>
      <p:sp>
        <p:nvSpPr>
          <p:cNvPr id="538" name="right-explanation">
            <a:extLst xmlns:a="http://schemas.openxmlformats.org/drawingml/2006/main">
              <a:ext uri="{FF2B5EF4-FFF2-40B4-BE49-F238E27FC236}">
                <a16:creationId xmlns:a16="http://schemas.microsoft.com/office/drawing/2014/main" id="{12B4D9CD-ED14-422F-A863-DA801B03CB08}"/>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Account for changed SRTR offer definitions when interpreting reports across years.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Test a specific analyst workflow and agree what errors would affect that task.</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Keep bands withheld. Separate research model choice from a release decision.</a:t>
            </a:r>
          </a:p>
        </p:txBody>
      </p:sp>
      <p:sp>
        <p:nvSpPr>
          <p:cNvPr id="539" name="conclusion">
            <a:extLst xmlns:a="http://schemas.openxmlformats.org/drawingml/2006/main">
              <a:ext uri="{FF2B5EF4-FFF2-40B4-BE49-F238E27FC236}">
                <a16:creationId xmlns:a16="http://schemas.microsoft.com/office/drawing/2014/main" id="{DC1D8460-43EC-4238-ACF5-27D9D93C42EC}"/>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app still displays persistence. A calendar-2026 outcome report is expected around mid-2027.</a:t>
            </a:r>
          </a:p>
        </p:txBody>
      </p:sp>
      <p:sp>
        <p:nvSpPr>
          <p:cNvPr id="540" name="source-caption">
            <a:extLst xmlns:a="http://schemas.openxmlformats.org/drawingml/2006/main">
              <a:ext uri="{FF2B5EF4-FFF2-40B4-BE49-F238E27FC236}">
                <a16:creationId xmlns:a16="http://schemas.microsoft.com/office/drawing/2014/main" id="{F86574E8-C1F1-472B-B797-BD5FFAF41FC0}"/>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Completed retrospective work. Research candidate only. SRTR offer definitions changed in 2025–2026.</a:t>
            </a:r>
          </a:p>
        </p:txBody>
      </p:sp>
      <p:sp>
        <p:nvSpPr>
          <p:cNvPr id="541" name="claim-boundary">
            <a:extLst xmlns:a="http://schemas.openxmlformats.org/drawingml/2006/main">
              <a:ext uri="{FF2B5EF4-FFF2-40B4-BE49-F238E27FC236}">
                <a16:creationId xmlns:a16="http://schemas.microsoft.com/office/drawing/2014/main" id="{15AE00ED-C3CF-4721-8D2D-9F61BE9AAB0D}"/>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844E025A-983C-6D44-79C6-4612AACD43FC}" type="slidenum">
              <a:rPr sz="900">
                <a:solidFill>
                  <a:srgbClr val="333333"/>
                </a:solidFill>
                <a:latin typeface="Helvetica Neue"/>
                <a:ea typeface="Helvetica Neue"/>
                <a:cs typeface="Helvetica Neue"/>
              </a:rPr>
              <a:t>20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why not just download a CSV?</a:t>
            </a:r>
          </a:p>
        </p:txBody>
      </p:sp>
      <p:sp>
        <p:nvSpPr>
          <p:cNvPr id="534" name="purpose">
            <a:extLst xmlns:a="http://schemas.openxmlformats.org/drawingml/2006/main">
              <a:ext uri="{FF2B5EF4-FFF2-40B4-BE49-F238E27FC236}">
                <a16:creationId xmlns:a16="http://schemas.microsoft.com/office/drawing/2014/main" id="{13E17720-D3D3-4055-AC09-0ED279D81093}"/>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CSV can hold the data. The file format does not settle what the data mean.</a:t>
            </a:r>
          </a:p>
        </p:txBody>
      </p:sp>
      <p:sp>
        <p:nvSpPr>
          <p:cNvPr id="535" name="left-heading">
            <a:extLst xmlns:a="http://schemas.openxmlformats.org/drawingml/2006/main">
              <a:ext uri="{FF2B5EF4-FFF2-40B4-BE49-F238E27FC236}">
                <a16:creationId xmlns:a16="http://schemas.microsoft.com/office/drawing/2014/main" id="{72A41392-4749-4A14-8871-6713CB68E48D}"/>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a flat table can simplify</a:t>
            </a:r>
          </a:p>
        </p:txBody>
      </p:sp>
      <p:sp>
        <p:nvSpPr>
          <p:cNvPr id="536" name="right-heading">
            <a:extLst xmlns:a="http://schemas.openxmlformats.org/drawingml/2006/main">
              <a:ext uri="{FF2B5EF4-FFF2-40B4-BE49-F238E27FC236}">
                <a16:creationId xmlns:a16="http://schemas.microsoft.com/office/drawing/2014/main" id="{5A3F9C3F-2328-4A8E-AF7C-5970EC72D5F1}"/>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Checks we would still need</a:t>
            </a:r>
          </a:p>
        </p:txBody>
      </p:sp>
      <p:sp>
        <p:nvSpPr>
          <p:cNvPr id="537" name="left-explanation">
            <a:extLst xmlns:a="http://schemas.openxmlformats.org/drawingml/2006/main">
              <a:ext uri="{FF2B5EF4-FFF2-40B4-BE49-F238E27FC236}">
                <a16:creationId xmlns:a16="http://schemas.microsoft.com/office/drawing/2014/main" id="{E760D3D8-2F97-4871-870B-FFF1420172B4}"/>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Convenient exploration with familiar data-frame tools.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clear table of named columns and values.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useful derived format once source meaning and types are preserved.</a:t>
            </a:r>
          </a:p>
        </p:txBody>
      </p:sp>
      <p:sp>
        <p:nvSpPr>
          <p:cNvPr id="538" name="right-explanation">
            <a:extLst xmlns:a="http://schemas.openxmlformats.org/drawingml/2006/main">
              <a:ext uri="{FF2B5EF4-FFF2-40B4-BE49-F238E27FC236}">
                <a16:creationId xmlns:a16="http://schemas.microsoft.com/office/drawing/2014/main" id="{5CF9DF3E-CBDE-4D6B-96E4-B3029CBA0989}"/>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right source version, table and population.</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String identifiers, missing values and program-key joins.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Correct measurement periods, publication dates and study eligibility.</a:t>
            </a:r>
          </a:p>
        </p:txBody>
      </p:sp>
      <p:sp>
        <p:nvSpPr>
          <p:cNvPr id="539" name="conclusion">
            <a:extLst xmlns:a="http://schemas.openxmlformats.org/drawingml/2006/main">
              <a:ext uri="{FF2B5EF4-FFF2-40B4-BE49-F238E27FC236}">
                <a16:creationId xmlns:a16="http://schemas.microsoft.com/office/drawing/2014/main" id="{236D52A4-E2CE-417B-BA11-B6429988E9C5}"/>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This project starts from the pinned SRTR Excel sources; QA belongs to the data use, not the extension.</a:t>
            </a:r>
          </a:p>
        </p:txBody>
      </p:sp>
      <p:sp>
        <p:nvSpPr>
          <p:cNvPr id="540" name="source-caption">
            <a:extLst xmlns:a="http://schemas.openxmlformats.org/drawingml/2006/main">
              <a:ext uri="{FF2B5EF4-FFF2-40B4-BE49-F238E27FC236}">
                <a16:creationId xmlns:a16="http://schemas.microsoft.com/office/drawing/2014/main" id="{A9B1DF71-28D6-46B2-B1BB-A9248618CF8A}"/>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Design rationale. The app uses precomputed Parquet and JSON rather than reading source workbooks.</a:t>
            </a:r>
          </a:p>
        </p:txBody>
      </p:sp>
      <p:sp>
        <p:nvSpPr>
          <p:cNvPr id="541" name="claim-boundary">
            <a:extLst xmlns:a="http://schemas.openxmlformats.org/drawingml/2006/main">
              <a:ext uri="{FF2B5EF4-FFF2-40B4-BE49-F238E27FC236}">
                <a16:creationId xmlns:a16="http://schemas.microsoft.com/office/drawing/2014/main" id="{92E52D4A-A650-4FCD-9F6D-59C159228817}"/>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F6DF2BE2-2DFA-1C03-677D-BDC2260D6D92}" type="slidenum">
              <a:rPr sz="900">
                <a:solidFill>
                  <a:srgbClr val="333333"/>
                </a:solidFill>
                <a:latin typeface="Helvetica Neue"/>
                <a:ea typeface="Helvetica Neue"/>
                <a:cs typeface="Helvetica Neue"/>
              </a:rPr>
              <a:t>21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why logarithms and Ridge?</a:t>
            </a:r>
          </a:p>
        </p:txBody>
      </p:sp>
      <p:sp>
        <p:nvSpPr>
          <p:cNvPr id="534" name="purpose">
            <a:extLst xmlns:a="http://schemas.openxmlformats.org/drawingml/2006/main">
              <a:ext uri="{FF2B5EF4-FFF2-40B4-BE49-F238E27FC236}">
                <a16:creationId xmlns:a16="http://schemas.microsoft.com/office/drawing/2014/main" id="{160E0625-F76F-422C-A4E2-3066FA8A7AEB}"/>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Transform the modeling scale, then return to the measure people can interpret</a:t>
            </a:r>
          </a:p>
        </p:txBody>
      </p:sp>
      <p:sp>
        <p:nvSpPr>
          <p:cNvPr id="535" name="left-heading">
            <a:extLst xmlns:a="http://schemas.openxmlformats.org/drawingml/2006/main">
              <a:ext uri="{FF2B5EF4-FFF2-40B4-BE49-F238E27FC236}">
                <a16:creationId xmlns:a16="http://schemas.microsoft.com/office/drawing/2014/main" id="{299826C8-6355-436D-BB22-12AB08817B35}"/>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scales</a:t>
            </a:r>
          </a:p>
        </p:txBody>
      </p:sp>
      <p:sp>
        <p:nvSpPr>
          <p:cNvPr id="536" name="right-heading">
            <a:extLst xmlns:a="http://schemas.openxmlformats.org/drawingml/2006/main">
              <a:ext uri="{FF2B5EF4-FFF2-40B4-BE49-F238E27FC236}">
                <a16:creationId xmlns:a16="http://schemas.microsoft.com/office/drawing/2014/main" id="{94198F11-9040-4C45-916F-2728CEECB44F}"/>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model choice</a:t>
            </a:r>
          </a:p>
        </p:txBody>
      </p:sp>
      <p:sp>
        <p:nvSpPr>
          <p:cNvPr id="537" name="left-explanation">
            <a:extLst xmlns:a="http://schemas.openxmlformats.org/drawingml/2006/main">
              <a:ext uri="{FF2B5EF4-FFF2-40B4-BE49-F238E27FC236}">
                <a16:creationId xmlns:a16="http://schemas.microsoft.com/office/drawing/2014/main" id="{E4CD5294-F550-474D-BB23-1519C9C6497E}"/>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V1: log(OAR) makes reciprocal changes symmetric. OAR 2 and 0.5 map to about +0.693 and −0.693.</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V2: a fixed empirical logit handles a percentage bounded by 0 and 100.</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V1 errors are on the log scale; V2 errors return to published percentage points.</a:t>
            </a:r>
          </a:p>
        </p:txBody>
      </p:sp>
      <p:sp>
        <p:nvSpPr>
          <p:cNvPr id="538" name="right-explanation">
            <a:extLst xmlns:a="http://schemas.openxmlformats.org/drawingml/2006/main">
              <a:ext uri="{FF2B5EF4-FFF2-40B4-BE49-F238E27FC236}">
                <a16:creationId xmlns:a16="http://schemas.microsoft.com/office/drawing/2014/main" id="{78353C4A-F25B-41F9-9013-5A3091D381FE}"/>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Ridge is linear regression with a penalty on large coefficients.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It offers a restrained comparison when inputs overlap and time evidence is limited.</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Compare observed error with simple alternatives and inspect large misses and changes over time.</a:t>
            </a:r>
          </a:p>
        </p:txBody>
      </p:sp>
      <p:sp>
        <p:nvSpPr>
          <p:cNvPr id="539" name="conclusion">
            <a:extLst xmlns:a="http://schemas.openxmlformats.org/drawingml/2006/main">
              <a:ext uri="{FF2B5EF4-FFF2-40B4-BE49-F238E27FC236}">
                <a16:creationId xmlns:a16="http://schemas.microsoft.com/office/drawing/2014/main" id="{674FCC93-AF24-45DC-994B-003E0184E216}"/>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transformation or penalty can help fitting; it cannot repair unavailable data or an unstable input.</a:t>
            </a:r>
          </a:p>
        </p:txBody>
      </p:sp>
      <p:sp>
        <p:nvSpPr>
          <p:cNvPr id="540" name="source-caption">
            <a:extLst xmlns:a="http://schemas.openxmlformats.org/drawingml/2006/main">
              <a:ext uri="{FF2B5EF4-FFF2-40B4-BE49-F238E27FC236}">
                <a16:creationId xmlns:a16="http://schemas.microsoft.com/office/drawing/2014/main" id="{A5D0C16D-3B07-411A-B47F-6BACE4F81355}"/>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alpha 10 selected in development. Original V2: alpha 1 fixed before the comparison.</a:t>
            </a:r>
          </a:p>
        </p:txBody>
      </p:sp>
      <p:sp>
        <p:nvSpPr>
          <p:cNvPr id="541" name="claim-boundary">
            <a:extLst xmlns:a="http://schemas.openxmlformats.org/drawingml/2006/main">
              <a:ext uri="{FF2B5EF4-FFF2-40B4-BE49-F238E27FC236}">
                <a16:creationId xmlns:a16="http://schemas.microsoft.com/office/drawing/2014/main" id="{D4357118-D0FE-4BE7-A35C-D5757F301D38}"/>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0BB18BA8-60F4-C50D-CD9B-1BB87D3E8506}" type="slidenum">
              <a:rPr sz="900">
                <a:solidFill>
                  <a:srgbClr val="333333"/>
                </a:solidFill>
                <a:latin typeface="Helvetica Neue"/>
                <a:ea typeface="Helvetica Neue"/>
                <a:cs typeface="Helvetica Neue"/>
              </a:rPr>
              <a:t>22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how large are V1 forecast errors?</a:t>
            </a:r>
          </a:p>
        </p:txBody>
      </p:sp>
      <p:sp>
        <p:nvSpPr>
          <p:cNvPr id="534" name="purpose">
            <a:extLst xmlns:a="http://schemas.openxmlformats.org/drawingml/2006/main">
              <a:ext uri="{FF2B5EF4-FFF2-40B4-BE49-F238E27FC236}">
                <a16:creationId xmlns:a16="http://schemas.microsoft.com/office/drawing/2014/main" id="{D650A278-E1E6-4704-A8CD-0387E9DBD007}"/>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Plan 0027: same 1,150 program-years in 2021–2025, with equal weight for each year.</a:t>
            </a:r>
          </a:p>
        </p:txBody>
      </p:sp>
      <p:graphicFrame>
        <p:nvGraphicFramePr>
          <p:cNvPr id="543" name=""/>
          <p:cNvGraphicFramePr/>
          <p:nvPr/>
        </p:nvGraphicFramePr>
        <p:xfrm>
          <a:off xmlns:a="http://schemas.openxmlformats.org/drawingml/2006/main" x="390525" y="1990725"/>
          <a:ext xmlns:a="http://schemas.openxmlformats.org/drawingml/2006/main" cx="11401425" cy="3009900"/>
        </p:xfrm>
        <a:graphic xmlns:a="http://schemas.openxmlformats.org/drawingml/2006/main">
          <a:graphicData uri="http://schemas.openxmlformats.org/drawingml/2006/table">
            <a:tbl>
              <a:tblPr/>
              <a:tblGrid>
                <a:gridCol w="5905500"/>
                <a:gridCol w="2238375"/>
                <a:gridCol w="3257550"/>
              </a:tblGrid>
              <a:tr h="501650">
                <a:tc>
                  <a:txBody>
                    <a:bodyPr/>
                    <a:lstStyle/>
                    <a:p>
                      <a:r>
                        <a:rPr sz="1725" b="1">
                          <a:solidFill>
                            <a:srgbClr val="222222"/>
                          </a:solidFill>
                          <a:latin typeface="Helvetica Neue"/>
                          <a:ea typeface="Helvetica Neue"/>
                          <a:cs typeface="Helvetica Neue"/>
                        </a:rPr>
                        <a:t>Error summary</a:t>
                      </a:r>
                    </a:p>
                  </a:txBody>
                  <a:tcPr marL="114300" marR="114300" marT="76200" marB="76200">
                    <a:solidFill>
                      <a:srgbClr val="F2F2F2"/>
                    </a:solidFill>
                  </a:tcPr>
                </a:tc>
                <a:tc>
                  <a:txBody>
                    <a:bodyPr/>
                    <a:lstStyle/>
                    <a:p>
                      <a:r>
                        <a:rPr sz="1725" b="1">
                          <a:solidFill>
                            <a:srgbClr val="222222"/>
                          </a:solidFill>
                          <a:latin typeface="Helvetica Neue"/>
                          <a:ea typeface="Helvetica Neue"/>
                          <a:cs typeface="Helvetica Neue"/>
                        </a:rPr>
                        <a:t>Persistence</a:t>
                      </a:r>
                    </a:p>
                  </a:txBody>
                  <a:tcPr marL="114300" marR="114300" marT="76200" marB="76200">
                    <a:solidFill>
                      <a:srgbClr val="F2F2F2"/>
                    </a:solidFill>
                  </a:tcPr>
                </a:tc>
                <a:tc>
                  <a:txBody>
                    <a:bodyPr/>
                    <a:lstStyle/>
                    <a:p>
                      <a:r>
                        <a:rPr sz="1725" b="1">
                          <a:solidFill>
                            <a:srgbClr val="222222"/>
                          </a:solidFill>
                          <a:latin typeface="Helvetica Neue"/>
                          <a:ea typeface="Helvetica Neue"/>
                          <a:cs typeface="Helvetica Neue"/>
                        </a:rPr>
                        <a:t>Fitted ratio adjustment</a:t>
                      </a:r>
                    </a:p>
                  </a:txBody>
                  <a:tcPr marL="114300" marR="114300" marT="76200" marB="76200">
                    <a:solidFill>
                      <a:srgbClr val="F2F2F2"/>
                    </a:solidFill>
                  </a:tcPr>
                </a:tc>
              </a:tr>
              <a:tr h="501650">
                <a:tc>
                  <a:txBody>
                    <a:bodyPr/>
                    <a:lstStyle/>
                    <a:p>
                      <a:r>
                        <a:rPr sz="1725">
                          <a:solidFill>
                            <a:srgbClr val="222222"/>
                          </a:solidFill>
                          <a:latin typeface="Helvetica Neue"/>
                          <a:ea typeface="Helvetica Neue"/>
                          <a:cs typeface="Helvetica Neue"/>
                        </a:rPr>
                        <a:t>Mean absolute log error</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0.31420</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0.29252</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Mean absolute error, ratio units</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0.34000</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0.30872</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Mean absolute relative error</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34.9%</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32.3%</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Predictions within ±25% of later ratio</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52.3%</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55.5%</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Absolute log errors worse than persistence</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Reference</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40.1%</a:t>
                      </a:r>
                    </a:p>
                  </a:txBody>
                  <a:tcPr marL="114300" marR="114300" marT="76200" marB="76200">
                    <a:solidFill>
                      <a:srgbClr val="FFFFFF"/>
                    </a:solidFill>
                  </a:tcPr>
                </a:tc>
              </a:tr>
            </a:tbl>
          </a:graphicData>
        </a:graphic>
      </p:graphicFrame>
      <p:sp>
        <p:nvSpPr>
          <p:cNvPr id="536" name="table-detail">
            <a:extLst xmlns:a="http://schemas.openxmlformats.org/drawingml/2006/main">
              <a:ext uri="{FF2B5EF4-FFF2-40B4-BE49-F238E27FC236}">
                <a16:creationId xmlns:a16="http://schemas.microsoft.com/office/drawing/2014/main" id="{CB1FD73D-1E71-47D9-8E03-96A74D5E9898}"/>
              </a:ext>
            </a:extLst>
          </p:cNvPr>
          <p:cNvSpPr>
            <a:spLocks xmlns:a="http://schemas.openxmlformats.org/drawingml/2006/main" noGrp="1"/>
          </p:cNvSpPr>
          <p:nvPr/>
        </p:nvSpPr>
        <p:spPr>
          <a:xfrm xmlns:a="http://schemas.openxmlformats.org/drawingml/2006/main">
            <a:off x="390525" y="5210175"/>
            <a:ext cx="11401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The 6.90% log-error gain leaves large misses. SRTR offer definitions changed during the evaluated reports.</a:t>
            </a:r>
          </a:p>
        </p:txBody>
      </p:sp>
      <p:sp>
        <p:nvSpPr>
          <p:cNvPr id="537" name="conclusion">
            <a:extLst xmlns:a="http://schemas.openxmlformats.org/drawingml/2006/main">
              <a:ext uri="{FF2B5EF4-FFF2-40B4-BE49-F238E27FC236}">
                <a16:creationId xmlns:a16="http://schemas.microsoft.com/office/drawing/2014/main" id="{CA3FA9CE-133F-484D-A4E1-694D4DEB2CC1}"/>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Provisional research candidate. The current app retains persistence and withholds forecast bands.</a:t>
            </a:r>
          </a:p>
        </p:txBody>
      </p:sp>
      <p:sp>
        <p:nvSpPr>
          <p:cNvPr id="538" name="source-caption">
            <a:extLst xmlns:a="http://schemas.openxmlformats.org/drawingml/2006/main">
              <a:ext uri="{FF2B5EF4-FFF2-40B4-BE49-F238E27FC236}">
                <a16:creationId xmlns:a16="http://schemas.microsoft.com/office/drawing/2014/main" id="{61FE65E5-699F-435F-BC6E-F8FCF108F1B4}"/>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Plan 0027 comparison v1. Percent error uses the later published ratio as denominator.</a:t>
            </a:r>
          </a:p>
        </p:txBody>
      </p:sp>
      <p:sp>
        <p:nvSpPr>
          <p:cNvPr id="539" name="claim-boundary">
            <a:extLst xmlns:a="http://schemas.openxmlformats.org/drawingml/2006/main">
              <a:ext uri="{FF2B5EF4-FFF2-40B4-BE49-F238E27FC236}">
                <a16:creationId xmlns:a16="http://schemas.microsoft.com/office/drawing/2014/main" id="{6D4C316F-F11F-495C-AFDC-7CD57FFCD46A}"/>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A4E99CEF-AF55-BA3C-ADF8-4E52E186DD8F}" type="slidenum">
              <a:rPr sz="900">
                <a:solidFill>
                  <a:srgbClr val="333333"/>
                </a:solidFill>
                <a:latin typeface="Helvetica Neue"/>
                <a:ea typeface="Helvetica Neue"/>
                <a:cs typeface="Helvetica Neue"/>
              </a:rPr>
              <a:t>23</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every original and revised V2 comparison</a:t>
            </a:r>
          </a:p>
        </p:txBody>
      </p:sp>
      <p:sp>
        <p:nvSpPr>
          <p:cNvPr id="534" name="purpose">
            <a:extLst xmlns:a="http://schemas.openxmlformats.org/drawingml/2006/main">
              <a:ext uri="{FF2B5EF4-FFF2-40B4-BE49-F238E27FC236}">
                <a16:creationId xmlns:a16="http://schemas.microsoft.com/office/drawing/2014/main" id="{9858C318-1690-4676-8476-A5C5840FDA9D}"/>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Average absolute error in percentage points, on the same 218 programs. Lower is better.</a:t>
            </a:r>
          </a:p>
        </p:txBody>
      </p:sp>
      <p:graphicFrame>
        <p:nvGraphicFramePr>
          <p:cNvPr id="542" name=""/>
          <p:cNvGraphicFramePr/>
          <p:nvPr/>
        </p:nvGraphicFramePr>
        <p:xfrm>
          <a:off xmlns:a="http://schemas.openxmlformats.org/drawingml/2006/main" x="390525" y="1809750"/>
          <a:ext xmlns:a="http://schemas.openxmlformats.org/drawingml/2006/main" cx="11401425" cy="3429000"/>
        </p:xfrm>
        <a:graphic xmlns:a="http://schemas.openxmlformats.org/drawingml/2006/main">
          <a:graphicData uri="http://schemas.openxmlformats.org/drawingml/2006/table">
            <a:tbl>
              <a:tblPr/>
              <a:tblGrid>
                <a:gridCol w="6334125"/>
                <a:gridCol w="2209800"/>
                <a:gridCol w="2857500"/>
              </a:tblGrid>
              <a:tr h="381000">
                <a:tc>
                  <a:txBody>
                    <a:bodyPr/>
                    <a:lstStyle/>
                    <a:p>
                      <a:r>
                        <a:rPr sz="1650" b="1">
                          <a:solidFill>
                            <a:srgbClr val="222222"/>
                          </a:solidFill>
                          <a:latin typeface="Helvetica Neue"/>
                          <a:ea typeface="Helvetica Neue"/>
                          <a:cs typeface="Helvetica Neue"/>
                        </a:rPr>
                        <a:t>Approach / input group</a:t>
                      </a:r>
                    </a:p>
                  </a:txBody>
                  <a:tcPr marL="114300" marR="114300" marT="38100" marB="38100">
                    <a:solidFill>
                      <a:srgbClr val="F2F2F2"/>
                    </a:solidFill>
                  </a:tcPr>
                </a:tc>
                <a:tc>
                  <a:txBody>
                    <a:bodyPr/>
                    <a:lstStyle/>
                    <a:p>
                      <a:r>
                        <a:rPr sz="1650" b="1">
                          <a:solidFill>
                            <a:srgbClr val="222222"/>
                          </a:solidFill>
                          <a:latin typeface="Helvetica Neue"/>
                          <a:ea typeface="Helvetica Neue"/>
                          <a:cs typeface="Helvetica Neue"/>
                        </a:rPr>
                        <a:t>Original</a:t>
                      </a:r>
                    </a:p>
                  </a:txBody>
                  <a:tcPr marL="114300" marR="114300" marT="38100" marB="38100">
                    <a:solidFill>
                      <a:srgbClr val="F2F2F2"/>
                    </a:solidFill>
                  </a:tcPr>
                </a:tc>
                <a:tc>
                  <a:txBody>
                    <a:bodyPr/>
                    <a:lstStyle/>
                    <a:p>
                      <a:r>
                        <a:rPr sz="1650" b="1">
                          <a:solidFill>
                            <a:srgbClr val="222222"/>
                          </a:solidFill>
                          <a:latin typeface="Helvetica Neue"/>
                          <a:ea typeface="Helvetica Neue"/>
                          <a:cs typeface="Helvetica Neue"/>
                        </a:rPr>
                        <a:t>Count removed</a:t>
                      </a:r>
                    </a:p>
                  </a:txBody>
                  <a:tcPr marL="114300" marR="114300" marT="38100" marB="38100">
                    <a:solidFill>
                      <a:srgbClr val="F2F2F2"/>
                    </a:solidFill>
                  </a:tcPr>
                </a:tc>
              </a:tr>
              <a:tr h="381000">
                <a:tc>
                  <a:txBody>
                    <a:bodyPr/>
                    <a:lstStyle/>
                    <a:p>
                      <a:r>
                        <a:rPr sz="1650">
                          <a:solidFill>
                            <a:srgbClr val="222222"/>
                          </a:solidFill>
                          <a:latin typeface="Helvetica Neue"/>
                          <a:ea typeface="Helvetica Neue"/>
                          <a:cs typeface="Helvetica Neue"/>
                        </a:rPr>
                        <a:t>Ridge: history</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11.488</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7.320</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history + acceptance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7.348</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7.226</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history + access</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14.522</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7.367</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history + access + acceptance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10.572</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7.492</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full + waiting-list mortality</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12.523</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7.422</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Simple historical mean</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7.609</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Unchanged</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Persistence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8.931</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Unchanged</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Available-cohort reference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9.867</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Unchanged</a:t>
                      </a:r>
                    </a:p>
                  </a:txBody>
                  <a:tcPr marL="114300" marR="114300" marT="38100" marB="38100">
                    <a:solidFill>
                      <a:srgbClr val="FFFFFF"/>
                    </a:solidFill>
                  </a:tcPr>
                </a:tc>
              </a:tr>
            </a:tbl>
          </a:graphicData>
        </a:graphic>
      </p:graphicFrame>
      <p:sp>
        <p:nvSpPr>
          <p:cNvPr id="536" name="conclusion">
            <a:extLst xmlns:a="http://schemas.openxmlformats.org/drawingml/2006/main">
              <a:ext uri="{FF2B5EF4-FFF2-40B4-BE49-F238E27FC236}">
                <a16:creationId xmlns:a16="http://schemas.microsoft.com/office/drawing/2014/main" id="{C76BCEC6-0C5B-476B-A22C-78398EA4D77F}"/>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original study and the later fixed revision remain separate; neither permits promotion.</a:t>
            </a:r>
          </a:p>
        </p:txBody>
      </p:sp>
      <p:sp>
        <p:nvSpPr>
          <p:cNvPr id="537" name="source-caption">
            <a:extLst xmlns:a="http://schemas.openxmlformats.org/drawingml/2006/main">
              <a:ext uri="{FF2B5EF4-FFF2-40B4-BE49-F238E27FC236}">
                <a16:creationId xmlns:a16="http://schemas.microsoft.com/office/drawing/2014/main" id="{CF6C0C6C-FBA9-4A76-A190-9211DA563C75}"/>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July 2022–June 2023 listings, published July 8, 2025. Paired population; not four-period baseline averages.</a:t>
            </a:r>
          </a:p>
        </p:txBody>
      </p:sp>
      <p:sp>
        <p:nvSpPr>
          <p:cNvPr id="538" name="claim-boundary">
            <a:extLst xmlns:a="http://schemas.openxmlformats.org/drawingml/2006/main">
              <a:ext uri="{FF2B5EF4-FFF2-40B4-BE49-F238E27FC236}">
                <a16:creationId xmlns:a16="http://schemas.microsoft.com/office/drawing/2014/main" id="{64DD6426-9AC3-4578-8F5E-81C47357F25C}"/>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4A59AF09-D197-0193-A7DE-FAAF0B691058}" type="slidenum">
              <a:rPr sz="900">
                <a:solidFill>
                  <a:srgbClr val="333333"/>
                </a:solidFill>
                <a:latin typeface="Helvetica Neue"/>
                <a:ea typeface="Helvetica Neue"/>
                <a:cs typeface="Helvetica Neue"/>
              </a:rPr>
              <a:t>24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which listing groups can be compared?</a:t>
            </a:r>
          </a:p>
        </p:txBody>
      </p:sp>
      <p:sp>
        <p:nvSpPr>
          <p:cNvPr id="534" name="purpose">
            <a:extLst xmlns:a="http://schemas.openxmlformats.org/drawingml/2006/main">
              <a:ext uri="{FF2B5EF4-FFF2-40B4-BE49-F238E27FC236}">
                <a16:creationId xmlns:a16="http://schemas.microsoft.com/office/drawing/2014/main" id="{2982D007-7EAF-4660-974B-FB0E859DF691}"/>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original V2 primary panel uses four fixed, non-overlapping July–June listing groups.</a:t>
            </a:r>
          </a:p>
        </p:txBody>
      </p:sp>
      <p:graphicFrame>
        <p:nvGraphicFramePr>
          <p:cNvPr id="543" name=""/>
          <p:cNvGraphicFramePr/>
          <p:nvPr/>
        </p:nvGraphicFramePr>
        <p:xfrm>
          <a:off xmlns:a="http://schemas.openxmlformats.org/drawingml/2006/main" x="390525" y="1990725"/>
          <a:ext xmlns:a="http://schemas.openxmlformats.org/drawingml/2006/main" cx="11401425" cy="3009900"/>
        </p:xfrm>
        <a:graphic xmlns:a="http://schemas.openxmlformats.org/drawingml/2006/main">
          <a:graphicData uri="http://schemas.openxmlformats.org/drawingml/2006/table">
            <a:tbl>
              <a:tblPr/>
              <a:tblGrid>
                <a:gridCol w="3190875"/>
                <a:gridCol w="4238625"/>
                <a:gridCol w="3971925"/>
              </a:tblGrid>
              <a:tr h="601980">
                <a:tc>
                  <a:txBody>
                    <a:bodyPr/>
                    <a:lstStyle/>
                    <a:p>
                      <a:r>
                        <a:rPr sz="1875" b="1">
                          <a:solidFill>
                            <a:srgbClr val="222222"/>
                          </a:solidFill>
                          <a:latin typeface="Helvetica Neue"/>
                          <a:ea typeface="Helvetica Neue"/>
                          <a:cs typeface="Helvetica Neue"/>
                        </a:rPr>
                        <a:t>Prediction date</a:t>
                      </a:r>
                    </a:p>
                  </a:txBody>
                  <a:tcPr marL="114300" marR="114300" marT="76200" marB="76200">
                    <a:solidFill>
                      <a:srgbClr val="F2F2F2"/>
                    </a:solidFill>
                  </a:tcPr>
                </a:tc>
                <a:tc>
                  <a:txBody>
                    <a:bodyPr/>
                    <a:lstStyle/>
                    <a:p>
                      <a:r>
                        <a:rPr sz="1875" b="1">
                          <a:solidFill>
                            <a:srgbClr val="222222"/>
                          </a:solidFill>
                          <a:latin typeface="Helvetica Neue"/>
                          <a:ea typeface="Helvetica Neue"/>
                          <a:cs typeface="Helvetica Neue"/>
                        </a:rPr>
                        <a:t>Target listing group</a:t>
                      </a:r>
                    </a:p>
                  </a:txBody>
                  <a:tcPr marL="114300" marR="114300" marT="76200" marB="76200">
                    <a:solidFill>
                      <a:srgbClr val="F2F2F2"/>
                    </a:solidFill>
                  </a:tcPr>
                </a:tc>
                <a:tc>
                  <a:txBody>
                    <a:bodyPr/>
                    <a:lstStyle/>
                    <a:p>
                      <a:r>
                        <a:rPr sz="1875" b="1">
                          <a:solidFill>
                            <a:srgbClr val="222222"/>
                          </a:solidFill>
                          <a:latin typeface="Helvetica Neue"/>
                          <a:ea typeface="Helvetica Neue"/>
                          <a:cs typeface="Helvetica Neue"/>
                        </a:rPr>
                        <a:t>Outcome publication</a:t>
                      </a:r>
                    </a:p>
                  </a:txBody>
                  <a:tcPr marL="114300" marR="114300" marT="76200" marB="76200">
                    <a:solidFill>
                      <a:srgbClr val="F2F2F2"/>
                    </a:solidFill>
                  </a:tcPr>
                </a:tc>
              </a:tr>
              <a:tr h="601980">
                <a:tc>
                  <a:txBody>
                    <a:bodyPr/>
                    <a:lstStyle/>
                    <a:p>
                      <a:r>
                        <a:rPr sz="1875">
                          <a:solidFill>
                            <a:srgbClr val="222222"/>
                          </a:solidFill>
                          <a:latin typeface="Helvetica Neue"/>
                          <a:ea typeface="Helvetica Neue"/>
                          <a:cs typeface="Helvetica Neue"/>
                        </a:rPr>
                        <a:t>July 2019</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2019–June 2020</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2022</a:t>
                      </a:r>
                    </a:p>
                  </a:txBody>
                  <a:tcPr marL="114300" marR="114300" marT="76200" marB="76200">
                    <a:solidFill>
                      <a:srgbClr val="FFFFFF"/>
                    </a:solidFill>
                  </a:tcPr>
                </a:tc>
              </a:tr>
              <a:tr h="601980">
                <a:tc>
                  <a:txBody>
                    <a:bodyPr/>
                    <a:lstStyle/>
                    <a:p>
                      <a:r>
                        <a:rPr sz="1875">
                          <a:solidFill>
                            <a:srgbClr val="222222"/>
                          </a:solidFill>
                          <a:latin typeface="Helvetica Neue"/>
                          <a:ea typeface="Helvetica Neue"/>
                          <a:cs typeface="Helvetica Neue"/>
                        </a:rPr>
                        <a:t>August 2020</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2020–June 2021</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6, 2023</a:t>
                      </a:r>
                    </a:p>
                  </a:txBody>
                  <a:tcPr marL="114300" marR="114300" marT="76200" marB="76200">
                    <a:solidFill>
                      <a:srgbClr val="FFFFFF"/>
                    </a:solidFill>
                  </a:tcPr>
                </a:tc>
              </a:tr>
              <a:tr h="601980">
                <a:tc>
                  <a:txBody>
                    <a:bodyPr/>
                    <a:lstStyle/>
                    <a:p>
                      <a:r>
                        <a:rPr sz="1875">
                          <a:solidFill>
                            <a:srgbClr val="222222"/>
                          </a:solidFill>
                          <a:latin typeface="Helvetica Neue"/>
                          <a:ea typeface="Helvetica Neue"/>
                          <a:cs typeface="Helvetica Neue"/>
                        </a:rPr>
                        <a:t>July 2021</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2021–June 2022</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9, 2024</a:t>
                      </a:r>
                    </a:p>
                  </a:txBody>
                  <a:tcPr marL="114300" marR="114300" marT="76200" marB="76200">
                    <a:solidFill>
                      <a:srgbClr val="FFFFFF"/>
                    </a:solidFill>
                  </a:tcPr>
                </a:tc>
              </a:tr>
              <a:tr h="601980">
                <a:tc>
                  <a:txBody>
                    <a:bodyPr/>
                    <a:lstStyle/>
                    <a:p>
                      <a:r>
                        <a:rPr sz="1875">
                          <a:solidFill>
                            <a:srgbClr val="222222"/>
                          </a:solidFill>
                          <a:latin typeface="Helvetica Neue"/>
                          <a:ea typeface="Helvetica Neue"/>
                          <a:cs typeface="Helvetica Neue"/>
                        </a:rPr>
                        <a:t>July 2022</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2022–June 2023</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8, 2025</a:t>
                      </a:r>
                    </a:p>
                  </a:txBody>
                  <a:tcPr marL="114300" marR="114300" marT="76200" marB="76200">
                    <a:solidFill>
                      <a:srgbClr val="FFFFFF"/>
                    </a:solidFill>
                  </a:tcPr>
                </a:tc>
              </a:tr>
            </a:tbl>
          </a:graphicData>
        </a:graphic>
      </p:graphicFrame>
      <p:sp>
        <p:nvSpPr>
          <p:cNvPr id="536" name="table-detail">
            <a:extLst xmlns:a="http://schemas.openxmlformats.org/drawingml/2006/main">
              <a:ext uri="{FF2B5EF4-FFF2-40B4-BE49-F238E27FC236}">
                <a16:creationId xmlns:a16="http://schemas.microsoft.com/office/drawing/2014/main" id="{C055A843-43BD-4E93-A96E-F3E04B519A87}"/>
              </a:ext>
            </a:extLst>
          </p:cNvPr>
          <p:cNvSpPr>
            <a:spLocks xmlns:a="http://schemas.openxmlformats.org/drawingml/2006/main" noGrp="1"/>
          </p:cNvSpPr>
          <p:nvPr/>
        </p:nvSpPr>
        <p:spPr>
          <a:xfrm xmlns:a="http://schemas.openxmlformats.org/drawingml/2006/main">
            <a:off x="390525" y="5210175"/>
            <a:ext cx="11401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Baselines can use all four groups. Only the final prediction date has a qualifying public training outcome.</a:t>
            </a:r>
          </a:p>
        </p:txBody>
      </p:sp>
      <p:sp>
        <p:nvSpPr>
          <p:cNvPr id="537" name="conclusion">
            <a:extLst xmlns:a="http://schemas.openxmlformats.org/drawingml/2006/main">
              <a:ext uri="{FF2B5EF4-FFF2-40B4-BE49-F238E27FC236}">
                <a16:creationId xmlns:a16="http://schemas.microsoft.com/office/drawing/2014/main" id="{6E521D45-4D29-49B0-A52D-82E67AABA17B}"/>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Correction: July 2026 reports July 2023–June 2024 listings. Those groups do not overlap.</a:t>
            </a:r>
          </a:p>
        </p:txBody>
      </p:sp>
      <p:sp>
        <p:nvSpPr>
          <p:cNvPr id="538" name="source-caption">
            <a:extLst xmlns:a="http://schemas.openxmlformats.org/drawingml/2006/main">
              <a:ext uri="{FF2B5EF4-FFF2-40B4-BE49-F238E27FC236}">
                <a16:creationId xmlns:a16="http://schemas.microsoft.com/office/drawing/2014/main" id="{1375A926-A7A0-47D9-8132-3888162D82BA}"/>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configuration and corrected source audit. Additional period used in the separate receipt study.</a:t>
            </a:r>
          </a:p>
        </p:txBody>
      </p:sp>
      <p:sp>
        <p:nvSpPr>
          <p:cNvPr id="539" name="claim-boundary">
            <a:extLst xmlns:a="http://schemas.openxmlformats.org/drawingml/2006/main">
              <a:ext uri="{FF2B5EF4-FFF2-40B4-BE49-F238E27FC236}">
                <a16:creationId xmlns:a16="http://schemas.microsoft.com/office/drawing/2014/main" id="{1679152F-99AE-4C56-B841-FF480610FA32}"/>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F3AE1AE4-D79E-94D6-E825-3FC6C21A77D2}" type="slidenum">
              <a:rPr sz="900">
                <a:solidFill>
                  <a:srgbClr val="333333"/>
                </a:solidFill>
                <a:latin typeface="Helvetica Neue"/>
                <a:ea typeface="Helvetica Neue"/>
                <a:cs typeface="Helvetica Neue"/>
              </a:rPr>
              <a:t>25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why not adjust away unknown follow-up?</a:t>
            </a:r>
          </a:p>
        </p:txBody>
      </p:sp>
      <p:sp>
        <p:nvSpPr>
          <p:cNvPr id="534" name="purpose">
            <a:extLst xmlns:a="http://schemas.openxmlformats.org/drawingml/2006/main">
              <a:ext uri="{FF2B5EF4-FFF2-40B4-BE49-F238E27FC236}">
                <a16:creationId xmlns:a16="http://schemas.microsoft.com/office/drawing/2014/main" id="{B232A9A8-EF11-4598-8565-805BA5984B40}"/>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An “unknown” category is not enough information for a time-to-event calculation</a:t>
            </a:r>
          </a:p>
        </p:txBody>
      </p:sp>
      <p:sp>
        <p:nvSpPr>
          <p:cNvPr id="535" name="left-heading">
            <a:extLst xmlns:a="http://schemas.openxmlformats.org/drawingml/2006/main">
              <a:ext uri="{FF2B5EF4-FFF2-40B4-BE49-F238E27FC236}">
                <a16:creationId xmlns:a16="http://schemas.microsoft.com/office/drawing/2014/main" id="{599ABB30-59D6-48DE-B5AD-DCFF7AA16E81}"/>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these summaries contain</a:t>
            </a:r>
          </a:p>
        </p:txBody>
      </p:sp>
      <p:sp>
        <p:nvSpPr>
          <p:cNvPr id="536" name="right-heading">
            <a:extLst xmlns:a="http://schemas.openxmlformats.org/drawingml/2006/main">
              <a:ext uri="{FF2B5EF4-FFF2-40B4-BE49-F238E27FC236}">
                <a16:creationId xmlns:a16="http://schemas.microsoft.com/office/drawing/2014/main" id="{D2955451-58AD-437C-B098-43AF2DAC29A1}"/>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another method would require</a:t>
            </a:r>
          </a:p>
        </p:txBody>
      </p:sp>
      <p:sp>
        <p:nvSpPr>
          <p:cNvPr id="537" name="left-explanation">
            <a:extLst xmlns:a="http://schemas.openxmlformats.org/drawingml/2006/main">
              <a:ext uri="{FF2B5EF4-FFF2-40B4-BE49-F238E27FC236}">
                <a16:creationId xmlns:a16="http://schemas.microsoft.com/office/drawing/2014/main" id="{45115D99-8CEA-4325-A138-A1AD13BBFEE5}"/>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Program percentages in status categories at specified times after listing.</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An original listing denominator, including people who never receive a transplant.</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No candidate-level event or last-observed times.</a:t>
            </a:r>
          </a:p>
        </p:txBody>
      </p:sp>
      <p:sp>
        <p:nvSpPr>
          <p:cNvPr id="538" name="right-explanation">
            <a:extLst xmlns:a="http://schemas.openxmlformats.org/drawingml/2006/main">
              <a:ext uri="{FF2B5EF4-FFF2-40B4-BE49-F238E27FC236}">
                <a16:creationId xmlns:a16="http://schemas.microsoft.com/office/drawing/2014/main" id="{718EC301-C370-4FFE-B5C2-0C76A0E63166}"/>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Event and observation timing, or sufficient equivalent counts of people still being followed over time.</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clearly defined event, such as death, and the appropriate population at risk.</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Justified assumptions about incomplete follow-up; unknown status alone does not establish them.</a:t>
            </a:r>
          </a:p>
        </p:txBody>
      </p:sp>
      <p:sp>
        <p:nvSpPr>
          <p:cNvPr id="539" name="conclusion">
            <a:extLst xmlns:a="http://schemas.openxmlformats.org/drawingml/2006/main">
              <a:ext uri="{FF2B5EF4-FFF2-40B4-BE49-F238E27FC236}">
                <a16:creationId xmlns:a16="http://schemas.microsoft.com/office/drawing/2014/main" id="{B138E41A-A9BB-4EED-866E-7451756864B2}"/>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Dropping unknowns changes the denominator. Counting them as failures asserts outcomes we do not know.</a:t>
            </a:r>
          </a:p>
        </p:txBody>
      </p:sp>
      <p:sp>
        <p:nvSpPr>
          <p:cNvPr id="540" name="source-caption">
            <a:extLst xmlns:a="http://schemas.openxmlformats.org/drawingml/2006/main">
              <a:ext uri="{FF2B5EF4-FFF2-40B4-BE49-F238E27FC236}">
                <a16:creationId xmlns:a16="http://schemas.microsoft.com/office/drawing/2014/main" id="{E9918480-3937-41D9-958A-60F0A02125F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Method limitation. V2's published target remains unchanged; no survival adjustment was performed.</a:t>
            </a:r>
          </a:p>
        </p:txBody>
      </p:sp>
      <p:sp>
        <p:nvSpPr>
          <p:cNvPr id="541" name="claim-boundary">
            <a:extLst xmlns:a="http://schemas.openxmlformats.org/drawingml/2006/main">
              <a:ext uri="{FF2B5EF4-FFF2-40B4-BE49-F238E27FC236}">
                <a16:creationId xmlns:a16="http://schemas.microsoft.com/office/drawing/2014/main" id="{B41CC4FC-797E-4F64-96EA-891EADCDDF99}"/>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2026-09-08.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2026-09-08T19:15:21.1890000Z</dcterms:created>
  <dcterms:modified xsi:type="dcterms:W3CDTF">2026-09-08T19:15:21.1890000Z</dcterms:modified>
</coreProperties>
</file>